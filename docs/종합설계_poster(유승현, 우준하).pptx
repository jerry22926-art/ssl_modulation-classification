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
  </p:notesMasterIdLst>
  <p:sldIdLst>
    <p:sldId id="261" r:id="rId2"/>
  </p:sldIdLst>
  <p:sldSz cx="21383625" cy="30275213"/>
  <p:notesSz cx="30275213" cy="42803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001A"/>
    <a:srgbClr val="8B0029"/>
    <a:srgbClr val="862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A50803-4579-49AC-9EB2-AEA561D3EEFF}" v="5" dt="2026-05-28T10:38:04.55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49" d="100"/>
          <a:sy n="49" d="100"/>
        </p:scale>
        <p:origin x="571"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HA WOO" userId="47f54dc779eff470" providerId="LiveId" clId="{3AF03CC5-4BAE-4D72-8AB4-0875E59FF27C}"/>
    <pc:docChg chg="undo custSel modSld">
      <pc:chgData name="JUNHA WOO" userId="47f54dc779eff470" providerId="LiveId" clId="{3AF03CC5-4BAE-4D72-8AB4-0875E59FF27C}" dt="2026-05-28T10:41:22.121" v="639" actId="1037"/>
      <pc:docMkLst>
        <pc:docMk/>
      </pc:docMkLst>
      <pc:sldChg chg="addSp delSp modSp mod">
        <pc:chgData name="JUNHA WOO" userId="47f54dc779eff470" providerId="LiveId" clId="{3AF03CC5-4BAE-4D72-8AB4-0875E59FF27C}" dt="2026-05-28T10:41:22.121" v="639" actId="1037"/>
        <pc:sldMkLst>
          <pc:docMk/>
          <pc:sldMk cId="0" sldId="256"/>
        </pc:sldMkLst>
        <pc:spChg chg="add mod">
          <ac:chgData name="JUNHA WOO" userId="47f54dc779eff470" providerId="LiveId" clId="{3AF03CC5-4BAE-4D72-8AB4-0875E59FF27C}" dt="2026-05-28T10:40:35.647" v="632" actId="20577"/>
          <ac:spMkLst>
            <pc:docMk/>
            <pc:sldMk cId="0" sldId="256"/>
            <ac:spMk id="5" creationId="{00000000-0000-0000-0000-000000000000}"/>
          </ac:spMkLst>
        </pc:spChg>
        <pc:spChg chg="mod">
          <ac:chgData name="JUNHA WOO" userId="47f54dc779eff470" providerId="LiveId" clId="{3AF03CC5-4BAE-4D72-8AB4-0875E59FF27C}" dt="2026-05-28T10:41:22.121" v="639" actId="1037"/>
          <ac:spMkLst>
            <pc:docMk/>
            <pc:sldMk cId="0" sldId="256"/>
            <ac:spMk id="8" creationId="{FB70FF64-5DCA-ACC2-B8B2-FB96CD0695C9}"/>
          </ac:spMkLst>
        </pc:spChg>
        <pc:spChg chg="mod">
          <ac:chgData name="JUNHA WOO" userId="47f54dc779eff470" providerId="LiveId" clId="{3AF03CC5-4BAE-4D72-8AB4-0875E59FF27C}" dt="2026-05-28T10:08:48.786" v="132" actId="14100"/>
          <ac:spMkLst>
            <pc:docMk/>
            <pc:sldMk cId="0" sldId="256"/>
            <ac:spMk id="22" creationId="{EE0FC683-0DDE-83AC-C743-ADD3FC8C3201}"/>
          </ac:spMkLst>
        </pc:spChg>
        <pc:spChg chg="mod">
          <ac:chgData name="JUNHA WOO" userId="47f54dc779eff470" providerId="LiveId" clId="{3AF03CC5-4BAE-4D72-8AB4-0875E59FF27C}" dt="2026-05-28T10:08:56.999" v="133" actId="14100"/>
          <ac:spMkLst>
            <pc:docMk/>
            <pc:sldMk cId="0" sldId="256"/>
            <ac:spMk id="27" creationId="{78662667-FEE6-81E9-120B-1AF41BE450C5}"/>
          </ac:spMkLst>
        </pc:spChg>
        <pc:spChg chg="mod">
          <ac:chgData name="JUNHA WOO" userId="47f54dc779eff470" providerId="LiveId" clId="{3AF03CC5-4BAE-4D72-8AB4-0875E59FF27C}" dt="2026-05-28T10:38:22.369" v="598" actId="1038"/>
          <ac:spMkLst>
            <pc:docMk/>
            <pc:sldMk cId="0" sldId="256"/>
            <ac:spMk id="32" creationId="{00000000-0000-0000-0000-000000000000}"/>
          </ac:spMkLst>
        </pc:spChg>
        <pc:spChg chg="mod">
          <ac:chgData name="JUNHA WOO" userId="47f54dc779eff470" providerId="LiveId" clId="{3AF03CC5-4BAE-4D72-8AB4-0875E59FF27C}" dt="2026-05-28T10:39:23.128" v="603" actId="1035"/>
          <ac:spMkLst>
            <pc:docMk/>
            <pc:sldMk cId="0" sldId="256"/>
            <ac:spMk id="34" creationId="{00000000-0000-0000-0000-000000000000}"/>
          </ac:spMkLst>
        </pc:spChg>
        <pc:spChg chg="del mod">
          <ac:chgData name="JUNHA WOO" userId="47f54dc779eff470" providerId="LiveId" clId="{3AF03CC5-4BAE-4D72-8AB4-0875E59FF27C}" dt="2026-05-28T10:07:24.149" v="75"/>
          <ac:spMkLst>
            <pc:docMk/>
            <pc:sldMk cId="0" sldId="256"/>
            <ac:spMk id="43" creationId="{00000000-0000-0000-0000-000000000000}"/>
          </ac:spMkLst>
        </pc:spChg>
        <pc:spChg chg="del">
          <ac:chgData name="JUNHA WOO" userId="47f54dc779eff470" providerId="LiveId" clId="{3AF03CC5-4BAE-4D72-8AB4-0875E59FF27C}" dt="2026-05-28T10:04:48.291" v="0" actId="21"/>
          <ac:spMkLst>
            <pc:docMk/>
            <pc:sldMk cId="0" sldId="256"/>
            <ac:spMk id="45" creationId="{00000000-0000-0000-0000-000000000000}"/>
          </ac:spMkLst>
        </pc:spChg>
        <pc:spChg chg="mod">
          <ac:chgData name="JUNHA WOO" userId="47f54dc779eff470" providerId="LiveId" clId="{3AF03CC5-4BAE-4D72-8AB4-0875E59FF27C}" dt="2026-05-28T10:37:11.591" v="437" actId="1036"/>
          <ac:spMkLst>
            <pc:docMk/>
            <pc:sldMk cId="0" sldId="256"/>
            <ac:spMk id="46" creationId="{00000000-0000-0000-0000-000000000000}"/>
          </ac:spMkLst>
        </pc:spChg>
        <pc:spChg chg="mod">
          <ac:chgData name="JUNHA WOO" userId="47f54dc779eff470" providerId="LiveId" clId="{3AF03CC5-4BAE-4D72-8AB4-0875E59FF27C}" dt="2026-05-28T10:37:11.591" v="437" actId="1036"/>
          <ac:spMkLst>
            <pc:docMk/>
            <pc:sldMk cId="0" sldId="256"/>
            <ac:spMk id="47" creationId="{00000000-0000-0000-0000-000000000000}"/>
          </ac:spMkLst>
        </pc:spChg>
        <pc:spChg chg="mod">
          <ac:chgData name="JUNHA WOO" userId="47f54dc779eff470" providerId="LiveId" clId="{3AF03CC5-4BAE-4D72-8AB4-0875E59FF27C}" dt="2026-05-28T10:37:11.591" v="437" actId="1036"/>
          <ac:spMkLst>
            <pc:docMk/>
            <pc:sldMk cId="0" sldId="256"/>
            <ac:spMk id="48" creationId="{00000000-0000-0000-0000-000000000000}"/>
          </ac:spMkLst>
        </pc:spChg>
        <pc:spChg chg="mod">
          <ac:chgData name="JUNHA WOO" userId="47f54dc779eff470" providerId="LiveId" clId="{3AF03CC5-4BAE-4D72-8AB4-0875E59FF27C}" dt="2026-05-28T10:37:11.591" v="437" actId="1036"/>
          <ac:spMkLst>
            <pc:docMk/>
            <pc:sldMk cId="0" sldId="256"/>
            <ac:spMk id="49" creationId="{00000000-0000-0000-0000-000000000000}"/>
          </ac:spMkLst>
        </pc:spChg>
        <pc:spChg chg="mod">
          <ac:chgData name="JUNHA WOO" userId="47f54dc779eff470" providerId="LiveId" clId="{3AF03CC5-4BAE-4D72-8AB4-0875E59FF27C}" dt="2026-05-28T10:41:06.675" v="635" actId="1036"/>
          <ac:spMkLst>
            <pc:docMk/>
            <pc:sldMk cId="0" sldId="256"/>
            <ac:spMk id="53" creationId="{00000000-0000-0000-0000-000000000000}"/>
          </ac:spMkLst>
        </pc:spChg>
        <pc:grpChg chg="mod">
          <ac:chgData name="JUNHA WOO" userId="47f54dc779eff470" providerId="LiveId" clId="{3AF03CC5-4BAE-4D72-8AB4-0875E59FF27C}" dt="2026-05-28T10:36:04.813" v="401" actId="1038"/>
          <ac:grpSpMkLst>
            <pc:docMk/>
            <pc:sldMk cId="0" sldId="256"/>
            <ac:grpSpMk id="6" creationId="{5C4298BA-CDF7-58F3-89CB-4DF64718EC43}"/>
          </ac:grpSpMkLst>
        </pc:grpChg>
        <pc:graphicFrameChg chg="mod modGraphic">
          <ac:chgData name="JUNHA WOO" userId="47f54dc779eff470" providerId="LiveId" clId="{3AF03CC5-4BAE-4D72-8AB4-0875E59FF27C}" dt="2026-05-28T10:05:14.018" v="6" actId="1076"/>
          <ac:graphicFrameMkLst>
            <pc:docMk/>
            <pc:sldMk cId="0" sldId="256"/>
            <ac:graphicFrameMk id="44" creationId="{00000000-0000-0000-0000-000000000000}"/>
          </ac:graphicFrameMkLst>
        </pc:graphicFrameChg>
        <pc:picChg chg="mod">
          <ac:chgData name="JUNHA WOO" userId="47f54dc779eff470" providerId="LiveId" clId="{3AF03CC5-4BAE-4D72-8AB4-0875E59FF27C}" dt="2026-05-28T10:39:30.513" v="623" actId="1036"/>
          <ac:picMkLst>
            <pc:docMk/>
            <pc:sldMk cId="0" sldId="256"/>
            <ac:picMk id="7" creationId="{E5C9383C-B706-2F6D-65C5-447E30A00FA5}"/>
          </ac:picMkLst>
        </pc:picChg>
        <pc:picChg chg="mod">
          <ac:chgData name="JUNHA WOO" userId="47f54dc779eff470" providerId="LiveId" clId="{3AF03CC5-4BAE-4D72-8AB4-0875E59FF27C}" dt="2026-05-28T10:37:11.591" v="437" actId="1036"/>
          <ac:picMkLst>
            <pc:docMk/>
            <pc:sldMk cId="0" sldId="256"/>
            <ac:picMk id="5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41682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ko-KR" altLang="en-US"/>
              <a:t>마스터 제목 스타일 편집</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233313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54336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ko-KR" altLang="en-US"/>
              <a:t>마스터 제목 스타일 편집</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034884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77880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472912" y="11058863"/>
            <a:ext cx="9046274"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0825461" y="11058863"/>
            <a:ext cx="9090826"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044072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6827186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240017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961003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89144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893232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073348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915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C764DE79-268F-4C1A-8933-263129D2AF90}" type="datetimeFigureOut">
              <a:rPr lang="en-US" dirty="0"/>
              <a:t>5/29/2026</a:t>
            </a:fld>
            <a:endParaRPr lang="en-US" dirty="0"/>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24674938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2138324" rtl="0" eaLnBrk="1" latinLnBrk="1"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1"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1"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1"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1" hangingPunct="1">
        <a:defRPr sz="4209" kern="1200">
          <a:solidFill>
            <a:schemeClr val="tx1"/>
          </a:solidFill>
          <a:latin typeface="+mn-lt"/>
          <a:ea typeface="+mn-ea"/>
          <a:cs typeface="+mn-cs"/>
        </a:defRPr>
      </a:lvl1pPr>
      <a:lvl2pPr marL="1069162" algn="l" defTabSz="2138324" rtl="0" eaLnBrk="1" latinLnBrk="1" hangingPunct="1">
        <a:defRPr sz="4209" kern="1200">
          <a:solidFill>
            <a:schemeClr val="tx1"/>
          </a:solidFill>
          <a:latin typeface="+mn-lt"/>
          <a:ea typeface="+mn-ea"/>
          <a:cs typeface="+mn-cs"/>
        </a:defRPr>
      </a:lvl2pPr>
      <a:lvl3pPr marL="2138324" algn="l" defTabSz="2138324" rtl="0" eaLnBrk="1" latinLnBrk="1" hangingPunct="1">
        <a:defRPr sz="4209" kern="1200">
          <a:solidFill>
            <a:schemeClr val="tx1"/>
          </a:solidFill>
          <a:latin typeface="+mn-lt"/>
          <a:ea typeface="+mn-ea"/>
          <a:cs typeface="+mn-cs"/>
        </a:defRPr>
      </a:lvl3pPr>
      <a:lvl4pPr marL="3207487" algn="l" defTabSz="2138324" rtl="0" eaLnBrk="1" latinLnBrk="1" hangingPunct="1">
        <a:defRPr sz="4209" kern="1200">
          <a:solidFill>
            <a:schemeClr val="tx1"/>
          </a:solidFill>
          <a:latin typeface="+mn-lt"/>
          <a:ea typeface="+mn-ea"/>
          <a:cs typeface="+mn-cs"/>
        </a:defRPr>
      </a:lvl4pPr>
      <a:lvl5pPr marL="4276649" algn="l" defTabSz="2138324" rtl="0" eaLnBrk="1" latinLnBrk="1" hangingPunct="1">
        <a:defRPr sz="4209" kern="1200">
          <a:solidFill>
            <a:schemeClr val="tx1"/>
          </a:solidFill>
          <a:latin typeface="+mn-lt"/>
          <a:ea typeface="+mn-ea"/>
          <a:cs typeface="+mn-cs"/>
        </a:defRPr>
      </a:lvl5pPr>
      <a:lvl6pPr marL="5345811" algn="l" defTabSz="2138324" rtl="0" eaLnBrk="1" latinLnBrk="1" hangingPunct="1">
        <a:defRPr sz="4209" kern="1200">
          <a:solidFill>
            <a:schemeClr val="tx1"/>
          </a:solidFill>
          <a:latin typeface="+mn-lt"/>
          <a:ea typeface="+mn-ea"/>
          <a:cs typeface="+mn-cs"/>
        </a:defRPr>
      </a:lvl6pPr>
      <a:lvl7pPr marL="6414973" algn="l" defTabSz="2138324" rtl="0" eaLnBrk="1" latinLnBrk="1" hangingPunct="1">
        <a:defRPr sz="4209" kern="1200">
          <a:solidFill>
            <a:schemeClr val="tx1"/>
          </a:solidFill>
          <a:latin typeface="+mn-lt"/>
          <a:ea typeface="+mn-ea"/>
          <a:cs typeface="+mn-cs"/>
        </a:defRPr>
      </a:lvl7pPr>
      <a:lvl8pPr marL="7484135" algn="l" defTabSz="2138324" rtl="0" eaLnBrk="1" latinLnBrk="1" hangingPunct="1">
        <a:defRPr sz="4209" kern="1200">
          <a:solidFill>
            <a:schemeClr val="tx1"/>
          </a:solidFill>
          <a:latin typeface="+mn-lt"/>
          <a:ea typeface="+mn-ea"/>
          <a:cs typeface="+mn-cs"/>
        </a:defRPr>
      </a:lvl8pPr>
      <a:lvl9pPr marL="8553298" algn="l" defTabSz="2138324" rtl="0" eaLnBrk="1" latinLnBrk="1"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jp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67" name="직사각형 66">
            <a:extLst>
              <a:ext uri="{FF2B5EF4-FFF2-40B4-BE49-F238E27FC236}">
                <a16:creationId xmlns:a16="http://schemas.microsoft.com/office/drawing/2014/main" id="{FEB28D2E-F165-B17E-BA3D-91FFF65F48BD}"/>
              </a:ext>
            </a:extLst>
          </p:cNvPr>
          <p:cNvSpPr/>
          <p:nvPr/>
        </p:nvSpPr>
        <p:spPr>
          <a:xfrm>
            <a:off x="60220" y="20785508"/>
            <a:ext cx="10519460" cy="2356310"/>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3" name="직사각형 62">
            <a:extLst>
              <a:ext uri="{FF2B5EF4-FFF2-40B4-BE49-F238E27FC236}">
                <a16:creationId xmlns:a16="http://schemas.microsoft.com/office/drawing/2014/main" id="{F382794E-4364-518D-43AA-AEFAA7D2D4B3}"/>
              </a:ext>
            </a:extLst>
          </p:cNvPr>
          <p:cNvSpPr/>
          <p:nvPr/>
        </p:nvSpPr>
        <p:spPr>
          <a:xfrm>
            <a:off x="5103558" y="17438205"/>
            <a:ext cx="5476122" cy="3277835"/>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9" name="직사각형 58">
            <a:extLst>
              <a:ext uri="{FF2B5EF4-FFF2-40B4-BE49-F238E27FC236}">
                <a16:creationId xmlns:a16="http://schemas.microsoft.com/office/drawing/2014/main" id="{065C8846-E741-19A8-86F8-F2C40ADC18CB}"/>
              </a:ext>
            </a:extLst>
          </p:cNvPr>
          <p:cNvSpPr/>
          <p:nvPr/>
        </p:nvSpPr>
        <p:spPr>
          <a:xfrm>
            <a:off x="64625" y="17438205"/>
            <a:ext cx="4993359" cy="3277835"/>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3" name="Shape 1"/>
          <p:cNvSpPr/>
          <p:nvPr/>
        </p:nvSpPr>
        <p:spPr>
          <a:xfrm>
            <a:off x="0" y="-14178"/>
            <a:ext cx="21383625" cy="2717078"/>
          </a:xfrm>
          <a:prstGeom prst="rect">
            <a:avLst/>
          </a:prstGeom>
          <a:solidFill>
            <a:srgbClr val="7C001A"/>
          </a:solidFill>
          <a:ln/>
        </p:spPr>
        <p:txBody>
          <a:bodyPr/>
          <a:lstStyle/>
          <a:p>
            <a:endParaRPr lang="ko-KR" altLang="en-US" sz="899" dirty="0">
              <a:latin typeface="Arial" panose="020B0604020202020204" pitchFamily="34" charset="0"/>
              <a:cs typeface="Arial" panose="020B0604020202020204" pitchFamily="34" charset="0"/>
            </a:endParaRPr>
          </a:p>
        </p:txBody>
      </p:sp>
      <p:sp>
        <p:nvSpPr>
          <p:cNvPr id="4" name="Shape 2"/>
          <p:cNvSpPr/>
          <p:nvPr/>
        </p:nvSpPr>
        <p:spPr>
          <a:xfrm>
            <a:off x="10691812" y="0"/>
            <a:ext cx="0" cy="30275213"/>
          </a:xfrm>
          <a:prstGeom prst="line">
            <a:avLst/>
          </a:prstGeom>
          <a:noFill/>
          <a:ln w="19050">
            <a:solidFill>
              <a:srgbClr val="B3B3B3"/>
            </a:solidFill>
            <a:prstDash val="solid"/>
          </a:ln>
        </p:spPr>
        <p:txBody>
          <a:bodyPr/>
          <a:lstStyle/>
          <a:p>
            <a:endParaRPr lang="ko-KR" altLang="en-US" sz="899"/>
          </a:p>
        </p:txBody>
      </p:sp>
      <p:pic>
        <p:nvPicPr>
          <p:cNvPr id="11" name="그림 10">
            <a:extLst>
              <a:ext uri="{FF2B5EF4-FFF2-40B4-BE49-F238E27FC236}">
                <a16:creationId xmlns:a16="http://schemas.microsoft.com/office/drawing/2014/main" id="{D0F512B5-7B94-376D-EB36-079536E5484C}"/>
              </a:ext>
            </a:extLst>
          </p:cNvPr>
          <p:cNvPicPr>
            <a:picLocks noChangeAspect="1"/>
          </p:cNvPicPr>
          <p:nvPr/>
        </p:nvPicPr>
        <p:blipFill>
          <a:blip r:embed="rId3"/>
          <a:stretch>
            <a:fillRect/>
          </a:stretch>
        </p:blipFill>
        <p:spPr>
          <a:xfrm>
            <a:off x="0" y="0"/>
            <a:ext cx="1587674" cy="1838960"/>
          </a:xfrm>
          <a:prstGeom prst="rect">
            <a:avLst/>
          </a:prstGeom>
        </p:spPr>
      </p:pic>
      <p:sp>
        <p:nvSpPr>
          <p:cNvPr id="12" name="TextBox 11"/>
          <p:cNvSpPr txBox="1"/>
          <p:nvPr/>
        </p:nvSpPr>
        <p:spPr>
          <a:xfrm>
            <a:off x="11341812" y="822960"/>
            <a:ext cx="9841813" cy="390876"/>
          </a:xfrm>
          <a:prstGeom prst="rect">
            <a:avLst/>
          </a:prstGeom>
          <a:noFill/>
        </p:spPr>
        <p:txBody>
          <a:bodyPr wrap="square" lIns="45720" tIns="18288" rIns="45720" bIns="18288" anchor="ctr">
            <a:spAutoFit/>
          </a:bodyPr>
          <a:lstStyle/>
          <a:p>
            <a:pPr algn="ctr"/>
            <a:r>
              <a:rPr sz="2300" b="1" dirty="0">
                <a:solidFill>
                  <a:schemeClr val="bg1"/>
                </a:solidFill>
                <a:latin typeface="Arial"/>
              </a:rPr>
              <a:t>Self-Supervised Modulation Classification under Varying SNR</a:t>
            </a:r>
          </a:p>
        </p:txBody>
      </p:sp>
      <p:sp>
        <p:nvSpPr>
          <p:cNvPr id="13" name="TextBox 12"/>
          <p:cNvSpPr txBox="1"/>
          <p:nvPr/>
        </p:nvSpPr>
        <p:spPr>
          <a:xfrm>
            <a:off x="11710352" y="1698162"/>
            <a:ext cx="9241813" cy="406265"/>
          </a:xfrm>
          <a:prstGeom prst="rect">
            <a:avLst/>
          </a:prstGeom>
          <a:noFill/>
        </p:spPr>
        <p:txBody>
          <a:bodyPr wrap="square" lIns="45720" tIns="18288" rIns="45720" bIns="18288" anchor="ctr">
            <a:spAutoFit/>
          </a:bodyPr>
          <a:lstStyle/>
          <a:p>
            <a:pPr algn="ctr"/>
            <a:br>
              <a:rPr lang="af-ZA" altLang="ko-KR" sz="1200" dirty="0">
                <a:solidFill>
                  <a:schemeClr val="bg1"/>
                </a:solidFill>
                <a:latin typeface="Arial" panose="020B0604020202020204" pitchFamily="34" charset="0"/>
                <a:cs typeface="Arial" panose="020B0604020202020204" pitchFamily="34" charset="0"/>
              </a:rPr>
            </a:br>
            <a:r>
              <a:rPr lang="af-ZA" altLang="ko-KR" sz="1200" dirty="0">
                <a:solidFill>
                  <a:schemeClr val="bg1"/>
                </a:solidFill>
                <a:latin typeface="Arial" panose="020B0604020202020204" pitchFamily="34" charset="0"/>
                <a:cs typeface="Arial" panose="020B0604020202020204" pitchFamily="34" charset="0"/>
              </a:rPr>
              <a:t>Advisor: Prof. Jonghan Kim</a:t>
            </a:r>
            <a:endParaRPr lang="ko-KR" altLang="en-US" sz="1200" dirty="0">
              <a:solidFill>
                <a:schemeClr val="bg1"/>
              </a:solidFill>
              <a:latin typeface="Arial" panose="020B0604020202020204" pitchFamily="34" charset="0"/>
              <a:cs typeface="Arial" panose="020B0604020202020204" pitchFamily="34" charset="0"/>
            </a:endParaRPr>
          </a:p>
        </p:txBody>
      </p:sp>
      <p:sp>
        <p:nvSpPr>
          <p:cNvPr id="14" name="TextBox 13"/>
          <p:cNvSpPr txBox="1"/>
          <p:nvPr/>
        </p:nvSpPr>
        <p:spPr>
          <a:xfrm>
            <a:off x="11433487" y="1417018"/>
            <a:ext cx="9791813" cy="221599"/>
          </a:xfrm>
          <a:prstGeom prst="rect">
            <a:avLst/>
          </a:prstGeom>
          <a:noFill/>
        </p:spPr>
        <p:txBody>
          <a:bodyPr wrap="square" lIns="45720" tIns="18288" rIns="45720" bIns="18288" anchor="ctr">
            <a:spAutoFit/>
          </a:bodyPr>
          <a:lstStyle/>
          <a:p>
            <a:pPr algn="ctr"/>
            <a:r>
              <a:rPr sz="1200" b="0" dirty="0">
                <a:solidFill>
                  <a:schemeClr val="bg1"/>
                </a:solidFill>
                <a:latin typeface="Arial"/>
              </a:rPr>
              <a:t>Woo, Jun Ha | School of Electrical Engineering, Korea University | jerry229@korea.ac.kr</a:t>
            </a:r>
          </a:p>
        </p:txBody>
      </p:sp>
      <p:sp>
        <p:nvSpPr>
          <p:cNvPr id="15" name="Rectangle 14"/>
          <p:cNvSpPr/>
          <p:nvPr/>
        </p:nvSpPr>
        <p:spPr>
          <a:xfrm>
            <a:off x="11194732" y="2998690"/>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313604" y="3062585"/>
            <a:ext cx="9592056" cy="338554"/>
          </a:xfrm>
          <a:prstGeom prst="rect">
            <a:avLst/>
          </a:prstGeom>
          <a:noFill/>
        </p:spPr>
        <p:txBody>
          <a:bodyPr wrap="square" lIns="65000" rIns="65000" anchor="ctr">
            <a:spAutoFit/>
          </a:bodyPr>
          <a:lstStyle/>
          <a:p>
            <a:pPr algn="l"/>
            <a:r>
              <a:rPr sz="1600" b="1" dirty="0">
                <a:solidFill>
                  <a:srgbClr val="FFFFFF"/>
                </a:solidFill>
                <a:latin typeface="Arial"/>
              </a:rPr>
              <a:t>1. Motivation / Setup</a:t>
            </a:r>
          </a:p>
        </p:txBody>
      </p:sp>
      <p:sp>
        <p:nvSpPr>
          <p:cNvPr id="17" name="Rectangle 16"/>
          <p:cNvSpPr/>
          <p:nvPr/>
        </p:nvSpPr>
        <p:spPr>
          <a:xfrm>
            <a:off x="11194732" y="9970524"/>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313604" y="10042373"/>
            <a:ext cx="9592056" cy="320040"/>
          </a:xfrm>
          <a:prstGeom prst="rect">
            <a:avLst/>
          </a:prstGeom>
          <a:noFill/>
        </p:spPr>
        <p:txBody>
          <a:bodyPr wrap="square" lIns="65000" rIns="65000" anchor="ctr">
            <a:spAutoFit/>
          </a:bodyPr>
          <a:lstStyle/>
          <a:p>
            <a:r>
              <a:rPr sz="1600" b="1" dirty="0">
                <a:solidFill>
                  <a:srgbClr val="FFFFFF"/>
                </a:solidFill>
                <a:latin typeface="Arial"/>
              </a:rPr>
              <a:t>2. Low-label SL vs SSL Gain</a:t>
            </a:r>
          </a:p>
        </p:txBody>
      </p:sp>
      <p:sp>
        <p:nvSpPr>
          <p:cNvPr id="19" name="Rectangle 18"/>
          <p:cNvSpPr/>
          <p:nvPr/>
        </p:nvSpPr>
        <p:spPr>
          <a:xfrm>
            <a:off x="11194732" y="16028632"/>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313604" y="16141232"/>
            <a:ext cx="9592056" cy="276999"/>
          </a:xfrm>
          <a:prstGeom prst="rect">
            <a:avLst/>
          </a:prstGeom>
          <a:noFill/>
        </p:spPr>
        <p:txBody>
          <a:bodyPr wrap="square" lIns="65000" rIns="65000" anchor="ctr">
            <a:spAutoFit/>
          </a:bodyPr>
          <a:lstStyle/>
          <a:p>
            <a:pPr algn="l"/>
            <a:r>
              <a:rPr sz="1600" b="1" dirty="0">
                <a:solidFill>
                  <a:srgbClr val="FFFFFF"/>
                </a:solidFill>
                <a:latin typeface="Arial"/>
              </a:rPr>
              <a:t>3. Added Methods and Per-head SSL Gain</a:t>
            </a:r>
          </a:p>
        </p:txBody>
      </p:sp>
      <p:graphicFrame>
        <p:nvGraphicFramePr>
          <p:cNvPr id="30" name="Table 29"/>
          <p:cNvGraphicFramePr>
            <a:graphicFrameLocks noGrp="1"/>
          </p:cNvGraphicFramePr>
          <p:nvPr/>
        </p:nvGraphicFramePr>
        <p:xfrm>
          <a:off x="16199632" y="16733261"/>
          <a:ext cx="4669900" cy="1650000"/>
        </p:xfrm>
        <a:graphic>
          <a:graphicData uri="http://schemas.openxmlformats.org/drawingml/2006/table">
            <a:tbl>
              <a:tblPr firstRow="1" bandRow="1">
                <a:tableStyleId>{5C22544A-7EE6-4342-B048-85BDC9FD1C3A}</a:tableStyleId>
              </a:tblPr>
              <a:tblGrid>
                <a:gridCol w="2334950">
                  <a:extLst>
                    <a:ext uri="{9D8B030D-6E8A-4147-A177-3AD203B41FA5}">
                      <a16:colId xmlns:a16="http://schemas.microsoft.com/office/drawing/2014/main" val="20000"/>
                    </a:ext>
                  </a:extLst>
                </a:gridCol>
                <a:gridCol w="2334950">
                  <a:extLst>
                    <a:ext uri="{9D8B030D-6E8A-4147-A177-3AD203B41FA5}">
                      <a16:colId xmlns:a16="http://schemas.microsoft.com/office/drawing/2014/main" val="20001"/>
                    </a:ext>
                  </a:extLst>
                </a:gridCol>
              </a:tblGrid>
              <a:tr h="275000">
                <a:tc>
                  <a:txBody>
                    <a:bodyPr/>
                    <a:lstStyle/>
                    <a:p>
                      <a:pPr algn="ctr"/>
                      <a:r>
                        <a:rPr sz="1200" b="1" dirty="0">
                          <a:solidFill>
                            <a:srgbClr val="FFFFFF"/>
                          </a:solidFill>
                          <a:latin typeface="Arial"/>
                        </a:rPr>
                        <a:t>Method</a:t>
                      </a:r>
                    </a:p>
                  </a:txBody>
                  <a:tcPr>
                    <a:solidFill>
                      <a:srgbClr val="760018"/>
                    </a:solidFill>
                  </a:tcPr>
                </a:tc>
                <a:tc>
                  <a:txBody>
                    <a:bodyPr/>
                    <a:lstStyle/>
                    <a:p>
                      <a:pPr algn="ctr"/>
                      <a:r>
                        <a:rPr sz="1200" b="1">
                          <a:solidFill>
                            <a:srgbClr val="FFFFFF"/>
                          </a:solidFill>
                          <a:latin typeface="Arial"/>
                        </a:rPr>
                        <a:t>Role</a:t>
                      </a:r>
                    </a:p>
                  </a:txBody>
                  <a:tcPr>
                    <a:solidFill>
                      <a:srgbClr val="760018"/>
                    </a:solidFill>
                  </a:tcPr>
                </a:tc>
                <a:extLst>
                  <a:ext uri="{0D108BD9-81ED-4DB2-BD59-A6C34878D82A}">
                    <a16:rowId xmlns:a16="http://schemas.microsoft.com/office/drawing/2014/main" val="10000"/>
                  </a:ext>
                </a:extLst>
              </a:tr>
              <a:tr h="275000">
                <a:tc>
                  <a:txBody>
                    <a:bodyPr/>
                    <a:lstStyle/>
                    <a:p>
                      <a:pPr algn="ctr"/>
                      <a:r>
                        <a:rPr lang="en-US" sz="1200" b="0">
                          <a:solidFill>
                            <a:srgbClr val="23262C"/>
                          </a:solidFill>
                          <a:latin typeface="Arial"/>
                        </a:rPr>
                        <a:t>SL</a:t>
                      </a:r>
                      <a:endParaRPr lang="en-US" sz="1200" b="0" dirty="0">
                        <a:solidFill>
                          <a:srgbClr val="23262C"/>
                        </a:solidFill>
                        <a:latin typeface="Arial"/>
                      </a:endParaRPr>
                    </a:p>
                  </a:txBody>
                  <a:tcPr>
                    <a:solidFill>
                      <a:srgbClr val="F8FAFC"/>
                    </a:solidFill>
                  </a:tcPr>
                </a:tc>
                <a:tc>
                  <a:txBody>
                    <a:bodyPr/>
                    <a:lstStyle/>
                    <a:p>
                      <a:pPr algn="ctr"/>
                      <a:r>
                        <a:rPr lang="en-US" sz="1200" b="0" dirty="0">
                          <a:solidFill>
                            <a:srgbClr val="23262C"/>
                          </a:solidFill>
                          <a:latin typeface="Arial"/>
                        </a:rPr>
                        <a:t>SL baseline</a:t>
                      </a:r>
                    </a:p>
                  </a:txBody>
                  <a:tcPr>
                    <a:solidFill>
                      <a:srgbClr val="F8FAFC"/>
                    </a:solidFill>
                  </a:tcPr>
                </a:tc>
                <a:extLst>
                  <a:ext uri="{0D108BD9-81ED-4DB2-BD59-A6C34878D82A}">
                    <a16:rowId xmlns:a16="http://schemas.microsoft.com/office/drawing/2014/main" val="10001"/>
                  </a:ext>
                </a:extLst>
              </a:tr>
              <a:tr h="275000">
                <a:tc>
                  <a:txBody>
                    <a:bodyPr/>
                    <a:lstStyle/>
                    <a:p>
                      <a:pPr algn="ctr"/>
                      <a:r>
                        <a:rPr lang="en-US" sz="1200" b="0">
                          <a:solidFill>
                            <a:srgbClr val="23262C"/>
                          </a:solidFill>
                          <a:latin typeface="Arial"/>
                        </a:rPr>
                        <a:t>SSL</a:t>
                      </a:r>
                      <a:endParaRPr lang="en-US" sz="1200" b="0" dirty="0">
                        <a:solidFill>
                          <a:srgbClr val="23262C"/>
                        </a:solidFill>
                        <a:latin typeface="Arial"/>
                      </a:endParaRPr>
                    </a:p>
                  </a:txBody>
                  <a:tcPr>
                    <a:solidFill>
                      <a:srgbClr val="F0F4F8"/>
                    </a:solidFill>
                  </a:tcPr>
                </a:tc>
                <a:tc>
                  <a:txBody>
                    <a:bodyPr/>
                    <a:lstStyle/>
                    <a:p>
                      <a:pPr algn="ctr"/>
                      <a:r>
                        <a:rPr lang="en-US" sz="1200" b="0" dirty="0">
                          <a:solidFill>
                            <a:srgbClr val="23262C"/>
                          </a:solidFill>
                          <a:latin typeface="Arial"/>
                        </a:rPr>
                        <a:t>SSL baseline</a:t>
                      </a:r>
                    </a:p>
                  </a:txBody>
                  <a:tcPr>
                    <a:solidFill>
                      <a:srgbClr val="F0F4F8"/>
                    </a:solidFill>
                  </a:tcPr>
                </a:tc>
                <a:extLst>
                  <a:ext uri="{0D108BD9-81ED-4DB2-BD59-A6C34878D82A}">
                    <a16:rowId xmlns:a16="http://schemas.microsoft.com/office/drawing/2014/main" val="10002"/>
                  </a:ext>
                </a:extLst>
              </a:tr>
              <a:tr h="275000">
                <a:tc>
                  <a:txBody>
                    <a:bodyPr/>
                    <a:lstStyle/>
                    <a:p>
                      <a:pPr algn="ctr"/>
                      <a:r>
                        <a:rPr sz="1200" b="0" dirty="0">
                          <a:solidFill>
                            <a:srgbClr val="23262C"/>
                          </a:solidFill>
                          <a:latin typeface="Arial"/>
                        </a:rPr>
                        <a:t>Low-SNR Exposure SSL</a:t>
                      </a:r>
                    </a:p>
                  </a:txBody>
                  <a:tcPr>
                    <a:solidFill>
                      <a:srgbClr val="F8FAFC"/>
                    </a:solidFill>
                  </a:tcPr>
                </a:tc>
                <a:tc>
                  <a:txBody>
                    <a:bodyPr/>
                    <a:lstStyle/>
                    <a:p>
                      <a:pPr algn="ctr"/>
                      <a:r>
                        <a:rPr lang="en-US" sz="1200" b="0" dirty="0">
                          <a:solidFill>
                            <a:srgbClr val="23262C"/>
                          </a:solidFill>
                          <a:latin typeface="Arial"/>
                        </a:rPr>
                        <a:t>Severe-SNR</a:t>
                      </a:r>
                      <a:r>
                        <a:rPr sz="1200" b="0" dirty="0">
                          <a:solidFill>
                            <a:srgbClr val="23262C"/>
                          </a:solidFill>
                          <a:latin typeface="Arial"/>
                        </a:rPr>
                        <a:t> </a:t>
                      </a:r>
                      <a:r>
                        <a:rPr lang="en-US" sz="1200" b="0" dirty="0">
                          <a:solidFill>
                            <a:srgbClr val="23262C"/>
                          </a:solidFill>
                          <a:latin typeface="Arial"/>
                        </a:rPr>
                        <a:t>extra training</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3"/>
                  </a:ext>
                </a:extLst>
              </a:tr>
              <a:tr h="275000">
                <a:tc>
                  <a:txBody>
                    <a:bodyPr/>
                    <a:lstStyle/>
                    <a:p>
                      <a:pPr algn="ctr"/>
                      <a:r>
                        <a:rPr sz="1200" b="0" dirty="0">
                          <a:solidFill>
                            <a:srgbClr val="23262C"/>
                          </a:solidFill>
                          <a:latin typeface="Arial"/>
                        </a:rPr>
                        <a:t>Denoising SSL</a:t>
                      </a:r>
                    </a:p>
                  </a:txBody>
                  <a:tcPr>
                    <a:solidFill>
                      <a:srgbClr val="F0F4F8"/>
                    </a:solidFill>
                  </a:tcPr>
                </a:tc>
                <a:tc>
                  <a:txBody>
                    <a:bodyPr/>
                    <a:lstStyle/>
                    <a:p>
                      <a:pPr algn="ctr"/>
                      <a:r>
                        <a:rPr lang="en-US" sz="1200" b="0" dirty="0">
                          <a:solidFill>
                            <a:srgbClr val="23262C"/>
                          </a:solidFill>
                          <a:latin typeface="Arial"/>
                        </a:rPr>
                        <a:t>Loss r</a:t>
                      </a:r>
                      <a:r>
                        <a:rPr sz="1200" b="0" dirty="0">
                          <a:solidFill>
                            <a:srgbClr val="23262C"/>
                          </a:solidFill>
                          <a:latin typeface="Arial"/>
                        </a:rPr>
                        <a:t>econstruction</a:t>
                      </a:r>
                    </a:p>
                  </a:txBody>
                  <a:tcPr>
                    <a:solidFill>
                      <a:srgbClr val="F0F4F8"/>
                    </a:solidFill>
                  </a:tcPr>
                </a:tc>
                <a:extLst>
                  <a:ext uri="{0D108BD9-81ED-4DB2-BD59-A6C34878D82A}">
                    <a16:rowId xmlns:a16="http://schemas.microsoft.com/office/drawing/2014/main" val="10004"/>
                  </a:ext>
                </a:extLst>
              </a:tr>
              <a:tr h="275000">
                <a:tc>
                  <a:txBody>
                    <a:bodyPr/>
                    <a:lstStyle/>
                    <a:p>
                      <a:pPr algn="ctr"/>
                      <a:r>
                        <a:rPr sz="1200" b="0">
                          <a:solidFill>
                            <a:srgbClr val="23262C"/>
                          </a:solidFill>
                          <a:latin typeface="Arial"/>
                        </a:rPr>
                        <a:t>Per-head SSL</a:t>
                      </a:r>
                    </a:p>
                  </a:txBody>
                  <a:tcPr>
                    <a:solidFill>
                      <a:srgbClr val="F8FAFC"/>
                    </a:solidFill>
                  </a:tcPr>
                </a:tc>
                <a:tc>
                  <a:txBody>
                    <a:bodyPr/>
                    <a:lstStyle/>
                    <a:p>
                      <a:pPr algn="ctr"/>
                      <a:r>
                        <a:rPr sz="1200" b="0" dirty="0">
                          <a:solidFill>
                            <a:srgbClr val="23262C"/>
                          </a:solidFill>
                          <a:latin typeface="Arial"/>
                        </a:rPr>
                        <a:t>SNR-aware</a:t>
                      </a:r>
                      <a:r>
                        <a:rPr lang="en-US" sz="1200" b="0" dirty="0">
                          <a:solidFill>
                            <a:srgbClr val="23262C"/>
                          </a:solidFill>
                          <a:latin typeface="Arial"/>
                        </a:rPr>
                        <a:t> multi-classifier</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5"/>
                  </a:ext>
                </a:extLst>
              </a:tr>
            </a:tbl>
          </a:graphicData>
        </a:graphic>
      </p:graphicFrame>
      <p:graphicFrame>
        <p:nvGraphicFramePr>
          <p:cNvPr id="31" name="Table 30"/>
          <p:cNvGraphicFramePr>
            <a:graphicFrameLocks noGrp="1"/>
          </p:cNvGraphicFramePr>
          <p:nvPr/>
        </p:nvGraphicFramePr>
        <p:xfrm>
          <a:off x="16199632" y="18804640"/>
          <a:ext cx="4669900" cy="2050000"/>
        </p:xfrm>
        <a:graphic>
          <a:graphicData uri="http://schemas.openxmlformats.org/drawingml/2006/table">
            <a:tbl>
              <a:tblPr firstRow="1" bandRow="1">
                <a:tableStyleId>{5C22544A-7EE6-4342-B048-85BDC9FD1C3A}</a:tableStyleId>
              </a:tblPr>
              <a:tblGrid>
                <a:gridCol w="1167475">
                  <a:extLst>
                    <a:ext uri="{9D8B030D-6E8A-4147-A177-3AD203B41FA5}">
                      <a16:colId xmlns:a16="http://schemas.microsoft.com/office/drawing/2014/main" val="20000"/>
                    </a:ext>
                  </a:extLst>
                </a:gridCol>
                <a:gridCol w="1167475">
                  <a:extLst>
                    <a:ext uri="{9D8B030D-6E8A-4147-A177-3AD203B41FA5}">
                      <a16:colId xmlns:a16="http://schemas.microsoft.com/office/drawing/2014/main" val="20001"/>
                    </a:ext>
                  </a:extLst>
                </a:gridCol>
                <a:gridCol w="1167475">
                  <a:extLst>
                    <a:ext uri="{9D8B030D-6E8A-4147-A177-3AD203B41FA5}">
                      <a16:colId xmlns:a16="http://schemas.microsoft.com/office/drawing/2014/main" val="20002"/>
                    </a:ext>
                  </a:extLst>
                </a:gridCol>
                <a:gridCol w="1167475">
                  <a:extLst>
                    <a:ext uri="{9D8B030D-6E8A-4147-A177-3AD203B41FA5}">
                      <a16:colId xmlns:a16="http://schemas.microsoft.com/office/drawing/2014/main" val="20003"/>
                    </a:ext>
                  </a:extLst>
                </a:gridCol>
              </a:tblGrid>
              <a:tr h="410000">
                <a:tc>
                  <a:txBody>
                    <a:bodyPr/>
                    <a:lstStyle/>
                    <a:p>
                      <a:pPr algn="ctr"/>
                      <a:r>
                        <a:rPr sz="1200" b="1">
                          <a:solidFill>
                            <a:srgbClr val="FFFFFF"/>
                          </a:solidFill>
                          <a:latin typeface="Arial"/>
                        </a:rPr>
                        <a:t>Region</a:t>
                      </a:r>
                    </a:p>
                  </a:txBody>
                  <a:tcPr>
                    <a:solidFill>
                      <a:srgbClr val="760018"/>
                    </a:solidFill>
                  </a:tcPr>
                </a:tc>
                <a:tc>
                  <a:txBody>
                    <a:bodyPr/>
                    <a:lstStyle/>
                    <a:p>
                      <a:pPr algn="ctr"/>
                      <a:r>
                        <a:rPr sz="1200" b="1">
                          <a:solidFill>
                            <a:srgbClr val="FFFFFF"/>
                          </a:solidFill>
                          <a:latin typeface="Arial"/>
                        </a:rPr>
                        <a:t>SSL</a:t>
                      </a:r>
                    </a:p>
                  </a:txBody>
                  <a:tcPr>
                    <a:solidFill>
                      <a:srgbClr val="760018"/>
                    </a:solidFill>
                  </a:tcPr>
                </a:tc>
                <a:tc>
                  <a:txBody>
                    <a:bodyPr/>
                    <a:lstStyle/>
                    <a:p>
                      <a:pPr algn="ctr"/>
                      <a:r>
                        <a:rPr sz="1200" b="1">
                          <a:solidFill>
                            <a:srgbClr val="FFFFFF"/>
                          </a:solidFill>
                          <a:latin typeface="Arial"/>
                        </a:rPr>
                        <a:t>Per-head</a:t>
                      </a:r>
                    </a:p>
                  </a:txBody>
                  <a:tcPr>
                    <a:solidFill>
                      <a:srgbClr val="760018"/>
                    </a:solidFill>
                  </a:tcPr>
                </a:tc>
                <a:tc>
                  <a:txBody>
                    <a:bodyPr/>
                    <a:lstStyle/>
                    <a:p>
                      <a:pPr algn="ctr"/>
                      <a:r>
                        <a:rPr sz="1200" b="1">
                          <a:solidFill>
                            <a:srgbClr val="FFFFFF"/>
                          </a:solidFill>
                          <a:latin typeface="Arial"/>
                        </a:rPr>
                        <a:t>Gain</a:t>
                      </a:r>
                    </a:p>
                  </a:txBody>
                  <a:tcPr>
                    <a:solidFill>
                      <a:srgbClr val="760018"/>
                    </a:solidFill>
                  </a:tcPr>
                </a:tc>
                <a:extLst>
                  <a:ext uri="{0D108BD9-81ED-4DB2-BD59-A6C34878D82A}">
                    <a16:rowId xmlns:a16="http://schemas.microsoft.com/office/drawing/2014/main" val="10000"/>
                  </a:ext>
                </a:extLst>
              </a:tr>
              <a:tr h="410000">
                <a:tc>
                  <a:txBody>
                    <a:bodyPr/>
                    <a:lstStyle/>
                    <a:p>
                      <a:pPr algn="ctr"/>
                      <a:r>
                        <a:rPr sz="1200" b="0" dirty="0">
                          <a:solidFill>
                            <a:srgbClr val="23262C"/>
                          </a:solidFill>
                          <a:latin typeface="Arial"/>
                        </a:rPr>
                        <a:t>Severe</a:t>
                      </a:r>
                    </a:p>
                  </a:txBody>
                  <a:tcPr>
                    <a:solidFill>
                      <a:srgbClr val="F8FAFC"/>
                    </a:solidFill>
                  </a:tcPr>
                </a:tc>
                <a:tc>
                  <a:txBody>
                    <a:bodyPr/>
                    <a:lstStyle/>
                    <a:p>
                      <a:pPr algn="ctr"/>
                      <a:r>
                        <a:rPr sz="1200" b="0">
                          <a:solidFill>
                            <a:srgbClr val="23262C"/>
                          </a:solidFill>
                          <a:latin typeface="Arial"/>
                        </a:rPr>
                        <a:t>19.78</a:t>
                      </a:r>
                    </a:p>
                  </a:txBody>
                  <a:tcPr>
                    <a:solidFill>
                      <a:srgbClr val="F8FAFC"/>
                    </a:solidFill>
                  </a:tcPr>
                </a:tc>
                <a:tc>
                  <a:txBody>
                    <a:bodyPr/>
                    <a:lstStyle/>
                    <a:p>
                      <a:pPr algn="ctr"/>
                      <a:r>
                        <a:rPr sz="1200" b="0">
                          <a:solidFill>
                            <a:srgbClr val="23262C"/>
                          </a:solidFill>
                          <a:latin typeface="Arial"/>
                        </a:rPr>
                        <a:t>20.14</a:t>
                      </a:r>
                    </a:p>
                  </a:txBody>
                  <a:tcPr>
                    <a:solidFill>
                      <a:srgbClr val="F8FAFC"/>
                    </a:solidFill>
                  </a:tcPr>
                </a:tc>
                <a:tc>
                  <a:txBody>
                    <a:bodyPr/>
                    <a:lstStyle/>
                    <a:p>
                      <a:pPr algn="ctr"/>
                      <a:r>
                        <a:rPr sz="1200" b="0">
                          <a:solidFill>
                            <a:srgbClr val="23262C"/>
                          </a:solidFill>
                          <a:latin typeface="Arial"/>
                        </a:rPr>
                        <a:t>+0.36</a:t>
                      </a:r>
                    </a:p>
                  </a:txBody>
                  <a:tcPr>
                    <a:solidFill>
                      <a:srgbClr val="F8FAFC"/>
                    </a:solidFill>
                  </a:tcPr>
                </a:tc>
                <a:extLst>
                  <a:ext uri="{0D108BD9-81ED-4DB2-BD59-A6C34878D82A}">
                    <a16:rowId xmlns:a16="http://schemas.microsoft.com/office/drawing/2014/main" val="10001"/>
                  </a:ext>
                </a:extLst>
              </a:tr>
              <a:tr h="410000">
                <a:tc>
                  <a:txBody>
                    <a:bodyPr/>
                    <a:lstStyle/>
                    <a:p>
                      <a:pPr algn="ctr"/>
                      <a:r>
                        <a:rPr sz="1200" b="0" dirty="0">
                          <a:solidFill>
                            <a:srgbClr val="23262C"/>
                          </a:solidFill>
                          <a:latin typeface="Arial"/>
                        </a:rPr>
                        <a:t>Transition</a:t>
                      </a:r>
                    </a:p>
                  </a:txBody>
                  <a:tcPr>
                    <a:solidFill>
                      <a:srgbClr val="F0F4F8"/>
                    </a:solidFill>
                  </a:tcPr>
                </a:tc>
                <a:tc>
                  <a:txBody>
                    <a:bodyPr/>
                    <a:lstStyle/>
                    <a:p>
                      <a:pPr algn="ctr"/>
                      <a:r>
                        <a:rPr sz="1200" b="0" dirty="0">
                          <a:solidFill>
                            <a:srgbClr val="23262C"/>
                          </a:solidFill>
                          <a:latin typeface="Arial"/>
                        </a:rPr>
                        <a:t>39.76</a:t>
                      </a:r>
                    </a:p>
                  </a:txBody>
                  <a:tcPr>
                    <a:solidFill>
                      <a:srgbClr val="F0F4F8"/>
                    </a:solidFill>
                  </a:tcPr>
                </a:tc>
                <a:tc>
                  <a:txBody>
                    <a:bodyPr/>
                    <a:lstStyle/>
                    <a:p>
                      <a:pPr algn="ctr"/>
                      <a:r>
                        <a:rPr sz="1200" b="0" dirty="0">
                          <a:solidFill>
                            <a:srgbClr val="23262C"/>
                          </a:solidFill>
                          <a:latin typeface="Arial"/>
                        </a:rPr>
                        <a:t>44.69</a:t>
                      </a:r>
                    </a:p>
                  </a:txBody>
                  <a:tcPr>
                    <a:solidFill>
                      <a:srgbClr val="F0F4F8"/>
                    </a:solidFill>
                  </a:tcPr>
                </a:tc>
                <a:tc>
                  <a:txBody>
                    <a:bodyPr/>
                    <a:lstStyle/>
                    <a:p>
                      <a:pPr algn="ctr"/>
                      <a:r>
                        <a:rPr sz="1200" b="0">
                          <a:solidFill>
                            <a:srgbClr val="23262C"/>
                          </a:solidFill>
                          <a:latin typeface="Arial"/>
                        </a:rPr>
                        <a:t>+4.93</a:t>
                      </a:r>
                    </a:p>
                  </a:txBody>
                  <a:tcPr>
                    <a:solidFill>
                      <a:srgbClr val="F0F4F8"/>
                    </a:solidFill>
                  </a:tcPr>
                </a:tc>
                <a:extLst>
                  <a:ext uri="{0D108BD9-81ED-4DB2-BD59-A6C34878D82A}">
                    <a16:rowId xmlns:a16="http://schemas.microsoft.com/office/drawing/2014/main" val="10002"/>
                  </a:ext>
                </a:extLst>
              </a:tr>
              <a:tr h="410000">
                <a:tc>
                  <a:txBody>
                    <a:bodyPr/>
                    <a:lstStyle/>
                    <a:p>
                      <a:pPr algn="ctr"/>
                      <a:r>
                        <a:rPr sz="1200" b="0">
                          <a:solidFill>
                            <a:srgbClr val="23262C"/>
                          </a:solidFill>
                          <a:latin typeface="Arial"/>
                        </a:rPr>
                        <a:t>High</a:t>
                      </a:r>
                    </a:p>
                  </a:txBody>
                  <a:tcPr>
                    <a:solidFill>
                      <a:srgbClr val="F8FAFC"/>
                    </a:solidFill>
                  </a:tcPr>
                </a:tc>
                <a:tc>
                  <a:txBody>
                    <a:bodyPr/>
                    <a:lstStyle/>
                    <a:p>
                      <a:pPr algn="ctr"/>
                      <a:r>
                        <a:rPr sz="1200" b="0">
                          <a:solidFill>
                            <a:srgbClr val="23262C"/>
                          </a:solidFill>
                          <a:latin typeface="Arial"/>
                        </a:rPr>
                        <a:t>77.48</a:t>
                      </a:r>
                    </a:p>
                  </a:txBody>
                  <a:tcPr>
                    <a:solidFill>
                      <a:srgbClr val="F8FAFC"/>
                    </a:solidFill>
                  </a:tcPr>
                </a:tc>
                <a:tc>
                  <a:txBody>
                    <a:bodyPr/>
                    <a:lstStyle/>
                    <a:p>
                      <a:pPr algn="ctr"/>
                      <a:r>
                        <a:rPr sz="1200" b="0">
                          <a:solidFill>
                            <a:srgbClr val="23262C"/>
                          </a:solidFill>
                          <a:latin typeface="Arial"/>
                        </a:rPr>
                        <a:t>81.21</a:t>
                      </a:r>
                    </a:p>
                  </a:txBody>
                  <a:tcPr>
                    <a:solidFill>
                      <a:srgbClr val="F8FAFC"/>
                    </a:solidFill>
                  </a:tcPr>
                </a:tc>
                <a:tc>
                  <a:txBody>
                    <a:bodyPr/>
                    <a:lstStyle/>
                    <a:p>
                      <a:pPr algn="ctr"/>
                      <a:r>
                        <a:rPr sz="1200" b="0">
                          <a:solidFill>
                            <a:srgbClr val="23262C"/>
                          </a:solidFill>
                          <a:latin typeface="Arial"/>
                        </a:rPr>
                        <a:t>+3.73</a:t>
                      </a:r>
                    </a:p>
                  </a:txBody>
                  <a:tcPr>
                    <a:solidFill>
                      <a:srgbClr val="F8FAFC"/>
                    </a:solidFill>
                  </a:tcPr>
                </a:tc>
                <a:extLst>
                  <a:ext uri="{0D108BD9-81ED-4DB2-BD59-A6C34878D82A}">
                    <a16:rowId xmlns:a16="http://schemas.microsoft.com/office/drawing/2014/main" val="10003"/>
                  </a:ext>
                </a:extLst>
              </a:tr>
              <a:tr h="410000">
                <a:tc>
                  <a:txBody>
                    <a:bodyPr/>
                    <a:lstStyle/>
                    <a:p>
                      <a:pPr algn="ctr"/>
                      <a:r>
                        <a:rPr sz="1200" b="0">
                          <a:solidFill>
                            <a:srgbClr val="23262C"/>
                          </a:solidFill>
                          <a:latin typeface="Arial"/>
                        </a:rPr>
                        <a:t>Overall</a:t>
                      </a:r>
                    </a:p>
                  </a:txBody>
                  <a:tcPr>
                    <a:solidFill>
                      <a:srgbClr val="F0F4F8"/>
                    </a:solidFill>
                  </a:tcPr>
                </a:tc>
                <a:tc>
                  <a:txBody>
                    <a:bodyPr/>
                    <a:lstStyle/>
                    <a:p>
                      <a:pPr algn="ctr"/>
                      <a:r>
                        <a:rPr sz="1200" b="0">
                          <a:solidFill>
                            <a:srgbClr val="23262C"/>
                          </a:solidFill>
                          <a:latin typeface="Arial"/>
                        </a:rPr>
                        <a:t>46.41</a:t>
                      </a:r>
                    </a:p>
                  </a:txBody>
                  <a:tcPr>
                    <a:solidFill>
                      <a:srgbClr val="F0F4F8"/>
                    </a:solidFill>
                  </a:tcPr>
                </a:tc>
                <a:tc>
                  <a:txBody>
                    <a:bodyPr/>
                    <a:lstStyle/>
                    <a:p>
                      <a:pPr algn="ctr"/>
                      <a:r>
                        <a:rPr sz="1200" b="0">
                          <a:solidFill>
                            <a:srgbClr val="23262C"/>
                          </a:solidFill>
                          <a:latin typeface="Arial"/>
                        </a:rPr>
                        <a:t>50.19</a:t>
                      </a:r>
                    </a:p>
                  </a:txBody>
                  <a:tcPr>
                    <a:solidFill>
                      <a:srgbClr val="F0F4F8"/>
                    </a:solidFill>
                  </a:tcPr>
                </a:tc>
                <a:tc>
                  <a:txBody>
                    <a:bodyPr/>
                    <a:lstStyle/>
                    <a:p>
                      <a:pPr algn="ctr"/>
                      <a:r>
                        <a:rPr sz="1200" b="0" dirty="0">
                          <a:solidFill>
                            <a:srgbClr val="23262C"/>
                          </a:solidFill>
                          <a:latin typeface="Arial"/>
                        </a:rPr>
                        <a:t>+3.77</a:t>
                      </a:r>
                    </a:p>
                  </a:txBody>
                  <a:tcPr>
                    <a:solidFill>
                      <a:srgbClr val="F0F4F8"/>
                    </a:solidFill>
                  </a:tcPr>
                </a:tc>
                <a:extLst>
                  <a:ext uri="{0D108BD9-81ED-4DB2-BD59-A6C34878D82A}">
                    <a16:rowId xmlns:a16="http://schemas.microsoft.com/office/drawing/2014/main" val="10004"/>
                  </a:ext>
                </a:extLst>
              </a:tr>
            </a:tbl>
          </a:graphicData>
        </a:graphic>
      </p:graphicFrame>
      <p:sp>
        <p:nvSpPr>
          <p:cNvPr id="32" name="TextBox 31"/>
          <p:cNvSpPr txBox="1"/>
          <p:nvPr/>
        </p:nvSpPr>
        <p:spPr>
          <a:xfrm>
            <a:off x="16182800" y="20976516"/>
            <a:ext cx="4953993" cy="1384995"/>
          </a:xfrm>
          <a:prstGeom prst="rect">
            <a:avLst/>
          </a:prstGeom>
          <a:noFill/>
        </p:spPr>
        <p:txBody>
          <a:bodyPr wrap="square" lIns="65000" rIns="65000" anchor="ctr">
            <a:spAutoFit/>
          </a:bodyPr>
          <a:lstStyle/>
          <a:p>
            <a:r>
              <a:rPr lang="en-US" sz="1200" dirty="0">
                <a:solidFill>
                  <a:srgbClr val="23262C"/>
                </a:solidFill>
                <a:latin typeface="Arial"/>
              </a:rPr>
              <a:t>Among the additional methods, Per-head SSL achieved the most consistent improvement in transition and high-SNR regions.</a:t>
            </a:r>
          </a:p>
          <a:p>
            <a:r>
              <a:rPr lang="en-US" sz="1200" dirty="0">
                <a:solidFill>
                  <a:srgbClr val="23262C"/>
                </a:solidFill>
                <a:latin typeface="Arial"/>
              </a:rPr>
              <a:t>This suggests that SNR-specialized classification heads can better capture modulation characteristics that vary across noise conditions.</a:t>
            </a:r>
          </a:p>
          <a:p>
            <a:r>
              <a:rPr lang="en-US" sz="1200" dirty="0">
                <a:solidFill>
                  <a:srgbClr val="23262C"/>
                </a:solidFill>
                <a:latin typeface="Arial"/>
              </a:rPr>
              <a:t>Despite these improvements, performance under severe low-SNR conditions remains close to random guessing, indicating that denoising alone is insufficient when signal structure is heavily distorted.</a:t>
            </a:r>
            <a:endParaRPr sz="1200" b="0" dirty="0">
              <a:solidFill>
                <a:srgbClr val="23262C"/>
              </a:solidFill>
              <a:latin typeface="Arial"/>
            </a:endParaRPr>
          </a:p>
        </p:txBody>
      </p:sp>
      <p:sp>
        <p:nvSpPr>
          <p:cNvPr id="34" name="TextBox 33"/>
          <p:cNvSpPr txBox="1"/>
          <p:nvPr/>
        </p:nvSpPr>
        <p:spPr>
          <a:xfrm>
            <a:off x="16078625" y="23244788"/>
            <a:ext cx="4669900" cy="2162130"/>
          </a:xfrm>
          <a:prstGeom prst="rect">
            <a:avLst/>
          </a:prstGeom>
          <a:noFill/>
        </p:spPr>
        <p:txBody>
          <a:bodyPr wrap="square" lIns="85000" rIns="65000">
            <a:spAutoFit/>
          </a:bodyPr>
          <a:lstStyle/>
          <a:p>
            <a:pPr algn="l">
              <a:spcAft>
                <a:spcPts val="500"/>
              </a:spcAft>
            </a:pPr>
            <a:endParaRPr sz="1300" b="1" dirty="0">
              <a:solidFill>
                <a:srgbClr val="760018"/>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SSL is effective under scarce labels, but mainly in recoverable SNR regimes.</a:t>
            </a:r>
            <a:endParaRPr lang="en-US" sz="1300" b="1" dirty="0">
              <a:solidFill>
                <a:srgbClr val="23262C"/>
              </a:solidFill>
              <a:latin typeface="Arial"/>
            </a:endParaRPr>
          </a:p>
          <a:p>
            <a:pPr marL="285750" indent="-285750" algn="l">
              <a:spcAft>
                <a:spcPts val="400"/>
              </a:spcAft>
              <a:buFont typeface="Wingdings" panose="05000000000000000000" pitchFamily="2" charset="2"/>
              <a:buChar char="l"/>
            </a:pPr>
            <a:endParaRPr sz="1300" b="1" dirty="0">
              <a:solidFill>
                <a:srgbClr val="23262C"/>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Per-head SSL adds the clearest improvement by specializing the classifier to SNR regimes.</a:t>
            </a:r>
            <a:endParaRPr lang="en-US" sz="1300" b="1" dirty="0">
              <a:solidFill>
                <a:srgbClr val="23262C"/>
              </a:solidFill>
              <a:latin typeface="Arial"/>
            </a:endParaRPr>
          </a:p>
          <a:p>
            <a:pPr marL="285750" indent="-285750" algn="l">
              <a:spcAft>
                <a:spcPts val="400"/>
              </a:spcAft>
              <a:buFont typeface="Wingdings" panose="05000000000000000000" pitchFamily="2" charset="2"/>
              <a:buChar char="l"/>
            </a:pPr>
            <a:endParaRPr sz="1300" b="1" dirty="0">
              <a:solidFill>
                <a:srgbClr val="23262C"/>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Severe -10/-5 dB remains near chance, </a:t>
            </a:r>
            <a:r>
              <a:rPr lang="en-US" sz="1300" b="1" dirty="0">
                <a:solidFill>
                  <a:srgbClr val="23262C"/>
                </a:solidFill>
                <a:latin typeface="Arial"/>
              </a:rPr>
              <a:t>and </a:t>
            </a:r>
            <a:r>
              <a:rPr sz="1300" b="1" dirty="0">
                <a:solidFill>
                  <a:srgbClr val="23262C"/>
                </a:solidFill>
                <a:latin typeface="Arial"/>
              </a:rPr>
              <a:t>noise exposure or denoising alone is not enough.</a:t>
            </a:r>
          </a:p>
        </p:txBody>
      </p:sp>
      <p:pic>
        <p:nvPicPr>
          <p:cNvPr id="39" name="Picture 38" descr="image6.png"/>
          <p:cNvPicPr>
            <a:picLocks noChangeAspect="1"/>
          </p:cNvPicPr>
          <p:nvPr/>
        </p:nvPicPr>
        <p:blipFill>
          <a:blip r:embed="rId4"/>
          <a:stretch>
            <a:fillRect/>
          </a:stretch>
        </p:blipFill>
        <p:spPr>
          <a:xfrm>
            <a:off x="10880345" y="16737405"/>
            <a:ext cx="5139287" cy="5069512"/>
          </a:xfrm>
          <a:prstGeom prst="rect">
            <a:avLst/>
          </a:prstGeom>
        </p:spPr>
      </p:pic>
      <p:sp>
        <p:nvSpPr>
          <p:cNvPr id="41" name="TextBox 40"/>
          <p:cNvSpPr txBox="1"/>
          <p:nvPr/>
        </p:nvSpPr>
        <p:spPr>
          <a:xfrm>
            <a:off x="16199632" y="10672434"/>
            <a:ext cx="4669900" cy="276999"/>
          </a:xfrm>
          <a:prstGeom prst="rect">
            <a:avLst/>
          </a:prstGeom>
          <a:noFill/>
        </p:spPr>
        <p:txBody>
          <a:bodyPr wrap="square" lIns="60000" rIns="60000" anchor="ctr">
            <a:spAutoFit/>
          </a:bodyPr>
          <a:lstStyle/>
          <a:p>
            <a:pPr algn="ctr"/>
            <a:r>
              <a:rPr sz="1200" b="1" dirty="0">
                <a:solidFill>
                  <a:srgbClr val="23262C"/>
                </a:solidFill>
                <a:latin typeface="Arial"/>
              </a:rPr>
              <a:t>SL -&gt; SSL gain at label ratio 0.005</a:t>
            </a:r>
          </a:p>
        </p:txBody>
      </p:sp>
      <p:graphicFrame>
        <p:nvGraphicFramePr>
          <p:cNvPr id="42" name="Table 41"/>
          <p:cNvGraphicFramePr>
            <a:graphicFrameLocks noGrp="1"/>
          </p:cNvGraphicFramePr>
          <p:nvPr/>
        </p:nvGraphicFramePr>
        <p:xfrm>
          <a:off x="16199632" y="10964368"/>
          <a:ext cx="4669900" cy="1700000"/>
        </p:xfrm>
        <a:graphic>
          <a:graphicData uri="http://schemas.openxmlformats.org/drawingml/2006/table">
            <a:tbl>
              <a:tblPr firstRow="1" bandRow="1">
                <a:tableStyleId>{5C22544A-7EE6-4342-B048-85BDC9FD1C3A}</a:tableStyleId>
              </a:tblPr>
              <a:tblGrid>
                <a:gridCol w="1167475">
                  <a:extLst>
                    <a:ext uri="{9D8B030D-6E8A-4147-A177-3AD203B41FA5}">
                      <a16:colId xmlns:a16="http://schemas.microsoft.com/office/drawing/2014/main" val="20000"/>
                    </a:ext>
                  </a:extLst>
                </a:gridCol>
                <a:gridCol w="1167475">
                  <a:extLst>
                    <a:ext uri="{9D8B030D-6E8A-4147-A177-3AD203B41FA5}">
                      <a16:colId xmlns:a16="http://schemas.microsoft.com/office/drawing/2014/main" val="20001"/>
                    </a:ext>
                  </a:extLst>
                </a:gridCol>
                <a:gridCol w="1167475">
                  <a:extLst>
                    <a:ext uri="{9D8B030D-6E8A-4147-A177-3AD203B41FA5}">
                      <a16:colId xmlns:a16="http://schemas.microsoft.com/office/drawing/2014/main" val="20002"/>
                    </a:ext>
                  </a:extLst>
                </a:gridCol>
                <a:gridCol w="1167475">
                  <a:extLst>
                    <a:ext uri="{9D8B030D-6E8A-4147-A177-3AD203B41FA5}">
                      <a16:colId xmlns:a16="http://schemas.microsoft.com/office/drawing/2014/main" val="20003"/>
                    </a:ext>
                  </a:extLst>
                </a:gridCol>
              </a:tblGrid>
              <a:tr h="425000">
                <a:tc>
                  <a:txBody>
                    <a:bodyPr/>
                    <a:lstStyle/>
                    <a:p>
                      <a:pPr algn="ctr"/>
                      <a:r>
                        <a:rPr sz="1200" b="1" dirty="0">
                          <a:solidFill>
                            <a:srgbClr val="FFFFFF"/>
                          </a:solidFill>
                          <a:latin typeface="Arial"/>
                        </a:rPr>
                        <a:t>Region</a:t>
                      </a:r>
                    </a:p>
                  </a:txBody>
                  <a:tcPr>
                    <a:solidFill>
                      <a:srgbClr val="760018"/>
                    </a:solidFill>
                  </a:tcPr>
                </a:tc>
                <a:tc>
                  <a:txBody>
                    <a:bodyPr/>
                    <a:lstStyle/>
                    <a:p>
                      <a:pPr algn="ctr"/>
                      <a:r>
                        <a:rPr sz="1200" b="1">
                          <a:solidFill>
                            <a:srgbClr val="FFFFFF"/>
                          </a:solidFill>
                          <a:latin typeface="Arial"/>
                        </a:rPr>
                        <a:t>SL</a:t>
                      </a:r>
                    </a:p>
                  </a:txBody>
                  <a:tcPr>
                    <a:solidFill>
                      <a:srgbClr val="760018"/>
                    </a:solidFill>
                  </a:tcPr>
                </a:tc>
                <a:tc>
                  <a:txBody>
                    <a:bodyPr/>
                    <a:lstStyle/>
                    <a:p>
                      <a:pPr algn="ctr"/>
                      <a:r>
                        <a:rPr sz="1200" b="1">
                          <a:solidFill>
                            <a:srgbClr val="FFFFFF"/>
                          </a:solidFill>
                          <a:latin typeface="Arial"/>
                        </a:rPr>
                        <a:t>SSL</a:t>
                      </a:r>
                    </a:p>
                  </a:txBody>
                  <a:tcPr>
                    <a:solidFill>
                      <a:srgbClr val="760018"/>
                    </a:solidFill>
                  </a:tcPr>
                </a:tc>
                <a:tc>
                  <a:txBody>
                    <a:bodyPr/>
                    <a:lstStyle/>
                    <a:p>
                      <a:pPr algn="ctr"/>
                      <a:r>
                        <a:rPr sz="1200" b="1">
                          <a:solidFill>
                            <a:srgbClr val="FFFFFF"/>
                          </a:solidFill>
                          <a:latin typeface="Arial"/>
                        </a:rPr>
                        <a:t>Gain</a:t>
                      </a:r>
                    </a:p>
                  </a:txBody>
                  <a:tcPr>
                    <a:solidFill>
                      <a:srgbClr val="760018"/>
                    </a:solidFill>
                  </a:tcPr>
                </a:tc>
                <a:extLst>
                  <a:ext uri="{0D108BD9-81ED-4DB2-BD59-A6C34878D82A}">
                    <a16:rowId xmlns:a16="http://schemas.microsoft.com/office/drawing/2014/main" val="10000"/>
                  </a:ext>
                </a:extLst>
              </a:tr>
              <a:tr h="425000">
                <a:tc>
                  <a:txBody>
                    <a:bodyPr/>
                    <a:lstStyle/>
                    <a:p>
                      <a:pPr algn="ctr"/>
                      <a:r>
                        <a:rPr sz="1200" b="0">
                          <a:solidFill>
                            <a:srgbClr val="23262C"/>
                          </a:solidFill>
                          <a:latin typeface="Arial"/>
                        </a:rPr>
                        <a:t>Severe</a:t>
                      </a:r>
                    </a:p>
                  </a:txBody>
                  <a:tcPr>
                    <a:solidFill>
                      <a:srgbClr val="F8FAFC"/>
                    </a:solidFill>
                  </a:tcPr>
                </a:tc>
                <a:tc>
                  <a:txBody>
                    <a:bodyPr/>
                    <a:lstStyle/>
                    <a:p>
                      <a:pPr algn="ctr"/>
                      <a:r>
                        <a:rPr sz="1200" b="0">
                          <a:solidFill>
                            <a:srgbClr val="23262C"/>
                          </a:solidFill>
                          <a:latin typeface="Arial"/>
                        </a:rPr>
                        <a:t>20.06</a:t>
                      </a:r>
                    </a:p>
                  </a:txBody>
                  <a:tcPr>
                    <a:solidFill>
                      <a:srgbClr val="F8FAFC"/>
                    </a:solidFill>
                  </a:tcPr>
                </a:tc>
                <a:tc>
                  <a:txBody>
                    <a:bodyPr/>
                    <a:lstStyle/>
                    <a:p>
                      <a:pPr algn="ctr"/>
                      <a:r>
                        <a:rPr sz="1200" b="0">
                          <a:solidFill>
                            <a:srgbClr val="23262C"/>
                          </a:solidFill>
                          <a:latin typeface="Arial"/>
                        </a:rPr>
                        <a:t>19.78</a:t>
                      </a:r>
                    </a:p>
                  </a:txBody>
                  <a:tcPr>
                    <a:solidFill>
                      <a:srgbClr val="F8FAFC"/>
                    </a:solidFill>
                  </a:tcPr>
                </a:tc>
                <a:tc>
                  <a:txBody>
                    <a:bodyPr/>
                    <a:lstStyle/>
                    <a:p>
                      <a:pPr algn="ctr"/>
                      <a:r>
                        <a:rPr sz="1200" b="0" dirty="0">
                          <a:solidFill>
                            <a:srgbClr val="23262C"/>
                          </a:solidFill>
                          <a:latin typeface="Arial"/>
                        </a:rPr>
                        <a:t>-0.28</a:t>
                      </a:r>
                    </a:p>
                  </a:txBody>
                  <a:tcPr>
                    <a:solidFill>
                      <a:srgbClr val="F8FAFC"/>
                    </a:solidFill>
                  </a:tcPr>
                </a:tc>
                <a:extLst>
                  <a:ext uri="{0D108BD9-81ED-4DB2-BD59-A6C34878D82A}">
                    <a16:rowId xmlns:a16="http://schemas.microsoft.com/office/drawing/2014/main" val="10001"/>
                  </a:ext>
                </a:extLst>
              </a:tr>
              <a:tr h="425000">
                <a:tc>
                  <a:txBody>
                    <a:bodyPr/>
                    <a:lstStyle/>
                    <a:p>
                      <a:pPr algn="ctr"/>
                      <a:r>
                        <a:rPr sz="1200" b="0">
                          <a:solidFill>
                            <a:srgbClr val="23262C"/>
                          </a:solidFill>
                          <a:latin typeface="Arial"/>
                        </a:rPr>
                        <a:t>Transition</a:t>
                      </a:r>
                    </a:p>
                  </a:txBody>
                  <a:tcPr>
                    <a:solidFill>
                      <a:srgbClr val="F0F4F8"/>
                    </a:solidFill>
                  </a:tcPr>
                </a:tc>
                <a:tc>
                  <a:txBody>
                    <a:bodyPr/>
                    <a:lstStyle/>
                    <a:p>
                      <a:pPr algn="ctr"/>
                      <a:r>
                        <a:rPr sz="1200" b="0">
                          <a:solidFill>
                            <a:srgbClr val="23262C"/>
                          </a:solidFill>
                          <a:latin typeface="Arial"/>
                        </a:rPr>
                        <a:t>25.21</a:t>
                      </a:r>
                    </a:p>
                  </a:txBody>
                  <a:tcPr>
                    <a:solidFill>
                      <a:srgbClr val="F0F4F8"/>
                    </a:solidFill>
                  </a:tcPr>
                </a:tc>
                <a:tc>
                  <a:txBody>
                    <a:bodyPr/>
                    <a:lstStyle/>
                    <a:p>
                      <a:pPr algn="ctr"/>
                      <a:r>
                        <a:rPr sz="1200" b="0">
                          <a:solidFill>
                            <a:srgbClr val="23262C"/>
                          </a:solidFill>
                          <a:latin typeface="Arial"/>
                        </a:rPr>
                        <a:t>39.76</a:t>
                      </a:r>
                    </a:p>
                  </a:txBody>
                  <a:tcPr>
                    <a:solidFill>
                      <a:srgbClr val="F0F4F8"/>
                    </a:solidFill>
                  </a:tcPr>
                </a:tc>
                <a:tc>
                  <a:txBody>
                    <a:bodyPr/>
                    <a:lstStyle/>
                    <a:p>
                      <a:pPr algn="ctr"/>
                      <a:r>
                        <a:rPr sz="1200" b="0">
                          <a:solidFill>
                            <a:srgbClr val="23262C"/>
                          </a:solidFill>
                          <a:latin typeface="Arial"/>
                        </a:rPr>
                        <a:t>+14.55</a:t>
                      </a:r>
                    </a:p>
                  </a:txBody>
                  <a:tcPr>
                    <a:solidFill>
                      <a:srgbClr val="F0F4F8"/>
                    </a:solidFill>
                  </a:tcPr>
                </a:tc>
                <a:extLst>
                  <a:ext uri="{0D108BD9-81ED-4DB2-BD59-A6C34878D82A}">
                    <a16:rowId xmlns:a16="http://schemas.microsoft.com/office/drawing/2014/main" val="10002"/>
                  </a:ext>
                </a:extLst>
              </a:tr>
              <a:tr h="425000">
                <a:tc>
                  <a:txBody>
                    <a:bodyPr/>
                    <a:lstStyle/>
                    <a:p>
                      <a:pPr algn="ctr"/>
                      <a:r>
                        <a:rPr sz="1200" b="0">
                          <a:solidFill>
                            <a:srgbClr val="23262C"/>
                          </a:solidFill>
                          <a:latin typeface="Arial"/>
                        </a:rPr>
                        <a:t>High</a:t>
                      </a:r>
                    </a:p>
                  </a:txBody>
                  <a:tcPr>
                    <a:solidFill>
                      <a:srgbClr val="F8FAFC"/>
                    </a:solidFill>
                  </a:tcPr>
                </a:tc>
                <a:tc>
                  <a:txBody>
                    <a:bodyPr/>
                    <a:lstStyle/>
                    <a:p>
                      <a:pPr algn="ctr"/>
                      <a:r>
                        <a:rPr sz="1200" b="0">
                          <a:solidFill>
                            <a:srgbClr val="23262C"/>
                          </a:solidFill>
                          <a:latin typeface="Arial"/>
                        </a:rPr>
                        <a:t>42.85</a:t>
                      </a:r>
                    </a:p>
                  </a:txBody>
                  <a:tcPr>
                    <a:solidFill>
                      <a:srgbClr val="F8FAFC"/>
                    </a:solidFill>
                  </a:tcPr>
                </a:tc>
                <a:tc>
                  <a:txBody>
                    <a:bodyPr/>
                    <a:lstStyle/>
                    <a:p>
                      <a:pPr algn="ctr"/>
                      <a:r>
                        <a:rPr sz="1200" b="0" dirty="0">
                          <a:solidFill>
                            <a:srgbClr val="23262C"/>
                          </a:solidFill>
                          <a:latin typeface="Arial"/>
                        </a:rPr>
                        <a:t>77.48</a:t>
                      </a:r>
                    </a:p>
                  </a:txBody>
                  <a:tcPr>
                    <a:solidFill>
                      <a:srgbClr val="F8FAFC"/>
                    </a:solidFill>
                  </a:tcPr>
                </a:tc>
                <a:tc>
                  <a:txBody>
                    <a:bodyPr/>
                    <a:lstStyle/>
                    <a:p>
                      <a:pPr algn="ctr"/>
                      <a:r>
                        <a:rPr sz="1200" b="0" dirty="0">
                          <a:solidFill>
                            <a:srgbClr val="23262C"/>
                          </a:solidFill>
                          <a:latin typeface="Arial"/>
                        </a:rPr>
                        <a:t>+34.63</a:t>
                      </a:r>
                    </a:p>
                  </a:txBody>
                  <a:tcPr>
                    <a:solidFill>
                      <a:srgbClr val="F8FAFC"/>
                    </a:solidFill>
                  </a:tcPr>
                </a:tc>
                <a:extLst>
                  <a:ext uri="{0D108BD9-81ED-4DB2-BD59-A6C34878D82A}">
                    <a16:rowId xmlns:a16="http://schemas.microsoft.com/office/drawing/2014/main" val="10003"/>
                  </a:ext>
                </a:extLst>
              </a:tr>
            </a:tbl>
          </a:graphicData>
        </a:graphic>
      </p:graphicFrame>
      <p:graphicFrame>
        <p:nvGraphicFramePr>
          <p:cNvPr id="44" name="Table 43"/>
          <p:cNvGraphicFramePr>
            <a:graphicFrameLocks noGrp="1"/>
          </p:cNvGraphicFramePr>
          <p:nvPr/>
        </p:nvGraphicFramePr>
        <p:xfrm>
          <a:off x="16199632" y="12863375"/>
          <a:ext cx="4669900" cy="1600000"/>
        </p:xfrm>
        <a:graphic>
          <a:graphicData uri="http://schemas.openxmlformats.org/drawingml/2006/table">
            <a:tbl>
              <a:tblPr firstRow="1" bandRow="1">
                <a:tableStyleId>{5C22544A-7EE6-4342-B048-85BDC9FD1C3A}</a:tableStyleId>
              </a:tblPr>
              <a:tblGrid>
                <a:gridCol w="1556633">
                  <a:extLst>
                    <a:ext uri="{9D8B030D-6E8A-4147-A177-3AD203B41FA5}">
                      <a16:colId xmlns:a16="http://schemas.microsoft.com/office/drawing/2014/main" val="20000"/>
                    </a:ext>
                  </a:extLst>
                </a:gridCol>
                <a:gridCol w="1556633">
                  <a:extLst>
                    <a:ext uri="{9D8B030D-6E8A-4147-A177-3AD203B41FA5}">
                      <a16:colId xmlns:a16="http://schemas.microsoft.com/office/drawing/2014/main" val="20001"/>
                    </a:ext>
                  </a:extLst>
                </a:gridCol>
                <a:gridCol w="1556634">
                  <a:extLst>
                    <a:ext uri="{9D8B030D-6E8A-4147-A177-3AD203B41FA5}">
                      <a16:colId xmlns:a16="http://schemas.microsoft.com/office/drawing/2014/main" val="20002"/>
                    </a:ext>
                  </a:extLst>
                </a:gridCol>
              </a:tblGrid>
              <a:tr h="400000">
                <a:tc>
                  <a:txBody>
                    <a:bodyPr/>
                    <a:lstStyle/>
                    <a:p>
                      <a:pPr algn="ctr"/>
                      <a:r>
                        <a:rPr sz="1200" b="1">
                          <a:solidFill>
                            <a:srgbClr val="FFFFFF"/>
                          </a:solidFill>
                          <a:latin typeface="Arial"/>
                        </a:rPr>
                        <a:t>Ratio</a:t>
                      </a:r>
                    </a:p>
                  </a:txBody>
                  <a:tcPr>
                    <a:solidFill>
                      <a:srgbClr val="760018"/>
                    </a:solidFill>
                  </a:tcPr>
                </a:tc>
                <a:tc>
                  <a:txBody>
                    <a:bodyPr/>
                    <a:lstStyle/>
                    <a:p>
                      <a:pPr algn="ctr"/>
                      <a:r>
                        <a:rPr sz="1200" b="1" dirty="0">
                          <a:solidFill>
                            <a:srgbClr val="FFFFFF"/>
                          </a:solidFill>
                          <a:latin typeface="Arial"/>
                        </a:rPr>
                        <a:t>Transition</a:t>
                      </a:r>
                    </a:p>
                  </a:txBody>
                  <a:tcPr>
                    <a:solidFill>
                      <a:srgbClr val="760018"/>
                    </a:solidFill>
                  </a:tcPr>
                </a:tc>
                <a:tc>
                  <a:txBody>
                    <a:bodyPr/>
                    <a:lstStyle/>
                    <a:p>
                      <a:pPr algn="ctr"/>
                      <a:r>
                        <a:rPr sz="1200" b="1">
                          <a:solidFill>
                            <a:srgbClr val="FFFFFF"/>
                          </a:solidFill>
                          <a:latin typeface="Arial"/>
                        </a:rPr>
                        <a:t>High</a:t>
                      </a:r>
                    </a:p>
                  </a:txBody>
                  <a:tcPr>
                    <a:solidFill>
                      <a:srgbClr val="760018"/>
                    </a:solidFill>
                  </a:tcPr>
                </a:tc>
                <a:extLst>
                  <a:ext uri="{0D108BD9-81ED-4DB2-BD59-A6C34878D82A}">
                    <a16:rowId xmlns:a16="http://schemas.microsoft.com/office/drawing/2014/main" val="10000"/>
                  </a:ext>
                </a:extLst>
              </a:tr>
              <a:tr h="400000">
                <a:tc>
                  <a:txBody>
                    <a:bodyPr/>
                    <a:lstStyle/>
                    <a:p>
                      <a:pPr algn="ctr"/>
                      <a:r>
                        <a:rPr lang="en-US" sz="1200" b="0" dirty="0">
                          <a:solidFill>
                            <a:srgbClr val="23262C"/>
                          </a:solidFill>
                          <a:latin typeface="Arial"/>
                        </a:rPr>
                        <a:t>0.25%</a:t>
                      </a:r>
                      <a:endParaRPr sz="1200" b="0" dirty="0">
                        <a:solidFill>
                          <a:srgbClr val="23262C"/>
                        </a:solidFill>
                        <a:latin typeface="Arial"/>
                      </a:endParaRPr>
                    </a:p>
                  </a:txBody>
                  <a:tcPr>
                    <a:solidFill>
                      <a:srgbClr val="F8FAFC"/>
                    </a:solidFill>
                  </a:tcPr>
                </a:tc>
                <a:tc>
                  <a:txBody>
                    <a:bodyPr/>
                    <a:lstStyle/>
                    <a:p>
                      <a:pPr algn="ctr"/>
                      <a:r>
                        <a:rPr sz="1200" b="0">
                          <a:solidFill>
                            <a:srgbClr val="23262C"/>
                          </a:solidFill>
                          <a:latin typeface="Arial"/>
                        </a:rPr>
                        <a:t>+14.65</a:t>
                      </a:r>
                    </a:p>
                  </a:txBody>
                  <a:tcPr>
                    <a:solidFill>
                      <a:srgbClr val="F8FAFC"/>
                    </a:solidFill>
                  </a:tcPr>
                </a:tc>
                <a:tc>
                  <a:txBody>
                    <a:bodyPr/>
                    <a:lstStyle/>
                    <a:p>
                      <a:pPr algn="ctr"/>
                      <a:r>
                        <a:rPr sz="1200" b="0" dirty="0">
                          <a:solidFill>
                            <a:srgbClr val="23262C"/>
                          </a:solidFill>
                          <a:latin typeface="Arial"/>
                        </a:rPr>
                        <a:t>+49.52</a:t>
                      </a:r>
                    </a:p>
                  </a:txBody>
                  <a:tcPr>
                    <a:solidFill>
                      <a:srgbClr val="F8FAFC"/>
                    </a:solidFill>
                  </a:tcPr>
                </a:tc>
                <a:extLst>
                  <a:ext uri="{0D108BD9-81ED-4DB2-BD59-A6C34878D82A}">
                    <a16:rowId xmlns:a16="http://schemas.microsoft.com/office/drawing/2014/main" val="10001"/>
                  </a:ext>
                </a:extLst>
              </a:tr>
              <a:tr h="400000">
                <a:tc>
                  <a:txBody>
                    <a:bodyPr/>
                    <a:lstStyle/>
                    <a:p>
                      <a:pPr algn="ctr"/>
                      <a:r>
                        <a:rPr sz="1200" b="0" dirty="0">
                          <a:solidFill>
                            <a:srgbClr val="23262C"/>
                          </a:solidFill>
                          <a:latin typeface="Arial"/>
                        </a:rPr>
                        <a:t>0.5</a:t>
                      </a:r>
                      <a:r>
                        <a:rPr lang="en-US" sz="1200" b="0" dirty="0">
                          <a:solidFill>
                            <a:srgbClr val="23262C"/>
                          </a:solidFill>
                          <a:latin typeface="Arial"/>
                        </a:rPr>
                        <a:t>%</a:t>
                      </a:r>
                      <a:endParaRPr sz="1200" b="0" dirty="0">
                        <a:solidFill>
                          <a:srgbClr val="23262C"/>
                        </a:solidFill>
                        <a:latin typeface="Arial"/>
                      </a:endParaRPr>
                    </a:p>
                  </a:txBody>
                  <a:tcPr>
                    <a:solidFill>
                      <a:srgbClr val="F0F4F8"/>
                    </a:solidFill>
                  </a:tcPr>
                </a:tc>
                <a:tc>
                  <a:txBody>
                    <a:bodyPr/>
                    <a:lstStyle/>
                    <a:p>
                      <a:pPr algn="ctr"/>
                      <a:r>
                        <a:rPr sz="1200" b="0">
                          <a:solidFill>
                            <a:srgbClr val="23262C"/>
                          </a:solidFill>
                          <a:latin typeface="Arial"/>
                        </a:rPr>
                        <a:t>+14.55</a:t>
                      </a:r>
                    </a:p>
                  </a:txBody>
                  <a:tcPr>
                    <a:solidFill>
                      <a:srgbClr val="F0F4F8"/>
                    </a:solidFill>
                  </a:tcPr>
                </a:tc>
                <a:tc>
                  <a:txBody>
                    <a:bodyPr/>
                    <a:lstStyle/>
                    <a:p>
                      <a:pPr algn="ctr"/>
                      <a:r>
                        <a:rPr sz="1200" b="0">
                          <a:solidFill>
                            <a:srgbClr val="23262C"/>
                          </a:solidFill>
                          <a:latin typeface="Arial"/>
                        </a:rPr>
                        <a:t>+34.63</a:t>
                      </a:r>
                    </a:p>
                  </a:txBody>
                  <a:tcPr>
                    <a:solidFill>
                      <a:srgbClr val="F0F4F8"/>
                    </a:solidFill>
                  </a:tcPr>
                </a:tc>
                <a:extLst>
                  <a:ext uri="{0D108BD9-81ED-4DB2-BD59-A6C34878D82A}">
                    <a16:rowId xmlns:a16="http://schemas.microsoft.com/office/drawing/2014/main" val="10002"/>
                  </a:ext>
                </a:extLst>
              </a:tr>
              <a:tr h="400000">
                <a:tc>
                  <a:txBody>
                    <a:bodyPr/>
                    <a:lstStyle/>
                    <a:p>
                      <a:pPr algn="ctr"/>
                      <a:r>
                        <a:rPr sz="1200" b="0" dirty="0">
                          <a:solidFill>
                            <a:srgbClr val="23262C"/>
                          </a:solidFill>
                          <a:latin typeface="Arial"/>
                        </a:rPr>
                        <a:t>1</a:t>
                      </a:r>
                      <a:r>
                        <a:rPr lang="en-US" sz="1200" b="0" dirty="0">
                          <a:solidFill>
                            <a:srgbClr val="23262C"/>
                          </a:solidFill>
                          <a:latin typeface="Arial"/>
                        </a:rPr>
                        <a:t>%</a:t>
                      </a:r>
                      <a:endParaRPr sz="1200" b="0" dirty="0">
                        <a:solidFill>
                          <a:srgbClr val="23262C"/>
                        </a:solidFill>
                        <a:latin typeface="Arial"/>
                      </a:endParaRPr>
                    </a:p>
                  </a:txBody>
                  <a:tcPr>
                    <a:solidFill>
                      <a:srgbClr val="F8FAFC"/>
                    </a:solidFill>
                  </a:tcPr>
                </a:tc>
                <a:tc>
                  <a:txBody>
                    <a:bodyPr/>
                    <a:lstStyle/>
                    <a:p>
                      <a:pPr algn="ctr"/>
                      <a:r>
                        <a:rPr sz="1200" b="0" dirty="0">
                          <a:solidFill>
                            <a:srgbClr val="23262C"/>
                          </a:solidFill>
                          <a:latin typeface="Arial"/>
                        </a:rPr>
                        <a:t>+13.25</a:t>
                      </a:r>
                    </a:p>
                  </a:txBody>
                  <a:tcPr>
                    <a:solidFill>
                      <a:srgbClr val="F8FAFC"/>
                    </a:solidFill>
                  </a:tcPr>
                </a:tc>
                <a:tc>
                  <a:txBody>
                    <a:bodyPr/>
                    <a:lstStyle/>
                    <a:p>
                      <a:pPr algn="ctr"/>
                      <a:r>
                        <a:rPr sz="1200" b="0" dirty="0">
                          <a:solidFill>
                            <a:srgbClr val="23262C"/>
                          </a:solidFill>
                          <a:latin typeface="Arial"/>
                        </a:rPr>
                        <a:t>+32.21</a:t>
                      </a:r>
                    </a:p>
                  </a:txBody>
                  <a:tcPr>
                    <a:solidFill>
                      <a:srgbClr val="F8FAFC"/>
                    </a:solidFill>
                  </a:tcPr>
                </a:tc>
                <a:extLst>
                  <a:ext uri="{0D108BD9-81ED-4DB2-BD59-A6C34878D82A}">
                    <a16:rowId xmlns:a16="http://schemas.microsoft.com/office/drawing/2014/main" val="10003"/>
                  </a:ext>
                </a:extLst>
              </a:tr>
            </a:tbl>
          </a:graphicData>
        </a:graphic>
      </p:graphicFrame>
      <p:sp>
        <p:nvSpPr>
          <p:cNvPr id="46" name="Rectangle 45"/>
          <p:cNvSpPr/>
          <p:nvPr/>
        </p:nvSpPr>
        <p:spPr>
          <a:xfrm>
            <a:off x="11349732" y="22575506"/>
            <a:ext cx="46699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429732" y="22661902"/>
            <a:ext cx="4509900" cy="338554"/>
          </a:xfrm>
          <a:prstGeom prst="rect">
            <a:avLst/>
          </a:prstGeom>
          <a:noFill/>
        </p:spPr>
        <p:txBody>
          <a:bodyPr wrap="square" anchor="ctr">
            <a:spAutoFit/>
          </a:bodyPr>
          <a:lstStyle/>
          <a:p>
            <a:pPr algn="l"/>
            <a:r>
              <a:rPr sz="1600" b="1" dirty="0">
                <a:solidFill>
                  <a:srgbClr val="FFFFFF"/>
                </a:solidFill>
                <a:latin typeface="Arial"/>
              </a:rPr>
              <a:t>4. Per-Modulation Analysis</a:t>
            </a:r>
          </a:p>
        </p:txBody>
      </p:sp>
      <p:sp>
        <p:nvSpPr>
          <p:cNvPr id="48" name="Rectangle 47"/>
          <p:cNvSpPr/>
          <p:nvPr/>
        </p:nvSpPr>
        <p:spPr>
          <a:xfrm>
            <a:off x="16199632" y="22575506"/>
            <a:ext cx="46699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6279632" y="22661902"/>
            <a:ext cx="4509900" cy="338554"/>
          </a:xfrm>
          <a:prstGeom prst="rect">
            <a:avLst/>
          </a:prstGeom>
          <a:noFill/>
        </p:spPr>
        <p:txBody>
          <a:bodyPr wrap="square" anchor="ctr">
            <a:spAutoFit/>
          </a:bodyPr>
          <a:lstStyle/>
          <a:p>
            <a:pPr algn="l"/>
            <a:r>
              <a:rPr lang="en-US" sz="1600" b="1" dirty="0">
                <a:solidFill>
                  <a:srgbClr val="FFFFFF"/>
                </a:solidFill>
                <a:latin typeface="Arial"/>
              </a:rPr>
              <a:t>5</a:t>
            </a:r>
            <a:r>
              <a:rPr sz="1600" b="1" dirty="0">
                <a:solidFill>
                  <a:srgbClr val="FFFFFF"/>
                </a:solidFill>
                <a:latin typeface="Arial"/>
              </a:rPr>
              <a:t>. Takeaway</a:t>
            </a:r>
          </a:p>
        </p:txBody>
      </p:sp>
      <p:pic>
        <p:nvPicPr>
          <p:cNvPr id="50" name="Picture 49" descr="image.png"/>
          <p:cNvPicPr>
            <a:picLocks noChangeAspect="1"/>
          </p:cNvPicPr>
          <p:nvPr/>
        </p:nvPicPr>
        <p:blipFill>
          <a:blip r:embed="rId5"/>
          <a:stretch>
            <a:fillRect/>
          </a:stretch>
        </p:blipFill>
        <p:spPr>
          <a:xfrm>
            <a:off x="11035862" y="23319211"/>
            <a:ext cx="4983770" cy="4147733"/>
          </a:xfrm>
          <a:prstGeom prst="rect">
            <a:avLst/>
          </a:prstGeom>
        </p:spPr>
      </p:pic>
      <p:grpSp>
        <p:nvGrpSpPr>
          <p:cNvPr id="6" name="그룹 5">
            <a:extLst>
              <a:ext uri="{FF2B5EF4-FFF2-40B4-BE49-F238E27FC236}">
                <a16:creationId xmlns:a16="http://schemas.microsoft.com/office/drawing/2014/main" id="{5C4298BA-CDF7-58F3-89CB-4DF64718EC43}"/>
              </a:ext>
            </a:extLst>
          </p:cNvPr>
          <p:cNvGrpSpPr/>
          <p:nvPr/>
        </p:nvGrpSpPr>
        <p:grpSpPr>
          <a:xfrm>
            <a:off x="17089418" y="4443894"/>
            <a:ext cx="3791815" cy="4574983"/>
            <a:chOff x="17188054" y="4652937"/>
            <a:chExt cx="4195396" cy="4582777"/>
          </a:xfrm>
        </p:grpSpPr>
        <p:pic>
          <p:nvPicPr>
            <p:cNvPr id="37" name="Picture 36" descr="image1.png"/>
            <p:cNvPicPr>
              <a:picLocks noChangeAspect="1"/>
            </p:cNvPicPr>
            <p:nvPr/>
          </p:nvPicPr>
          <p:blipFill>
            <a:blip r:embed="rId6"/>
            <a:srcRect b="13909"/>
            <a:stretch>
              <a:fillRect/>
            </a:stretch>
          </p:blipFill>
          <p:spPr>
            <a:xfrm>
              <a:off x="17188054" y="4681914"/>
              <a:ext cx="4195396" cy="4553800"/>
            </a:xfrm>
            <a:prstGeom prst="rect">
              <a:avLst/>
            </a:prstGeom>
          </p:spPr>
        </p:pic>
        <p:pic>
          <p:nvPicPr>
            <p:cNvPr id="2" name="Picture 36" descr="image1.png">
              <a:extLst>
                <a:ext uri="{FF2B5EF4-FFF2-40B4-BE49-F238E27FC236}">
                  <a16:creationId xmlns:a16="http://schemas.microsoft.com/office/drawing/2014/main" id="{A2C48D31-A07B-3025-AFE2-C2E58A03FB1A}"/>
                </a:ext>
              </a:extLst>
            </p:cNvPr>
            <p:cNvPicPr>
              <a:picLocks noChangeAspect="1"/>
            </p:cNvPicPr>
            <p:nvPr/>
          </p:nvPicPr>
          <p:blipFill>
            <a:blip r:embed="rId6"/>
            <a:srcRect r="95747" b="86508"/>
            <a:stretch>
              <a:fillRect/>
            </a:stretch>
          </p:blipFill>
          <p:spPr>
            <a:xfrm>
              <a:off x="17374440" y="4652937"/>
              <a:ext cx="524791" cy="713636"/>
            </a:xfrm>
            <a:prstGeom prst="rect">
              <a:avLst/>
            </a:prstGeom>
          </p:spPr>
        </p:pic>
      </p:grpSp>
      <p:sp>
        <p:nvSpPr>
          <p:cNvPr id="53" name="TextBox 52"/>
          <p:cNvSpPr txBox="1"/>
          <p:nvPr/>
        </p:nvSpPr>
        <p:spPr>
          <a:xfrm>
            <a:off x="11395007" y="27363159"/>
            <a:ext cx="4669900" cy="1384995"/>
          </a:xfrm>
          <a:prstGeom prst="rect">
            <a:avLst/>
          </a:prstGeom>
          <a:noFill/>
        </p:spPr>
        <p:txBody>
          <a:bodyPr wrap="square" lIns="65000" rIns="65000" anchor="ctr">
            <a:spAutoFit/>
          </a:bodyPr>
          <a:lstStyle/>
          <a:p>
            <a:r>
              <a:rPr lang="en-US" altLang="ko-KR" sz="1200" dirty="0">
                <a:latin typeface="Arial" panose="020B0604020202020204" pitchFamily="34" charset="0"/>
                <a:cs typeface="Arial" panose="020B0604020202020204" pitchFamily="34" charset="0"/>
              </a:rPr>
              <a:t>SSL improves the accuracy of all modulation classes compared with SL, including relatively simple modulations such as BPSK. The gain becomes especially noticeable for higher-order modulations such as 16QAM and 64QAM, where class boundaries are more sensitive to noise and limited labels. Overall, the result suggests that SSL helps the encoder learn more robust and transferable RF signal representations across different modulation types.</a:t>
            </a:r>
            <a:endParaRPr sz="1200" b="0" dirty="0">
              <a:solidFill>
                <a:srgbClr val="505660"/>
              </a:solidFill>
              <a:latin typeface="Arial"/>
            </a:endParaRPr>
          </a:p>
        </p:txBody>
      </p:sp>
      <p:sp>
        <p:nvSpPr>
          <p:cNvPr id="54" name="TextBox 53"/>
          <p:cNvSpPr txBox="1"/>
          <p:nvPr/>
        </p:nvSpPr>
        <p:spPr>
          <a:xfrm>
            <a:off x="11196612" y="3788938"/>
            <a:ext cx="5818910" cy="2985433"/>
          </a:xfrm>
          <a:prstGeom prst="rect">
            <a:avLst/>
          </a:prstGeom>
          <a:noFill/>
        </p:spPr>
        <p:txBody>
          <a:bodyPr wrap="square" lIns="65000" rIns="65000" anchor="ctr">
            <a:spAutoFit/>
          </a:bodyPr>
          <a:lstStyle/>
          <a:p>
            <a:pPr algn="l"/>
            <a:r>
              <a:rPr sz="1300" b="1" dirty="0">
                <a:solidFill>
                  <a:srgbClr val="23262C"/>
                </a:solidFill>
                <a:latin typeface="Arial"/>
              </a:rPr>
              <a:t>Current trend</a:t>
            </a:r>
            <a:r>
              <a:rPr sz="1300" dirty="0">
                <a:solidFill>
                  <a:srgbClr val="23262C"/>
                </a:solidFill>
                <a:latin typeface="Arial"/>
              </a:rPr>
              <a:t>: </a:t>
            </a:r>
            <a:endParaRPr lang="en-US" sz="1300" dirty="0">
              <a:solidFill>
                <a:srgbClr val="23262C"/>
              </a:solidFill>
              <a:latin typeface="Arial"/>
            </a:endParaRPr>
          </a:p>
          <a:p>
            <a:pPr algn="l"/>
            <a:r>
              <a:rPr sz="1200" dirty="0">
                <a:solidFill>
                  <a:srgbClr val="23262C"/>
                </a:solidFill>
                <a:latin typeface="Arial"/>
              </a:rPr>
              <a:t>RF systems increasingly require automatic modulation recognition.</a:t>
            </a:r>
            <a:endParaRPr lang="en-US" sz="1200" dirty="0">
              <a:solidFill>
                <a:srgbClr val="23262C"/>
              </a:solidFill>
              <a:latin typeface="Arial"/>
            </a:endParaRPr>
          </a:p>
          <a:p>
            <a:r>
              <a:rPr lang="en-US" altLang="ko-KR" sz="1200" dirty="0">
                <a:latin typeface="Arial" panose="020B0604020202020204" pitchFamily="34" charset="0"/>
                <a:cs typeface="Arial" panose="020B0604020202020204" pitchFamily="34" charset="0"/>
              </a:rPr>
              <a:t>Machine learning-based classification research has become increasingly active.</a:t>
            </a:r>
            <a:endParaRPr lang="en-US" sz="1200" dirty="0">
              <a:solidFill>
                <a:srgbClr val="23262C"/>
              </a:solidFill>
              <a:latin typeface="Arial" panose="020B0604020202020204" pitchFamily="34" charset="0"/>
              <a:cs typeface="Arial" panose="020B0604020202020204" pitchFamily="34" charset="0"/>
            </a:endParaRPr>
          </a:p>
          <a:p>
            <a:br>
              <a:rPr dirty="0"/>
            </a:br>
            <a:r>
              <a:rPr lang="en-US" altLang="ko-KR" sz="1300" b="1" dirty="0">
                <a:latin typeface="Arial" panose="020B0604020202020204" pitchFamily="34" charset="0"/>
                <a:cs typeface="Arial" panose="020B0604020202020204" pitchFamily="34" charset="0"/>
              </a:rPr>
              <a:t>Data issue</a:t>
            </a:r>
            <a:r>
              <a:rPr lang="en-US" altLang="ko-KR" sz="1300" dirty="0">
                <a:latin typeface="Arial" panose="020B0604020202020204" pitchFamily="34" charset="0"/>
                <a:cs typeface="Arial" panose="020B0604020202020204" pitchFamily="34" charset="0"/>
              </a:rPr>
              <a:t>: </a:t>
            </a:r>
          </a:p>
          <a:p>
            <a:r>
              <a:rPr lang="en-US" altLang="ko-KR" sz="1200" dirty="0">
                <a:latin typeface="Arial" panose="020B0604020202020204" pitchFamily="34" charset="0"/>
                <a:cs typeface="Arial" panose="020B0604020202020204" pitchFamily="34" charset="0"/>
              </a:rPr>
              <a:t>Labeled I/Q datasets are costly to build, </a:t>
            </a:r>
          </a:p>
          <a:p>
            <a:r>
              <a:rPr lang="en-US" altLang="ko-KR" sz="1200" dirty="0">
                <a:latin typeface="Arial" panose="020B0604020202020204" pitchFamily="34" charset="0"/>
                <a:cs typeface="Arial" panose="020B0604020202020204" pitchFamily="34" charset="0"/>
              </a:rPr>
              <a:t>while unlabeled RF signals are relatively easy to collect.</a:t>
            </a:r>
            <a:endParaRPr lang="en-US" sz="1200" dirty="0">
              <a:solidFill>
                <a:srgbClr val="23262C"/>
              </a:solidFill>
              <a:latin typeface="Arial" panose="020B0604020202020204" pitchFamily="34" charset="0"/>
              <a:cs typeface="Arial" panose="020B0604020202020204" pitchFamily="34" charset="0"/>
            </a:endParaRPr>
          </a:p>
          <a:p>
            <a:pPr algn="l"/>
            <a:br>
              <a:rPr sz="1300" dirty="0"/>
            </a:br>
            <a:r>
              <a:rPr sz="1300" b="1" dirty="0">
                <a:solidFill>
                  <a:srgbClr val="23262C"/>
                </a:solidFill>
                <a:latin typeface="Arial"/>
              </a:rPr>
              <a:t>SSL idea</a:t>
            </a:r>
            <a:r>
              <a:rPr sz="1300" dirty="0">
                <a:solidFill>
                  <a:srgbClr val="23262C"/>
                </a:solidFill>
                <a:latin typeface="Arial"/>
              </a:rPr>
              <a:t>:</a:t>
            </a:r>
            <a:endParaRPr lang="en-US" sz="1300" dirty="0">
              <a:solidFill>
                <a:srgbClr val="23262C"/>
              </a:solidFill>
              <a:latin typeface="Arial"/>
            </a:endParaRPr>
          </a:p>
          <a:p>
            <a:pPr algn="l"/>
            <a:r>
              <a:rPr lang="en-US" sz="1200" dirty="0">
                <a:solidFill>
                  <a:srgbClr val="23262C"/>
                </a:solidFill>
                <a:latin typeface="Arial"/>
              </a:rPr>
              <a:t>Step1. </a:t>
            </a:r>
            <a:r>
              <a:rPr sz="1200" dirty="0">
                <a:solidFill>
                  <a:srgbClr val="23262C"/>
                </a:solidFill>
                <a:latin typeface="Arial"/>
              </a:rPr>
              <a:t>pretrain an encoder </a:t>
            </a:r>
            <a:r>
              <a:rPr lang="en-US" sz="1200" dirty="0">
                <a:solidFill>
                  <a:srgbClr val="23262C"/>
                </a:solidFill>
                <a:latin typeface="Arial"/>
              </a:rPr>
              <a:t>using</a:t>
            </a:r>
            <a:r>
              <a:rPr sz="1200" dirty="0">
                <a:solidFill>
                  <a:srgbClr val="23262C"/>
                </a:solidFill>
                <a:latin typeface="Arial"/>
              </a:rPr>
              <a:t> </a:t>
            </a:r>
            <a:r>
              <a:rPr lang="en-US" sz="1200" dirty="0" err="1">
                <a:solidFill>
                  <a:srgbClr val="23262C"/>
                </a:solidFill>
                <a:latin typeface="Arial"/>
              </a:rPr>
              <a:t>SimCLR</a:t>
            </a:r>
            <a:r>
              <a:rPr lang="en-US" sz="1200" dirty="0">
                <a:solidFill>
                  <a:srgbClr val="23262C"/>
                </a:solidFill>
                <a:latin typeface="Arial"/>
              </a:rPr>
              <a:t>-style</a:t>
            </a:r>
          </a:p>
          <a:p>
            <a:pPr algn="l"/>
            <a:r>
              <a:rPr lang="en-US" sz="1200" dirty="0">
                <a:solidFill>
                  <a:srgbClr val="23262C"/>
                </a:solidFill>
                <a:latin typeface="Arial"/>
              </a:rPr>
              <a:t>Step2. </a:t>
            </a:r>
            <a:r>
              <a:rPr sz="1200" dirty="0">
                <a:solidFill>
                  <a:srgbClr val="23262C"/>
                </a:solidFill>
                <a:latin typeface="Arial"/>
              </a:rPr>
              <a:t>fine-tune</a:t>
            </a:r>
            <a:r>
              <a:rPr lang="en-US" sz="1200" dirty="0">
                <a:solidFill>
                  <a:srgbClr val="23262C"/>
                </a:solidFill>
                <a:latin typeface="Arial"/>
              </a:rPr>
              <a:t> </a:t>
            </a:r>
            <a:r>
              <a:rPr lang="en-US" sz="1200" dirty="0" err="1">
                <a:solidFill>
                  <a:srgbClr val="23262C"/>
                </a:solidFill>
                <a:latin typeface="Arial"/>
              </a:rPr>
              <a:t>encoder+classifier</a:t>
            </a:r>
            <a:r>
              <a:rPr sz="1200" dirty="0">
                <a:solidFill>
                  <a:srgbClr val="23262C"/>
                </a:solidFill>
                <a:latin typeface="Arial"/>
              </a:rPr>
              <a:t> with few labels.</a:t>
            </a:r>
            <a:r>
              <a:rPr lang="en-US" sz="1200" dirty="0">
                <a:solidFill>
                  <a:srgbClr val="23262C"/>
                </a:solidFill>
                <a:latin typeface="Arial"/>
              </a:rPr>
              <a:t> </a:t>
            </a:r>
          </a:p>
          <a:p>
            <a:pPr algn="l"/>
            <a:br>
              <a:rPr dirty="0"/>
            </a:br>
            <a:r>
              <a:rPr sz="1300" b="1" dirty="0">
                <a:solidFill>
                  <a:srgbClr val="23262C"/>
                </a:solidFill>
                <a:latin typeface="Arial"/>
              </a:rPr>
              <a:t>Research focus</a:t>
            </a:r>
            <a:r>
              <a:rPr sz="1300" dirty="0">
                <a:solidFill>
                  <a:srgbClr val="23262C"/>
                </a:solidFill>
                <a:latin typeface="Arial"/>
              </a:rPr>
              <a:t>: </a:t>
            </a:r>
            <a:endParaRPr lang="en-US" sz="1300" dirty="0">
              <a:solidFill>
                <a:srgbClr val="23262C"/>
              </a:solidFill>
              <a:latin typeface="Arial"/>
            </a:endParaRPr>
          </a:p>
          <a:p>
            <a:pPr algn="l"/>
            <a:r>
              <a:rPr lang="en-US" sz="1200" dirty="0">
                <a:solidFill>
                  <a:srgbClr val="23262C"/>
                </a:solidFill>
                <a:latin typeface="Arial"/>
              </a:rPr>
              <a:t>I</a:t>
            </a:r>
            <a:r>
              <a:rPr sz="1200" dirty="0">
                <a:solidFill>
                  <a:srgbClr val="23262C"/>
                </a:solidFill>
                <a:latin typeface="Arial"/>
              </a:rPr>
              <a:t>dentify which SNR regimes actually benefit from SSL under scarce labels.</a:t>
            </a:r>
          </a:p>
        </p:txBody>
      </p:sp>
      <p:graphicFrame>
        <p:nvGraphicFramePr>
          <p:cNvPr id="55" name="Table 54"/>
          <p:cNvGraphicFramePr>
            <a:graphicFrameLocks noGrp="1"/>
          </p:cNvGraphicFramePr>
          <p:nvPr/>
        </p:nvGraphicFramePr>
        <p:xfrm>
          <a:off x="11194732" y="7048890"/>
          <a:ext cx="5693712" cy="2500000"/>
        </p:xfrm>
        <a:graphic>
          <a:graphicData uri="http://schemas.openxmlformats.org/drawingml/2006/table">
            <a:tbl>
              <a:tblPr firstRow="1" bandRow="1">
                <a:tableStyleId>{5C22544A-7EE6-4342-B048-85BDC9FD1C3A}</a:tableStyleId>
              </a:tblPr>
              <a:tblGrid>
                <a:gridCol w="2846856">
                  <a:extLst>
                    <a:ext uri="{9D8B030D-6E8A-4147-A177-3AD203B41FA5}">
                      <a16:colId xmlns:a16="http://schemas.microsoft.com/office/drawing/2014/main" val="20000"/>
                    </a:ext>
                  </a:extLst>
                </a:gridCol>
                <a:gridCol w="2846856">
                  <a:extLst>
                    <a:ext uri="{9D8B030D-6E8A-4147-A177-3AD203B41FA5}">
                      <a16:colId xmlns:a16="http://schemas.microsoft.com/office/drawing/2014/main" val="20001"/>
                    </a:ext>
                  </a:extLst>
                </a:gridCol>
              </a:tblGrid>
              <a:tr h="312500">
                <a:tc>
                  <a:txBody>
                    <a:bodyPr/>
                    <a:lstStyle/>
                    <a:p>
                      <a:pPr algn="ctr"/>
                      <a:r>
                        <a:rPr sz="1200" b="1" dirty="0">
                          <a:solidFill>
                            <a:srgbClr val="FFFFFF"/>
                          </a:solidFill>
                          <a:latin typeface="Arial"/>
                        </a:rPr>
                        <a:t>Item</a:t>
                      </a:r>
                    </a:p>
                  </a:txBody>
                  <a:tcPr>
                    <a:solidFill>
                      <a:srgbClr val="760018"/>
                    </a:solidFill>
                  </a:tcPr>
                </a:tc>
                <a:tc>
                  <a:txBody>
                    <a:bodyPr/>
                    <a:lstStyle/>
                    <a:p>
                      <a:pPr algn="l"/>
                      <a:r>
                        <a:rPr sz="1200" b="1" dirty="0">
                          <a:solidFill>
                            <a:srgbClr val="FFFFFF"/>
                          </a:solidFill>
                          <a:latin typeface="Arial"/>
                        </a:rPr>
                        <a:t>Setting</a:t>
                      </a:r>
                    </a:p>
                  </a:txBody>
                  <a:tcPr>
                    <a:solidFill>
                      <a:srgbClr val="760018"/>
                    </a:solidFill>
                  </a:tcPr>
                </a:tc>
                <a:extLst>
                  <a:ext uri="{0D108BD9-81ED-4DB2-BD59-A6C34878D82A}">
                    <a16:rowId xmlns:a16="http://schemas.microsoft.com/office/drawing/2014/main" val="10000"/>
                  </a:ext>
                </a:extLst>
              </a:tr>
              <a:tr h="312500">
                <a:tc>
                  <a:txBody>
                    <a:bodyPr/>
                    <a:lstStyle/>
                    <a:p>
                      <a:pPr algn="ctr"/>
                      <a:r>
                        <a:rPr sz="1200" b="0" dirty="0">
                          <a:solidFill>
                            <a:srgbClr val="23262C"/>
                          </a:solidFill>
                          <a:latin typeface="Arial"/>
                        </a:rPr>
                        <a:t>Task</a:t>
                      </a:r>
                    </a:p>
                  </a:txBody>
                  <a:tcPr>
                    <a:solidFill>
                      <a:srgbClr val="F8FAFC"/>
                    </a:solidFill>
                  </a:tcPr>
                </a:tc>
                <a:tc>
                  <a:txBody>
                    <a:bodyPr/>
                    <a:lstStyle/>
                    <a:p>
                      <a:pPr algn="l"/>
                      <a:r>
                        <a:rPr sz="1200" b="0" dirty="0">
                          <a:solidFill>
                            <a:srgbClr val="23262C"/>
                          </a:solidFill>
                          <a:latin typeface="Arial"/>
                        </a:rPr>
                        <a:t>5-class I/Q modulation classification</a:t>
                      </a:r>
                    </a:p>
                  </a:txBody>
                  <a:tcPr>
                    <a:solidFill>
                      <a:srgbClr val="F8FAFC"/>
                    </a:solidFill>
                  </a:tcPr>
                </a:tc>
                <a:extLst>
                  <a:ext uri="{0D108BD9-81ED-4DB2-BD59-A6C34878D82A}">
                    <a16:rowId xmlns:a16="http://schemas.microsoft.com/office/drawing/2014/main" val="10001"/>
                  </a:ext>
                </a:extLst>
              </a:tr>
              <a:tr h="312500">
                <a:tc>
                  <a:txBody>
                    <a:bodyPr/>
                    <a:lstStyle/>
                    <a:p>
                      <a:pPr algn="ctr"/>
                      <a:r>
                        <a:rPr sz="1200" b="0">
                          <a:solidFill>
                            <a:srgbClr val="23262C"/>
                          </a:solidFill>
                          <a:latin typeface="Arial"/>
                        </a:rPr>
                        <a:t>Modulations</a:t>
                      </a:r>
                    </a:p>
                  </a:txBody>
                  <a:tcPr>
                    <a:solidFill>
                      <a:srgbClr val="F0F4F8"/>
                    </a:solidFill>
                  </a:tcPr>
                </a:tc>
                <a:tc>
                  <a:txBody>
                    <a:bodyPr/>
                    <a:lstStyle/>
                    <a:p>
                      <a:pPr algn="l"/>
                      <a:r>
                        <a:rPr sz="1200" b="0" dirty="0">
                          <a:solidFill>
                            <a:srgbClr val="23262C"/>
                          </a:solidFill>
                          <a:latin typeface="Arial"/>
                        </a:rPr>
                        <a:t>BPSK, QPSK, 8PSK, 16QAM, 64QAM</a:t>
                      </a:r>
                    </a:p>
                  </a:txBody>
                  <a:tcPr>
                    <a:solidFill>
                      <a:srgbClr val="F0F4F8"/>
                    </a:solidFill>
                  </a:tcPr>
                </a:tc>
                <a:extLst>
                  <a:ext uri="{0D108BD9-81ED-4DB2-BD59-A6C34878D82A}">
                    <a16:rowId xmlns:a16="http://schemas.microsoft.com/office/drawing/2014/main" val="10002"/>
                  </a:ext>
                </a:extLst>
              </a:tr>
              <a:tr h="312500">
                <a:tc>
                  <a:txBody>
                    <a:bodyPr/>
                    <a:lstStyle/>
                    <a:p>
                      <a:pPr algn="ctr"/>
                      <a:r>
                        <a:rPr sz="1200" b="0" dirty="0">
                          <a:solidFill>
                            <a:srgbClr val="23262C"/>
                          </a:solidFill>
                          <a:latin typeface="Arial"/>
                        </a:rPr>
                        <a:t>Input</a:t>
                      </a:r>
                    </a:p>
                  </a:txBody>
                  <a:tcPr>
                    <a:solidFill>
                      <a:srgbClr val="F8FAFC"/>
                    </a:solidFill>
                  </a:tcPr>
                </a:tc>
                <a:tc>
                  <a:txBody>
                    <a:bodyPr/>
                    <a:lstStyle/>
                    <a:p>
                      <a:pPr algn="l"/>
                      <a:r>
                        <a:rPr sz="1200" b="0">
                          <a:solidFill>
                            <a:srgbClr val="23262C"/>
                          </a:solidFill>
                          <a:latin typeface="Arial"/>
                        </a:rPr>
                        <a:t>2 x 4096 I/Q samples</a:t>
                      </a:r>
                    </a:p>
                  </a:txBody>
                  <a:tcPr>
                    <a:solidFill>
                      <a:srgbClr val="F8FAFC"/>
                    </a:solidFill>
                  </a:tcPr>
                </a:tc>
                <a:extLst>
                  <a:ext uri="{0D108BD9-81ED-4DB2-BD59-A6C34878D82A}">
                    <a16:rowId xmlns:a16="http://schemas.microsoft.com/office/drawing/2014/main" val="10003"/>
                  </a:ext>
                </a:extLst>
              </a:tr>
              <a:tr h="312500">
                <a:tc>
                  <a:txBody>
                    <a:bodyPr/>
                    <a:lstStyle/>
                    <a:p>
                      <a:pPr algn="ctr"/>
                      <a:r>
                        <a:rPr sz="1200" b="0">
                          <a:solidFill>
                            <a:srgbClr val="23262C"/>
                          </a:solidFill>
                          <a:latin typeface="Arial"/>
                        </a:rPr>
                        <a:t>Label ratio</a:t>
                      </a:r>
                    </a:p>
                  </a:txBody>
                  <a:tcPr>
                    <a:solidFill>
                      <a:srgbClr val="F0F4F8"/>
                    </a:solidFill>
                  </a:tcPr>
                </a:tc>
                <a:tc>
                  <a:txBody>
                    <a:bodyPr/>
                    <a:lstStyle/>
                    <a:p>
                      <a:pPr algn="l"/>
                      <a:r>
                        <a:rPr lang="en-US" sz="1200" b="0" dirty="0">
                          <a:solidFill>
                            <a:srgbClr val="23262C"/>
                          </a:solidFill>
                          <a:latin typeface="Arial"/>
                        </a:rPr>
                        <a:t>0.25% 0.5%, 1%</a:t>
                      </a:r>
                      <a:endParaRPr sz="1200" b="0" dirty="0">
                        <a:solidFill>
                          <a:srgbClr val="23262C"/>
                        </a:solidFill>
                        <a:latin typeface="Arial"/>
                      </a:endParaRPr>
                    </a:p>
                  </a:txBody>
                  <a:tcPr>
                    <a:solidFill>
                      <a:srgbClr val="F0F4F8"/>
                    </a:solidFill>
                  </a:tcPr>
                </a:tc>
                <a:extLst>
                  <a:ext uri="{0D108BD9-81ED-4DB2-BD59-A6C34878D82A}">
                    <a16:rowId xmlns:a16="http://schemas.microsoft.com/office/drawing/2014/main" val="10004"/>
                  </a:ext>
                </a:extLst>
              </a:tr>
              <a:tr h="312500">
                <a:tc>
                  <a:txBody>
                    <a:bodyPr/>
                    <a:lstStyle/>
                    <a:p>
                      <a:pPr algn="ctr"/>
                      <a:r>
                        <a:rPr sz="1200" b="0">
                          <a:solidFill>
                            <a:srgbClr val="23262C"/>
                          </a:solidFill>
                          <a:latin typeface="Arial"/>
                        </a:rPr>
                        <a:t>Train SNR</a:t>
                      </a:r>
                    </a:p>
                  </a:txBody>
                  <a:tcPr>
                    <a:solidFill>
                      <a:srgbClr val="F8FAFC"/>
                    </a:solidFill>
                  </a:tcPr>
                </a:tc>
                <a:tc>
                  <a:txBody>
                    <a:bodyPr/>
                    <a:lstStyle/>
                    <a:p>
                      <a:pPr algn="l"/>
                      <a:r>
                        <a:rPr sz="1200" b="0">
                          <a:solidFill>
                            <a:srgbClr val="23262C"/>
                          </a:solidFill>
                          <a:latin typeface="Arial"/>
                        </a:rPr>
                        <a:t>0, 5, 10, 15, 20 dB</a:t>
                      </a:r>
                    </a:p>
                  </a:txBody>
                  <a:tcPr>
                    <a:solidFill>
                      <a:srgbClr val="F8FAFC"/>
                    </a:solidFill>
                  </a:tcPr>
                </a:tc>
                <a:extLst>
                  <a:ext uri="{0D108BD9-81ED-4DB2-BD59-A6C34878D82A}">
                    <a16:rowId xmlns:a16="http://schemas.microsoft.com/office/drawing/2014/main" val="10005"/>
                  </a:ext>
                </a:extLst>
              </a:tr>
              <a:tr h="312500">
                <a:tc>
                  <a:txBody>
                    <a:bodyPr/>
                    <a:lstStyle/>
                    <a:p>
                      <a:pPr algn="ctr"/>
                      <a:r>
                        <a:rPr sz="1200" b="0">
                          <a:solidFill>
                            <a:srgbClr val="23262C"/>
                          </a:solidFill>
                          <a:latin typeface="Arial"/>
                        </a:rPr>
                        <a:t>Dense test SNR</a:t>
                      </a:r>
                    </a:p>
                  </a:txBody>
                  <a:tcPr>
                    <a:solidFill>
                      <a:srgbClr val="F0F4F8"/>
                    </a:solidFill>
                  </a:tcPr>
                </a:tc>
                <a:tc>
                  <a:txBody>
                    <a:bodyPr/>
                    <a:lstStyle/>
                    <a:p>
                      <a:pPr algn="l"/>
                      <a:r>
                        <a:rPr sz="1200" b="0" dirty="0">
                          <a:solidFill>
                            <a:srgbClr val="23262C"/>
                          </a:solidFill>
                          <a:latin typeface="Arial"/>
                        </a:rPr>
                        <a:t>-10, -5, 0-5, 10, 15, 20 dB</a:t>
                      </a:r>
                    </a:p>
                  </a:txBody>
                  <a:tcPr>
                    <a:solidFill>
                      <a:srgbClr val="F0F4F8"/>
                    </a:solidFill>
                  </a:tcPr>
                </a:tc>
                <a:extLst>
                  <a:ext uri="{0D108BD9-81ED-4DB2-BD59-A6C34878D82A}">
                    <a16:rowId xmlns:a16="http://schemas.microsoft.com/office/drawing/2014/main" val="10006"/>
                  </a:ext>
                </a:extLst>
              </a:tr>
              <a:tr h="312500">
                <a:tc>
                  <a:txBody>
                    <a:bodyPr/>
                    <a:lstStyle/>
                    <a:p>
                      <a:pPr algn="ctr"/>
                      <a:r>
                        <a:rPr sz="1200" b="0" dirty="0">
                          <a:solidFill>
                            <a:srgbClr val="23262C"/>
                          </a:solidFill>
                          <a:latin typeface="Arial"/>
                        </a:rPr>
                        <a:t>Models</a:t>
                      </a:r>
                    </a:p>
                  </a:txBody>
                  <a:tcPr>
                    <a:solidFill>
                      <a:srgbClr val="F8FAFC"/>
                    </a:solidFill>
                  </a:tcPr>
                </a:tc>
                <a:tc>
                  <a:txBody>
                    <a:bodyPr/>
                    <a:lstStyle/>
                    <a:p>
                      <a:pPr algn="l"/>
                      <a:r>
                        <a:rPr sz="1200" b="0" dirty="0">
                          <a:solidFill>
                            <a:srgbClr val="23262C"/>
                          </a:solidFill>
                          <a:latin typeface="Arial"/>
                        </a:rPr>
                        <a:t>SL, contrastive SSL, </a:t>
                      </a:r>
                      <a:r>
                        <a:rPr lang="en-US" sz="1200" b="0" dirty="0">
                          <a:solidFill>
                            <a:srgbClr val="23262C"/>
                          </a:solidFill>
                          <a:latin typeface="Arial"/>
                        </a:rPr>
                        <a:t>additional  SSLs</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7"/>
                  </a:ext>
                </a:extLst>
              </a:tr>
            </a:tbl>
          </a:graphicData>
        </a:graphic>
      </p:graphicFrame>
      <p:pic>
        <p:nvPicPr>
          <p:cNvPr id="7" name="그림 6">
            <a:extLst>
              <a:ext uri="{FF2B5EF4-FFF2-40B4-BE49-F238E27FC236}">
                <a16:creationId xmlns:a16="http://schemas.microsoft.com/office/drawing/2014/main" id="{E5C9383C-B706-2F6D-65C5-447E30A00FA5}"/>
              </a:ext>
            </a:extLst>
          </p:cNvPr>
          <p:cNvPicPr>
            <a:picLocks noChangeAspect="1"/>
          </p:cNvPicPr>
          <p:nvPr/>
        </p:nvPicPr>
        <p:blipFill>
          <a:blip r:embed="rId7"/>
          <a:stretch>
            <a:fillRect/>
          </a:stretch>
        </p:blipFill>
        <p:spPr>
          <a:xfrm>
            <a:off x="16934164" y="26183006"/>
            <a:ext cx="2798050" cy="2798050"/>
          </a:xfrm>
          <a:prstGeom prst="rect">
            <a:avLst/>
          </a:prstGeom>
        </p:spPr>
      </p:pic>
      <p:sp>
        <p:nvSpPr>
          <p:cNvPr id="8" name="TextBox 7">
            <a:extLst>
              <a:ext uri="{FF2B5EF4-FFF2-40B4-BE49-F238E27FC236}">
                <a16:creationId xmlns:a16="http://schemas.microsoft.com/office/drawing/2014/main" id="{FB70FF64-5DCA-ACC2-B8B2-FB96CD0695C9}"/>
              </a:ext>
            </a:extLst>
          </p:cNvPr>
          <p:cNvSpPr txBox="1"/>
          <p:nvPr/>
        </p:nvSpPr>
        <p:spPr>
          <a:xfrm>
            <a:off x="15476598" y="29031741"/>
            <a:ext cx="5821248" cy="246221"/>
          </a:xfrm>
          <a:prstGeom prst="rect">
            <a:avLst/>
          </a:prstGeom>
          <a:noFill/>
        </p:spPr>
        <p:txBody>
          <a:bodyPr wrap="square" rtlCol="0">
            <a:spAutoFit/>
          </a:bodyPr>
          <a:lstStyle/>
          <a:p>
            <a:r>
              <a:rPr lang="en-US" altLang="ko-KR" sz="1000" dirty="0">
                <a:solidFill>
                  <a:srgbClr val="FF0000"/>
                </a:solidFill>
              </a:rPr>
              <a:t>Paper link : https://drive.google.com/file/d/1FDF5CY6ctDSozptARpYvBXt6I2PMM-8b/view?usp=drive_link</a:t>
            </a:r>
            <a:endParaRPr lang="ko-KR" altLang="en-US" sz="1000" dirty="0">
              <a:solidFill>
                <a:srgbClr val="FF0000"/>
              </a:solidFill>
            </a:endParaRPr>
          </a:p>
        </p:txBody>
      </p:sp>
      <p:grpSp>
        <p:nvGrpSpPr>
          <p:cNvPr id="25" name="그룹 24">
            <a:extLst>
              <a:ext uri="{FF2B5EF4-FFF2-40B4-BE49-F238E27FC236}">
                <a16:creationId xmlns:a16="http://schemas.microsoft.com/office/drawing/2014/main" id="{628E112B-A023-4A1C-CA16-6CF11C0B14CF}"/>
              </a:ext>
            </a:extLst>
          </p:cNvPr>
          <p:cNvGrpSpPr/>
          <p:nvPr/>
        </p:nvGrpSpPr>
        <p:grpSpPr>
          <a:xfrm>
            <a:off x="10880345" y="10713314"/>
            <a:ext cx="5139287" cy="7854613"/>
            <a:chOff x="10880345" y="11551514"/>
            <a:chExt cx="5139287" cy="7854613"/>
          </a:xfrm>
        </p:grpSpPr>
        <p:pic>
          <p:nvPicPr>
            <p:cNvPr id="38" name="Picture 37" descr="image4.png"/>
            <p:cNvPicPr>
              <a:picLocks noChangeAspect="1"/>
            </p:cNvPicPr>
            <p:nvPr/>
          </p:nvPicPr>
          <p:blipFill>
            <a:blip r:embed="rId8"/>
            <a:stretch>
              <a:fillRect/>
            </a:stretch>
          </p:blipFill>
          <p:spPr>
            <a:xfrm>
              <a:off x="10880345" y="11551514"/>
              <a:ext cx="5139287" cy="5009512"/>
            </a:xfrm>
            <a:prstGeom prst="rect">
              <a:avLst/>
            </a:prstGeom>
          </p:spPr>
        </p:pic>
        <p:sp>
          <p:nvSpPr>
            <p:cNvPr id="9" name="TextBox 8">
              <a:extLst>
                <a:ext uri="{FF2B5EF4-FFF2-40B4-BE49-F238E27FC236}">
                  <a16:creationId xmlns:a16="http://schemas.microsoft.com/office/drawing/2014/main" id="{42FCB0D8-3020-466C-37E3-FF225593E47C}"/>
                </a:ext>
              </a:extLst>
            </p:cNvPr>
            <p:cNvSpPr txBox="1"/>
            <p:nvPr/>
          </p:nvSpPr>
          <p:spPr>
            <a:xfrm>
              <a:off x="11963400" y="14024357"/>
              <a:ext cx="1173480" cy="369332"/>
            </a:xfrm>
            <a:prstGeom prst="rect">
              <a:avLst/>
            </a:prstGeom>
            <a:noFill/>
          </p:spPr>
          <p:txBody>
            <a:bodyPr wrap="square" rtlCol="0">
              <a:spAutoFit/>
            </a:bodyPr>
            <a:lstStyle/>
            <a:p>
              <a:r>
                <a:rPr lang="en-US" altLang="ko-KR" b="1" dirty="0"/>
                <a:t>Severe</a:t>
              </a:r>
              <a:endParaRPr lang="ko-KR" altLang="en-US" b="1" dirty="0"/>
            </a:p>
          </p:txBody>
        </p:sp>
        <p:sp>
          <p:nvSpPr>
            <p:cNvPr id="22" name="TextBox 21">
              <a:extLst>
                <a:ext uri="{FF2B5EF4-FFF2-40B4-BE49-F238E27FC236}">
                  <a16:creationId xmlns:a16="http://schemas.microsoft.com/office/drawing/2014/main" id="{EE0FC683-0DDE-83AC-C743-ADD3FC8C3201}"/>
                </a:ext>
              </a:extLst>
            </p:cNvPr>
            <p:cNvSpPr txBox="1"/>
            <p:nvPr/>
          </p:nvSpPr>
          <p:spPr>
            <a:xfrm>
              <a:off x="12932587" y="12959181"/>
              <a:ext cx="1373722" cy="369332"/>
            </a:xfrm>
            <a:prstGeom prst="rect">
              <a:avLst/>
            </a:prstGeom>
            <a:noFill/>
          </p:spPr>
          <p:txBody>
            <a:bodyPr wrap="square" rtlCol="0">
              <a:spAutoFit/>
            </a:bodyPr>
            <a:lstStyle/>
            <a:p>
              <a:r>
                <a:rPr lang="en-US" altLang="ko-KR" b="1" dirty="0"/>
                <a:t>Transition</a:t>
              </a:r>
              <a:endParaRPr lang="ko-KR" altLang="en-US" b="1" dirty="0"/>
            </a:p>
          </p:txBody>
        </p:sp>
        <p:sp>
          <p:nvSpPr>
            <p:cNvPr id="23" name="TextBox 22">
              <a:extLst>
                <a:ext uri="{FF2B5EF4-FFF2-40B4-BE49-F238E27FC236}">
                  <a16:creationId xmlns:a16="http://schemas.microsoft.com/office/drawing/2014/main" id="{4D7CEFE2-1BA6-340E-C17D-35991C707B75}"/>
                </a:ext>
              </a:extLst>
            </p:cNvPr>
            <p:cNvSpPr txBox="1"/>
            <p:nvPr/>
          </p:nvSpPr>
          <p:spPr>
            <a:xfrm>
              <a:off x="14430955" y="12138857"/>
              <a:ext cx="1173480" cy="369332"/>
            </a:xfrm>
            <a:prstGeom prst="rect">
              <a:avLst/>
            </a:prstGeom>
            <a:noFill/>
          </p:spPr>
          <p:txBody>
            <a:bodyPr wrap="square" rtlCol="0">
              <a:spAutoFit/>
            </a:bodyPr>
            <a:lstStyle/>
            <a:p>
              <a:r>
                <a:rPr lang="en-US" altLang="ko-KR" b="1" dirty="0"/>
                <a:t>High</a:t>
              </a:r>
              <a:endParaRPr lang="ko-KR" altLang="en-US" b="1" dirty="0"/>
            </a:p>
          </p:txBody>
        </p:sp>
        <p:sp>
          <p:nvSpPr>
            <p:cNvPr id="27" name="TextBox 26">
              <a:extLst>
                <a:ext uri="{FF2B5EF4-FFF2-40B4-BE49-F238E27FC236}">
                  <a16:creationId xmlns:a16="http://schemas.microsoft.com/office/drawing/2014/main" id="{78662667-FEE6-81E9-120B-1AF41BE450C5}"/>
                </a:ext>
              </a:extLst>
            </p:cNvPr>
            <p:cNvSpPr txBox="1"/>
            <p:nvPr/>
          </p:nvSpPr>
          <p:spPr>
            <a:xfrm>
              <a:off x="12932587" y="19036795"/>
              <a:ext cx="1373722" cy="369332"/>
            </a:xfrm>
            <a:prstGeom prst="rect">
              <a:avLst/>
            </a:prstGeom>
            <a:noFill/>
          </p:spPr>
          <p:txBody>
            <a:bodyPr wrap="square" rtlCol="0">
              <a:spAutoFit/>
            </a:bodyPr>
            <a:lstStyle/>
            <a:p>
              <a:r>
                <a:rPr lang="en-US" altLang="ko-KR" b="1" dirty="0"/>
                <a:t>Transition</a:t>
              </a:r>
              <a:endParaRPr lang="ko-KR" altLang="en-US" b="1" dirty="0"/>
            </a:p>
          </p:txBody>
        </p:sp>
        <p:sp>
          <p:nvSpPr>
            <p:cNvPr id="28" name="TextBox 27">
              <a:extLst>
                <a:ext uri="{FF2B5EF4-FFF2-40B4-BE49-F238E27FC236}">
                  <a16:creationId xmlns:a16="http://schemas.microsoft.com/office/drawing/2014/main" id="{4C51E75A-1E3C-14CB-936A-548E30705D84}"/>
                </a:ext>
              </a:extLst>
            </p:cNvPr>
            <p:cNvSpPr txBox="1"/>
            <p:nvPr/>
          </p:nvSpPr>
          <p:spPr>
            <a:xfrm>
              <a:off x="14430955" y="18014001"/>
              <a:ext cx="1173480" cy="369332"/>
            </a:xfrm>
            <a:prstGeom prst="rect">
              <a:avLst/>
            </a:prstGeom>
            <a:noFill/>
          </p:spPr>
          <p:txBody>
            <a:bodyPr wrap="square" rtlCol="0">
              <a:spAutoFit/>
            </a:bodyPr>
            <a:lstStyle/>
            <a:p>
              <a:r>
                <a:rPr lang="en-US" altLang="ko-KR" b="1" dirty="0"/>
                <a:t>High</a:t>
              </a:r>
              <a:endParaRPr lang="ko-KR" altLang="en-US" b="1" dirty="0"/>
            </a:p>
          </p:txBody>
        </p:sp>
      </p:grpSp>
      <p:sp>
        <p:nvSpPr>
          <p:cNvPr id="26" name="TextBox 25">
            <a:extLst>
              <a:ext uri="{FF2B5EF4-FFF2-40B4-BE49-F238E27FC236}">
                <a16:creationId xmlns:a16="http://schemas.microsoft.com/office/drawing/2014/main" id="{D04680E0-AB54-A512-81B9-BE94FAE07EDC}"/>
              </a:ext>
            </a:extLst>
          </p:cNvPr>
          <p:cNvSpPr txBox="1"/>
          <p:nvPr/>
        </p:nvSpPr>
        <p:spPr>
          <a:xfrm>
            <a:off x="11963400" y="19829640"/>
            <a:ext cx="1173480" cy="369332"/>
          </a:xfrm>
          <a:prstGeom prst="rect">
            <a:avLst/>
          </a:prstGeom>
          <a:noFill/>
        </p:spPr>
        <p:txBody>
          <a:bodyPr wrap="square" rtlCol="0">
            <a:spAutoFit/>
          </a:bodyPr>
          <a:lstStyle/>
          <a:p>
            <a:r>
              <a:rPr lang="en-US" altLang="ko-KR" b="1" dirty="0"/>
              <a:t>Severe</a:t>
            </a:r>
            <a:endParaRPr lang="ko-KR" altLang="en-US" b="1" dirty="0"/>
          </a:p>
        </p:txBody>
      </p:sp>
      <p:sp>
        <p:nvSpPr>
          <p:cNvPr id="5" name="TextBox 4"/>
          <p:cNvSpPr txBox="1"/>
          <p:nvPr/>
        </p:nvSpPr>
        <p:spPr>
          <a:xfrm>
            <a:off x="16199632" y="14526077"/>
            <a:ext cx="5235472" cy="1569660"/>
          </a:xfrm>
          <a:prstGeom prst="rect">
            <a:avLst/>
          </a:prstGeom>
          <a:noFill/>
        </p:spPr>
        <p:txBody>
          <a:bodyPr wrap="square" lIns="60000" rIns="60000" anchor="ctr">
            <a:spAutoFit/>
          </a:bodyPr>
          <a:lstStyle/>
          <a:p>
            <a:r>
              <a:rPr lang="en-US" altLang="ko-KR" sz="1200" dirty="0">
                <a:solidFill>
                  <a:srgbClr val="23262C"/>
                </a:solidFill>
                <a:latin typeface="Arial"/>
              </a:rPr>
              <a:t>SSL shows limited benefit in the severe low-SNR region, where the received signal is too noisy for meaningful class separation. However, </a:t>
            </a:r>
          </a:p>
          <a:p>
            <a:r>
              <a:rPr lang="en-US" altLang="ko-KR" sz="1200" dirty="0">
                <a:solidFill>
                  <a:srgbClr val="23262C"/>
                </a:solidFill>
                <a:latin typeface="Arial"/>
              </a:rPr>
              <a:t>clear gains appear in the transition and high-SNR regions, and these </a:t>
            </a:r>
          </a:p>
          <a:p>
            <a:r>
              <a:rPr lang="en-US" altLang="ko-KR" sz="1200" dirty="0">
                <a:solidFill>
                  <a:srgbClr val="23262C"/>
                </a:solidFill>
                <a:latin typeface="Arial"/>
              </a:rPr>
              <a:t>gains remain consistent even when the label ratio is reduced from </a:t>
            </a:r>
          </a:p>
          <a:p>
            <a:r>
              <a:rPr lang="en-US" altLang="ko-KR" sz="1200" dirty="0">
                <a:solidFill>
                  <a:srgbClr val="23262C"/>
                </a:solidFill>
                <a:latin typeface="Arial"/>
              </a:rPr>
              <a:t>1% to 0.25%. This indicates that SSL is most effective not simply </a:t>
            </a:r>
          </a:p>
          <a:p>
            <a:r>
              <a:rPr lang="en-US" altLang="ko-KR" sz="1200" dirty="0">
                <a:solidFill>
                  <a:srgbClr val="23262C"/>
                </a:solidFill>
                <a:latin typeface="Arial"/>
              </a:rPr>
              <a:t>when labels are scarce, but when the signal still contains recoverable modulation patterns.</a:t>
            </a:r>
          </a:p>
          <a:p>
            <a:endParaRPr sz="1200" b="0" dirty="0">
              <a:solidFill>
                <a:srgbClr val="23262C"/>
              </a:solidFill>
              <a:latin typeface="Arial"/>
            </a:endParaRPr>
          </a:p>
        </p:txBody>
      </p:sp>
      <p:sp>
        <p:nvSpPr>
          <p:cNvPr id="10" name="TextBox 9">
            <a:extLst>
              <a:ext uri="{FF2B5EF4-FFF2-40B4-BE49-F238E27FC236}">
                <a16:creationId xmlns:a16="http://schemas.microsoft.com/office/drawing/2014/main" id="{CFC22418-787B-C41C-F5D6-915C0AFBFADD}"/>
              </a:ext>
            </a:extLst>
          </p:cNvPr>
          <p:cNvSpPr txBox="1"/>
          <p:nvPr/>
        </p:nvSpPr>
        <p:spPr>
          <a:xfrm>
            <a:off x="1746799" y="509867"/>
            <a:ext cx="7601167" cy="1154162"/>
          </a:xfrm>
          <a:prstGeom prst="rect">
            <a:avLst/>
          </a:prstGeom>
          <a:noFill/>
        </p:spPr>
        <p:txBody>
          <a:bodyPr wrap="square" rtlCol="0">
            <a:spAutoFit/>
          </a:bodyPr>
          <a:lstStyle/>
          <a:p>
            <a:pPr algn="ctr"/>
            <a:r>
              <a:rPr lang="en-US" altLang="ko-KR" sz="2300" b="1" dirty="0">
                <a:solidFill>
                  <a:schemeClr val="bg1"/>
                </a:solidFill>
                <a:latin typeface="Arial" panose="020B0604020202020204" pitchFamily="34" charset="0"/>
                <a:cs typeface="Arial" panose="020B0604020202020204" pitchFamily="34" charset="0"/>
              </a:rPr>
              <a:t>Design and ASIC PPA Analysis of an INT8 8-element Dot-Product Accelerator for a RISC-V Processor</a:t>
            </a:r>
          </a:p>
          <a:p>
            <a:pPr algn="ctr"/>
            <a:endParaRPr lang="ko-KR" altLang="en-US" sz="2300" dirty="0">
              <a:latin typeface="Arial" panose="020B0604020202020204" pitchFamily="34" charset="0"/>
              <a:cs typeface="Arial" panose="020B0604020202020204" pitchFamily="34" charset="0"/>
            </a:endParaRPr>
          </a:p>
        </p:txBody>
      </p:sp>
      <p:pic>
        <p:nvPicPr>
          <p:cNvPr id="35" name="그림 34">
            <a:extLst>
              <a:ext uri="{FF2B5EF4-FFF2-40B4-BE49-F238E27FC236}">
                <a16:creationId xmlns:a16="http://schemas.microsoft.com/office/drawing/2014/main" id="{2A391B3E-FD09-4664-6F0C-C42773E4EB2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279784" y="7039971"/>
            <a:ext cx="4997737" cy="2123980"/>
          </a:xfrm>
          <a:prstGeom prst="rect">
            <a:avLst/>
          </a:prstGeom>
          <a:noFill/>
          <a:ln w="38100">
            <a:solidFill>
              <a:schemeClr val="tx1"/>
            </a:solidFill>
          </a:ln>
        </p:spPr>
      </p:pic>
      <p:pic>
        <p:nvPicPr>
          <p:cNvPr id="36" name="그림 35">
            <a:extLst>
              <a:ext uri="{FF2B5EF4-FFF2-40B4-BE49-F238E27FC236}">
                <a16:creationId xmlns:a16="http://schemas.microsoft.com/office/drawing/2014/main" id="{656F979A-0890-2EE0-27D6-35487D1E76B9}"/>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581943" y="7032405"/>
            <a:ext cx="4997737" cy="2131546"/>
          </a:xfrm>
          <a:prstGeom prst="rect">
            <a:avLst/>
          </a:prstGeom>
          <a:noFill/>
          <a:ln w="38100">
            <a:solidFill>
              <a:schemeClr val="tx1"/>
            </a:solidFill>
          </a:ln>
        </p:spPr>
      </p:pic>
      <p:sp>
        <p:nvSpPr>
          <p:cNvPr id="60" name="TextBox 59">
            <a:extLst>
              <a:ext uri="{FF2B5EF4-FFF2-40B4-BE49-F238E27FC236}">
                <a16:creationId xmlns:a16="http://schemas.microsoft.com/office/drawing/2014/main" id="{9514CB15-C2FF-27DB-FFBB-22BC41044C10}"/>
              </a:ext>
            </a:extLst>
          </p:cNvPr>
          <p:cNvSpPr txBox="1"/>
          <p:nvPr/>
        </p:nvSpPr>
        <p:spPr>
          <a:xfrm>
            <a:off x="1527025" y="1460914"/>
            <a:ext cx="7964469" cy="646331"/>
          </a:xfrm>
          <a:prstGeom prst="rect">
            <a:avLst/>
          </a:prstGeom>
          <a:noFill/>
        </p:spPr>
        <p:txBody>
          <a:bodyPr wrap="square" rtlCol="0">
            <a:spAutoFit/>
          </a:bodyPr>
          <a:lstStyle/>
          <a:p>
            <a:pPr algn="ctr"/>
            <a:r>
              <a:rPr lang="en-US" altLang="ko-KR" sz="1200" dirty="0">
                <a:solidFill>
                  <a:schemeClr val="bg1"/>
                </a:solidFill>
                <a:latin typeface="Arial" panose="020B0604020202020204" pitchFamily="34" charset="0"/>
                <a:cs typeface="Arial" panose="020B0604020202020204" pitchFamily="34" charset="0"/>
              </a:rPr>
              <a:t>Yoo, Seung Hyun | School of Biomedical Engineering, Korea University | asdfmid@korea.ac.kr</a:t>
            </a:r>
          </a:p>
          <a:p>
            <a:pPr algn="ctr"/>
            <a:br>
              <a:rPr lang="af-ZA" altLang="ko-KR" sz="1200" dirty="0">
                <a:solidFill>
                  <a:schemeClr val="bg1"/>
                </a:solidFill>
                <a:latin typeface="Arial" panose="020B0604020202020204" pitchFamily="34" charset="0"/>
                <a:cs typeface="Arial" panose="020B0604020202020204" pitchFamily="34" charset="0"/>
              </a:rPr>
            </a:br>
            <a:r>
              <a:rPr lang="af-ZA" altLang="ko-KR" sz="1200" dirty="0">
                <a:solidFill>
                  <a:schemeClr val="bg1"/>
                </a:solidFill>
                <a:latin typeface="Arial" panose="020B0604020202020204" pitchFamily="34" charset="0"/>
                <a:cs typeface="Arial" panose="020B0604020202020204" pitchFamily="34" charset="0"/>
              </a:rPr>
              <a:t>Advisor: Prof. Jonghan Kim</a:t>
            </a:r>
            <a:endParaRPr lang="ko-KR" altLang="en-US" sz="1200" dirty="0">
              <a:solidFill>
                <a:schemeClr val="bg1"/>
              </a:solidFill>
              <a:latin typeface="Arial" panose="020B0604020202020204" pitchFamily="34" charset="0"/>
              <a:cs typeface="Arial" panose="020B0604020202020204" pitchFamily="34" charset="0"/>
            </a:endParaRPr>
          </a:p>
        </p:txBody>
      </p:sp>
      <p:pic>
        <p:nvPicPr>
          <p:cNvPr id="62" name="그림 61">
            <a:extLst>
              <a:ext uri="{FF2B5EF4-FFF2-40B4-BE49-F238E27FC236}">
                <a16:creationId xmlns:a16="http://schemas.microsoft.com/office/drawing/2014/main" id="{43ED2EEF-BF5E-F05A-00B4-426A7F673E2A}"/>
              </a:ext>
            </a:extLst>
          </p:cNvPr>
          <p:cNvPicPr>
            <a:picLocks noChangeAspect="1"/>
          </p:cNvPicPr>
          <p:nvPr/>
        </p:nvPicPr>
        <p:blipFill>
          <a:blip r:embed="rId11"/>
          <a:stretch>
            <a:fillRect/>
          </a:stretch>
        </p:blipFill>
        <p:spPr>
          <a:xfrm>
            <a:off x="306131" y="23861805"/>
            <a:ext cx="4082965" cy="3910523"/>
          </a:xfrm>
          <a:prstGeom prst="rect">
            <a:avLst/>
          </a:prstGeom>
        </p:spPr>
      </p:pic>
      <p:sp>
        <p:nvSpPr>
          <p:cNvPr id="64" name="Shape 1">
            <a:extLst>
              <a:ext uri="{FF2B5EF4-FFF2-40B4-BE49-F238E27FC236}">
                <a16:creationId xmlns:a16="http://schemas.microsoft.com/office/drawing/2014/main" id="{46212FE3-ED87-86C5-72F0-365178A56415}"/>
              </a:ext>
            </a:extLst>
          </p:cNvPr>
          <p:cNvSpPr/>
          <p:nvPr/>
        </p:nvSpPr>
        <p:spPr>
          <a:xfrm>
            <a:off x="0" y="29547946"/>
            <a:ext cx="21383625" cy="754212"/>
          </a:xfrm>
          <a:prstGeom prst="rect">
            <a:avLst/>
          </a:prstGeom>
          <a:solidFill>
            <a:srgbClr val="862633"/>
          </a:solidFill>
          <a:ln/>
        </p:spPr>
        <p:txBody>
          <a:bodyPr/>
          <a:lstStyle/>
          <a:p>
            <a:endParaRPr lang="ko-KR" altLang="en-US" sz="899" dirty="0"/>
          </a:p>
        </p:txBody>
      </p:sp>
      <p:sp>
        <p:nvSpPr>
          <p:cNvPr id="65" name="Rectangle 14">
            <a:extLst>
              <a:ext uri="{FF2B5EF4-FFF2-40B4-BE49-F238E27FC236}">
                <a16:creationId xmlns:a16="http://schemas.microsoft.com/office/drawing/2014/main" id="{B23AD7C9-9AD8-8E92-5133-22F5EA39D5E3}"/>
              </a:ext>
            </a:extLst>
          </p:cNvPr>
          <p:cNvSpPr/>
          <p:nvPr/>
        </p:nvSpPr>
        <p:spPr>
          <a:xfrm>
            <a:off x="201833" y="2988417"/>
            <a:ext cx="10403741"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a:extLst>
              <a:ext uri="{FF2B5EF4-FFF2-40B4-BE49-F238E27FC236}">
                <a16:creationId xmlns:a16="http://schemas.microsoft.com/office/drawing/2014/main" id="{55B1574C-A0D3-B666-D9B2-3A7639A21519}"/>
              </a:ext>
            </a:extLst>
          </p:cNvPr>
          <p:cNvSpPr txBox="1"/>
          <p:nvPr/>
        </p:nvSpPr>
        <p:spPr>
          <a:xfrm>
            <a:off x="359093" y="3071843"/>
            <a:ext cx="9772195" cy="338554"/>
          </a:xfrm>
          <a:prstGeom prst="rect">
            <a:avLst/>
          </a:prstGeom>
          <a:noFill/>
        </p:spPr>
        <p:txBody>
          <a:bodyPr wrap="square" lIns="65000" rIns="65000" anchor="ctr">
            <a:spAutoFit/>
          </a:bodyPr>
          <a:lstStyle/>
          <a:p>
            <a:pPr algn="l"/>
            <a:r>
              <a:rPr sz="1600" b="1" dirty="0">
                <a:solidFill>
                  <a:srgbClr val="FFFFFF"/>
                </a:solidFill>
                <a:latin typeface="Arial"/>
              </a:rPr>
              <a:t>1. </a:t>
            </a:r>
            <a:r>
              <a:rPr lang="en-US" sz="1600" b="1" dirty="0">
                <a:solidFill>
                  <a:srgbClr val="FFFFFF"/>
                </a:solidFill>
                <a:latin typeface="Arial"/>
              </a:rPr>
              <a:t>Motivation / Setup</a:t>
            </a:r>
            <a:endParaRPr sz="1600" b="1" dirty="0">
              <a:solidFill>
                <a:srgbClr val="FFFFFF"/>
              </a:solidFill>
              <a:latin typeface="Arial"/>
            </a:endParaRPr>
          </a:p>
        </p:txBody>
      </p:sp>
      <p:sp>
        <p:nvSpPr>
          <p:cNvPr id="69" name="TextBox 68">
            <a:extLst>
              <a:ext uri="{FF2B5EF4-FFF2-40B4-BE49-F238E27FC236}">
                <a16:creationId xmlns:a16="http://schemas.microsoft.com/office/drawing/2014/main" id="{35EC2242-F439-EAE3-1132-FD171D403433}"/>
              </a:ext>
            </a:extLst>
          </p:cNvPr>
          <p:cNvSpPr txBox="1"/>
          <p:nvPr/>
        </p:nvSpPr>
        <p:spPr>
          <a:xfrm>
            <a:off x="196585" y="3619814"/>
            <a:ext cx="5350798" cy="3262432"/>
          </a:xfrm>
          <a:prstGeom prst="rect">
            <a:avLst/>
          </a:prstGeom>
          <a:noFill/>
          <a:effectLst/>
        </p:spPr>
        <p:txBody>
          <a:bodyPr wrap="square" lIns="65000" rIns="65000" anchor="ctr">
            <a:spAutoFit/>
          </a:bodyPr>
          <a:lstStyle/>
          <a:p>
            <a:r>
              <a:rPr lang="af-ZA" altLang="ko-KR" sz="1300" b="1" dirty="0">
                <a:latin typeface="Arial" panose="020B0604020202020204" pitchFamily="34" charset="0"/>
                <a:cs typeface="Arial" panose="020B0604020202020204" pitchFamily="34" charset="0"/>
              </a:rPr>
              <a:t>Why a dot-product accelerator</a:t>
            </a:r>
            <a:r>
              <a:rPr lang="af-ZA" altLang="ko-KR" sz="1300" dirty="0">
                <a:latin typeface="Arial" panose="020B0604020202020204" pitchFamily="34" charset="0"/>
                <a:cs typeface="Arial" panose="020B0604020202020204" pitchFamily="34" charset="0"/>
              </a:rPr>
              <a:t>: </a:t>
            </a:r>
          </a:p>
          <a:p>
            <a:r>
              <a:rPr lang="af-ZA" altLang="ko-KR" sz="1200" dirty="0">
                <a:latin typeface="Arial" panose="020B0604020202020204" pitchFamily="34" charset="0"/>
                <a:cs typeface="Arial" panose="020B0604020202020204" pitchFamily="34" charset="0"/>
              </a:rPr>
              <a:t>DNN inference is dominated by MAC operations. </a:t>
            </a:r>
          </a:p>
          <a:p>
            <a:r>
              <a:rPr lang="af-ZA" altLang="ko-KR" sz="1200" dirty="0">
                <a:latin typeface="Arial" panose="020B0604020202020204" pitchFamily="34" charset="0"/>
                <a:cs typeface="Arial" panose="020B0604020202020204" pitchFamily="34" charset="0"/>
              </a:rPr>
              <a:t>Pure RV32I needs ~856 cycles per 8-element INT8 dot product; </a:t>
            </a:r>
          </a:p>
          <a:p>
            <a:r>
              <a:rPr lang="af-ZA" altLang="ko-KR" sz="1200" dirty="0">
                <a:latin typeface="Arial" panose="020B0604020202020204" pitchFamily="34" charset="0"/>
                <a:cs typeface="Arial" panose="020B0604020202020204" pitchFamily="34" charset="0"/>
              </a:rPr>
              <a:t>RV32M still needs ~56.</a:t>
            </a:r>
          </a:p>
          <a:p>
            <a:endParaRPr lang="af-ZA" altLang="ko-KR" sz="1200" dirty="0">
              <a:latin typeface="Arial" panose="020B0604020202020204" pitchFamily="34" charset="0"/>
              <a:cs typeface="Arial" panose="020B0604020202020204" pitchFamily="34" charset="0"/>
            </a:endParaRPr>
          </a:p>
          <a:p>
            <a:r>
              <a:rPr lang="af-ZA" altLang="ko-KR" sz="1300" b="1" dirty="0">
                <a:latin typeface="Arial" panose="020B0604020202020204" pitchFamily="34" charset="0"/>
                <a:cs typeface="Arial" panose="020B0604020202020204" pitchFamily="34" charset="0"/>
              </a:rPr>
              <a:t>Why 8-element INT8</a:t>
            </a:r>
            <a:r>
              <a:rPr lang="af-ZA" altLang="ko-KR" sz="1300" dirty="0">
                <a:latin typeface="Arial" panose="020B0604020202020204" pitchFamily="34" charset="0"/>
                <a:cs typeface="Arial" panose="020B0604020202020204" pitchFamily="34" charset="0"/>
              </a:rPr>
              <a:t>: </a:t>
            </a:r>
          </a:p>
          <a:p>
            <a:r>
              <a:rPr lang="af-ZA" altLang="ko-KR" sz="1200" dirty="0">
                <a:latin typeface="Arial" panose="020B0604020202020204" pitchFamily="34" charset="0"/>
                <a:cs typeface="Arial" panose="020B0604020202020204" pitchFamily="34" charset="0"/>
              </a:rPr>
              <a:t>A 32-bit register packs 4× INT8 → two loads fill one 8-element vector. </a:t>
            </a:r>
          </a:p>
          <a:p>
            <a:r>
              <a:rPr lang="af-ZA" altLang="ko-KR" sz="1200" dirty="0">
                <a:latin typeface="Arial" panose="020B0604020202020204" pitchFamily="34" charset="0"/>
                <a:cs typeface="Arial" panose="020B0604020202020204" pitchFamily="34" charset="0"/>
              </a:rPr>
              <a:t>8-wide stays within a single-cycle 3-stage adder tree at 250 nm.</a:t>
            </a:r>
          </a:p>
          <a:p>
            <a:endParaRPr lang="af-ZA" altLang="ko-KR" sz="1200" b="1" dirty="0">
              <a:latin typeface="Arial" panose="020B0604020202020204" pitchFamily="34" charset="0"/>
              <a:cs typeface="Arial" panose="020B0604020202020204" pitchFamily="34" charset="0"/>
            </a:endParaRPr>
          </a:p>
          <a:p>
            <a:r>
              <a:rPr lang="af-ZA" altLang="ko-KR" sz="1300" b="1" dirty="0">
                <a:latin typeface="Arial" panose="020B0604020202020204" pitchFamily="34" charset="0"/>
                <a:cs typeface="Arial" panose="020B0604020202020204" pitchFamily="34" charset="0"/>
              </a:rPr>
              <a:t>Two integration styles</a:t>
            </a:r>
            <a:r>
              <a:rPr lang="af-ZA" altLang="ko-KR" sz="1300" dirty="0">
                <a:latin typeface="Arial" panose="020B0604020202020204" pitchFamily="34" charset="0"/>
                <a:cs typeface="Arial" panose="020B0604020202020204" pitchFamily="34" charset="0"/>
              </a:rPr>
              <a:t>: </a:t>
            </a:r>
          </a:p>
          <a:p>
            <a:r>
              <a:rPr lang="af-ZA" altLang="ko-KR" sz="1200" dirty="0">
                <a:latin typeface="Arial" panose="020B0604020202020204" pitchFamily="34" charset="0"/>
                <a:cs typeface="Arial" panose="020B0604020202020204" pitchFamily="34" charset="0"/>
              </a:rPr>
              <a:t>Custom-0 ISA extension — 5 new instructions inside the EX stage. </a:t>
            </a:r>
          </a:p>
          <a:p>
            <a:r>
              <a:rPr lang="af-ZA" altLang="ko-KR" sz="1200" dirty="0">
                <a:latin typeface="Arial" panose="020B0604020202020204" pitchFamily="34" charset="0"/>
                <a:cs typeface="Arial" panose="020B0604020202020204" pitchFamily="34" charset="0"/>
              </a:rPr>
              <a:t>MMIO attachment — standard lw/sw via address decoder, </a:t>
            </a:r>
          </a:p>
          <a:p>
            <a:r>
              <a:rPr lang="af-ZA" altLang="ko-KR" sz="1200" dirty="0">
                <a:latin typeface="Arial" panose="020B0604020202020204" pitchFamily="34" charset="0"/>
                <a:cs typeface="Arial" panose="020B0604020202020204" pitchFamily="34" charset="0"/>
              </a:rPr>
              <a:t>accelerator outside the core.</a:t>
            </a:r>
          </a:p>
          <a:p>
            <a:endParaRPr lang="af-ZA" altLang="ko-KR" sz="1200" b="1" dirty="0">
              <a:latin typeface="Arial" panose="020B0604020202020204" pitchFamily="34" charset="0"/>
              <a:cs typeface="Arial" panose="020B0604020202020204" pitchFamily="34" charset="0"/>
            </a:endParaRPr>
          </a:p>
          <a:p>
            <a:r>
              <a:rPr lang="af-ZA" altLang="ko-KR" sz="1300" b="1" dirty="0">
                <a:latin typeface="Arial" panose="020B0604020202020204" pitchFamily="34" charset="0"/>
                <a:cs typeface="Arial" panose="020B0604020202020204" pitchFamily="34" charset="0"/>
              </a:rPr>
              <a:t>Design axes</a:t>
            </a:r>
            <a:r>
              <a:rPr lang="af-ZA" altLang="ko-KR" sz="1300" dirty="0">
                <a:latin typeface="Arial" panose="020B0604020202020204" pitchFamily="34" charset="0"/>
                <a:cs typeface="Arial" panose="020B0604020202020204" pitchFamily="34" charset="0"/>
              </a:rPr>
              <a:t>: </a:t>
            </a:r>
          </a:p>
          <a:p>
            <a:r>
              <a:rPr lang="af-ZA" altLang="ko-KR" sz="1200" dirty="0">
                <a:latin typeface="Arial" panose="020B0604020202020204" pitchFamily="34" charset="0"/>
                <a:cs typeface="Arial" panose="020B0604020202020204" pitchFamily="34" charset="0"/>
              </a:rPr>
              <a:t>Folding factor (8 / 4 / 1 multipliers) × attachment (Custom-0 / MMIO). → 6 configurations synthesized in one identical 250 nm flow.</a:t>
            </a:r>
          </a:p>
        </p:txBody>
      </p:sp>
      <p:pic>
        <p:nvPicPr>
          <p:cNvPr id="72" name="그림 71">
            <a:extLst>
              <a:ext uri="{FF2B5EF4-FFF2-40B4-BE49-F238E27FC236}">
                <a16:creationId xmlns:a16="http://schemas.microsoft.com/office/drawing/2014/main" id="{75C3CE0D-F075-A609-55CF-63B1C29743F2}"/>
              </a:ext>
            </a:extLst>
          </p:cNvPr>
          <p:cNvPicPr>
            <a:picLocks noChangeAspect="1"/>
          </p:cNvPicPr>
          <p:nvPr/>
        </p:nvPicPr>
        <p:blipFill>
          <a:blip r:embed="rId12"/>
          <a:stretch>
            <a:fillRect/>
          </a:stretch>
        </p:blipFill>
        <p:spPr>
          <a:xfrm>
            <a:off x="7225644" y="10323660"/>
            <a:ext cx="3239503" cy="5017968"/>
          </a:xfrm>
          <a:prstGeom prst="rect">
            <a:avLst/>
          </a:prstGeom>
          <a:effectLst>
            <a:outerShdw blurRad="50800" dist="38100" dir="2700000" algn="tl" rotWithShape="0">
              <a:prstClr val="black">
                <a:alpha val="40000"/>
              </a:prstClr>
            </a:outerShdw>
          </a:effectLst>
        </p:spPr>
      </p:pic>
      <p:pic>
        <p:nvPicPr>
          <p:cNvPr id="74" name="그림 73">
            <a:extLst>
              <a:ext uri="{FF2B5EF4-FFF2-40B4-BE49-F238E27FC236}">
                <a16:creationId xmlns:a16="http://schemas.microsoft.com/office/drawing/2014/main" id="{E9657483-9CBA-FF86-01F4-B4ACC82677F2}"/>
              </a:ext>
            </a:extLst>
          </p:cNvPr>
          <p:cNvPicPr>
            <a:picLocks noChangeAspect="1"/>
          </p:cNvPicPr>
          <p:nvPr/>
        </p:nvPicPr>
        <p:blipFill>
          <a:blip r:embed="rId13"/>
          <a:stretch>
            <a:fillRect/>
          </a:stretch>
        </p:blipFill>
        <p:spPr>
          <a:xfrm>
            <a:off x="3684357" y="10327396"/>
            <a:ext cx="3361287" cy="6176724"/>
          </a:xfrm>
          <a:prstGeom prst="rect">
            <a:avLst/>
          </a:prstGeom>
          <a:effectLst>
            <a:outerShdw blurRad="50800" dist="38100" dir="2700000" algn="tl" rotWithShape="0">
              <a:prstClr val="black">
                <a:alpha val="40000"/>
              </a:prstClr>
            </a:outerShdw>
          </a:effectLst>
        </p:spPr>
      </p:pic>
      <p:pic>
        <p:nvPicPr>
          <p:cNvPr id="76" name="그림 75">
            <a:extLst>
              <a:ext uri="{FF2B5EF4-FFF2-40B4-BE49-F238E27FC236}">
                <a16:creationId xmlns:a16="http://schemas.microsoft.com/office/drawing/2014/main" id="{CC26BAF8-9E88-99C5-1BF3-6995C27E5121}"/>
              </a:ext>
            </a:extLst>
          </p:cNvPr>
          <p:cNvPicPr>
            <a:picLocks noChangeAspect="1"/>
          </p:cNvPicPr>
          <p:nvPr/>
        </p:nvPicPr>
        <p:blipFill>
          <a:blip r:embed="rId14"/>
          <a:stretch>
            <a:fillRect/>
          </a:stretch>
        </p:blipFill>
        <p:spPr>
          <a:xfrm>
            <a:off x="145357" y="10339263"/>
            <a:ext cx="3504275" cy="4880398"/>
          </a:xfrm>
          <a:prstGeom prst="rect">
            <a:avLst/>
          </a:prstGeom>
          <a:effectLst>
            <a:outerShdw blurRad="50800" dist="38100" dir="2700000" algn="tl" rotWithShape="0">
              <a:prstClr val="black">
                <a:alpha val="40000"/>
              </a:prstClr>
            </a:outerShdw>
          </a:effectLst>
        </p:spPr>
      </p:pic>
      <p:sp>
        <p:nvSpPr>
          <p:cNvPr id="77" name="Rectangle 16">
            <a:extLst>
              <a:ext uri="{FF2B5EF4-FFF2-40B4-BE49-F238E27FC236}">
                <a16:creationId xmlns:a16="http://schemas.microsoft.com/office/drawing/2014/main" id="{0867E1D3-3D7A-63FF-136A-15832FEE6D7D}"/>
              </a:ext>
            </a:extLst>
          </p:cNvPr>
          <p:cNvSpPr/>
          <p:nvPr/>
        </p:nvSpPr>
        <p:spPr>
          <a:xfrm>
            <a:off x="201833" y="9696650"/>
            <a:ext cx="10403741" cy="41783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6D5C43F4-61A2-42F6-E43C-8BCDD4EA61C7}"/>
              </a:ext>
            </a:extLst>
          </p:cNvPr>
          <p:cNvSpPr txBox="1"/>
          <p:nvPr/>
        </p:nvSpPr>
        <p:spPr>
          <a:xfrm>
            <a:off x="477965" y="9759242"/>
            <a:ext cx="9592056" cy="338554"/>
          </a:xfrm>
          <a:prstGeom prst="rect">
            <a:avLst/>
          </a:prstGeom>
          <a:noFill/>
        </p:spPr>
        <p:txBody>
          <a:bodyPr wrap="square" lIns="65000" rIns="65000" anchor="ctr">
            <a:spAutoFit/>
          </a:bodyPr>
          <a:lstStyle/>
          <a:p>
            <a:r>
              <a:rPr sz="1600" b="1" dirty="0">
                <a:solidFill>
                  <a:srgbClr val="FFFFFF"/>
                </a:solidFill>
                <a:latin typeface="Arial"/>
              </a:rPr>
              <a:t>2. </a:t>
            </a:r>
            <a:r>
              <a:rPr lang="af-ZA" altLang="ko-KR" sz="1600" b="1" dirty="0">
                <a:solidFill>
                  <a:srgbClr val="FFFFFF"/>
                </a:solidFill>
                <a:latin typeface="Arial"/>
              </a:rPr>
              <a:t>Accelerator Datapaths</a:t>
            </a:r>
            <a:endParaRPr sz="1600" b="1" dirty="0">
              <a:solidFill>
                <a:srgbClr val="FFFFFF"/>
              </a:solidFill>
              <a:latin typeface="Arial"/>
            </a:endParaRPr>
          </a:p>
        </p:txBody>
      </p:sp>
      <p:sp>
        <p:nvSpPr>
          <p:cNvPr id="81" name="Rectangle 18">
            <a:extLst>
              <a:ext uri="{FF2B5EF4-FFF2-40B4-BE49-F238E27FC236}">
                <a16:creationId xmlns:a16="http://schemas.microsoft.com/office/drawing/2014/main" id="{F770607A-2149-43A1-20CF-EFAADF419A8B}"/>
              </a:ext>
            </a:extLst>
          </p:cNvPr>
          <p:cNvSpPr/>
          <p:nvPr/>
        </p:nvSpPr>
        <p:spPr>
          <a:xfrm>
            <a:off x="240221" y="16881127"/>
            <a:ext cx="10365354" cy="527253"/>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a:extLst>
              <a:ext uri="{FF2B5EF4-FFF2-40B4-BE49-F238E27FC236}">
                <a16:creationId xmlns:a16="http://schemas.microsoft.com/office/drawing/2014/main" id="{BFC84617-7749-61D5-4F63-048FFEEE5D48}"/>
              </a:ext>
            </a:extLst>
          </p:cNvPr>
          <p:cNvSpPr txBox="1"/>
          <p:nvPr/>
        </p:nvSpPr>
        <p:spPr>
          <a:xfrm>
            <a:off x="359093" y="16962951"/>
            <a:ext cx="9592056" cy="338554"/>
          </a:xfrm>
          <a:prstGeom prst="rect">
            <a:avLst/>
          </a:prstGeom>
          <a:noFill/>
        </p:spPr>
        <p:txBody>
          <a:bodyPr wrap="square" lIns="65000" rIns="65000" anchor="ctr">
            <a:spAutoFit/>
          </a:bodyPr>
          <a:lstStyle/>
          <a:p>
            <a:pPr algn="l"/>
            <a:r>
              <a:rPr sz="1600" b="1" dirty="0">
                <a:solidFill>
                  <a:srgbClr val="FFFFFF"/>
                </a:solidFill>
                <a:latin typeface="Arial"/>
              </a:rPr>
              <a:t>3</a:t>
            </a:r>
            <a:r>
              <a:rPr lang="en-US" sz="1600" b="1" dirty="0">
                <a:solidFill>
                  <a:srgbClr val="FFFFFF"/>
                </a:solidFill>
                <a:latin typeface="Arial"/>
              </a:rPr>
              <a:t>.</a:t>
            </a:r>
            <a:r>
              <a:rPr lang="fr-FR" sz="1600" b="1" dirty="0">
                <a:solidFill>
                  <a:srgbClr val="FFFFFF"/>
                </a:solidFill>
                <a:latin typeface="Arial"/>
              </a:rPr>
              <a:t> PPA Comparison: 6 Configurations </a:t>
            </a:r>
            <a:r>
              <a:rPr lang="fr-FR" sz="900" b="1" i="1" dirty="0">
                <a:solidFill>
                  <a:srgbClr val="FFFFFF"/>
                </a:solidFill>
                <a:latin typeface="Arial"/>
              </a:rPr>
              <a:t>(Synopsys DC Z-2007.03-SP4 · lec25dscc25_SS (250 nm SS, 2.25 V) , 6 configs at common clock 9.4 ns)</a:t>
            </a:r>
            <a:endParaRPr sz="900" b="1" i="1" dirty="0">
              <a:solidFill>
                <a:srgbClr val="FFFFFF"/>
              </a:solidFill>
              <a:latin typeface="Arial"/>
            </a:endParaRPr>
          </a:p>
        </p:txBody>
      </p:sp>
      <mc:AlternateContent xmlns:mc="http://schemas.openxmlformats.org/markup-compatibility/2006" xmlns:a14="http://schemas.microsoft.com/office/drawing/2010/main">
        <mc:Choice Requires="a14">
          <p:graphicFrame>
            <p:nvGraphicFramePr>
              <p:cNvPr id="83" name="Table 54">
                <a:extLst>
                  <a:ext uri="{FF2B5EF4-FFF2-40B4-BE49-F238E27FC236}">
                    <a16:creationId xmlns:a16="http://schemas.microsoft.com/office/drawing/2014/main" id="{24964FE3-885E-D816-E698-CF066966396E}"/>
                  </a:ext>
                </a:extLst>
              </p:cNvPr>
              <p:cNvGraphicFramePr>
                <a:graphicFrameLocks noGrp="1"/>
              </p:cNvGraphicFramePr>
              <p:nvPr/>
            </p:nvGraphicFramePr>
            <p:xfrm>
              <a:off x="5509259" y="3720688"/>
              <a:ext cx="5134440" cy="2244047"/>
            </p:xfrm>
            <a:graphic>
              <a:graphicData uri="http://schemas.openxmlformats.org/drawingml/2006/table">
                <a:tbl>
                  <a:tblPr firstRow="1" bandRow="1">
                    <a:tableStyleId>{5C22544A-7EE6-4342-B048-85BDC9FD1C3A}</a:tableStyleId>
                  </a:tblPr>
                  <a:tblGrid>
                    <a:gridCol w="1579098">
                      <a:extLst>
                        <a:ext uri="{9D8B030D-6E8A-4147-A177-3AD203B41FA5}">
                          <a16:colId xmlns:a16="http://schemas.microsoft.com/office/drawing/2014/main" val="20000"/>
                        </a:ext>
                      </a:extLst>
                    </a:gridCol>
                    <a:gridCol w="3555342">
                      <a:extLst>
                        <a:ext uri="{9D8B030D-6E8A-4147-A177-3AD203B41FA5}">
                          <a16:colId xmlns:a16="http://schemas.microsoft.com/office/drawing/2014/main" val="20001"/>
                        </a:ext>
                      </a:extLst>
                    </a:gridCol>
                  </a:tblGrid>
                  <a:tr h="305044">
                    <a:tc>
                      <a:txBody>
                        <a:bodyPr/>
                        <a:lstStyle/>
                        <a:p>
                          <a:pPr algn="ctr"/>
                          <a:r>
                            <a:rPr lang="en-US" sz="1200" b="1" dirty="0">
                              <a:solidFill>
                                <a:srgbClr val="FFFFFF"/>
                              </a:solidFill>
                              <a:latin typeface="Arial"/>
                            </a:rPr>
                            <a:t>Parameter</a:t>
                          </a:r>
                        </a:p>
                      </a:txBody>
                      <a:tcPr>
                        <a:solidFill>
                          <a:srgbClr val="760018"/>
                        </a:solidFill>
                      </a:tcPr>
                    </a:tc>
                    <a:tc>
                      <a:txBody>
                        <a:bodyPr/>
                        <a:lstStyle/>
                        <a:p>
                          <a:pPr algn="ctr"/>
                          <a:r>
                            <a:rPr lang="en-US" sz="1200" b="1" dirty="0">
                              <a:solidFill>
                                <a:srgbClr val="FFFFFF"/>
                              </a:solidFill>
                              <a:latin typeface="Arial"/>
                            </a:rPr>
                            <a:t>Value</a:t>
                          </a:r>
                        </a:p>
                      </a:txBody>
                      <a:tcPr>
                        <a:solidFill>
                          <a:srgbClr val="760018"/>
                        </a:solidFill>
                      </a:tcPr>
                    </a:tc>
                    <a:extLst>
                      <a:ext uri="{0D108BD9-81ED-4DB2-BD59-A6C34878D82A}">
                        <a16:rowId xmlns:a16="http://schemas.microsoft.com/office/drawing/2014/main" val="10000"/>
                      </a:ext>
                    </a:extLst>
                  </a:tr>
                  <a:tr h="292351">
                    <a:tc>
                      <a:txBody>
                        <a:bodyPr/>
                        <a:lstStyle/>
                        <a:p>
                          <a:pPr algn="ctr"/>
                          <a:r>
                            <a:rPr lang="en-US" sz="1200" b="1" dirty="0">
                              <a:solidFill>
                                <a:srgbClr val="23262C"/>
                              </a:solidFill>
                              <a:latin typeface="Arial"/>
                            </a:rPr>
                            <a:t>Library</a:t>
                          </a:r>
                        </a:p>
                      </a:txBody>
                      <a:tcPr>
                        <a:solidFill>
                          <a:srgbClr val="F8FAFC"/>
                        </a:solidFill>
                      </a:tcPr>
                    </a:tc>
                    <a:tc>
                      <a:txBody>
                        <a:bodyPr/>
                        <a:lstStyle/>
                        <a:p>
                          <a:pPr algn="l"/>
                          <a:r>
                            <a:rPr lang="en-US" sz="1200" b="0">
                              <a:solidFill>
                                <a:srgbClr val="23262C"/>
                              </a:solidFill>
                              <a:latin typeface="Arial"/>
                            </a:rPr>
                            <a:t>lec25dscc25_SS (250 nm SS)</a:t>
                          </a:r>
                          <a:endParaRPr lang="en-US" sz="1200" b="0" dirty="0">
                            <a:solidFill>
                              <a:srgbClr val="23262C"/>
                            </a:solidFill>
                            <a:latin typeface="Arial"/>
                          </a:endParaRPr>
                        </a:p>
                      </a:txBody>
                      <a:tcPr>
                        <a:solidFill>
                          <a:srgbClr val="F8FAFC"/>
                        </a:solidFill>
                      </a:tcPr>
                    </a:tc>
                    <a:extLst>
                      <a:ext uri="{0D108BD9-81ED-4DB2-BD59-A6C34878D82A}">
                        <a16:rowId xmlns:a16="http://schemas.microsoft.com/office/drawing/2014/main" val="10001"/>
                      </a:ext>
                    </a:extLst>
                  </a:tr>
                  <a:tr h="305044">
                    <a:tc>
                      <a:txBody>
                        <a:bodyPr/>
                        <a:lstStyle/>
                        <a:p>
                          <a:pPr algn="ctr"/>
                          <a:r>
                            <a:rPr lang="en-US" sz="1200" b="1" dirty="0">
                              <a:solidFill>
                                <a:srgbClr val="23262C"/>
                              </a:solidFill>
                              <a:latin typeface="Arial"/>
                            </a:rPr>
                            <a:t>Supply voltage</a:t>
                          </a:r>
                        </a:p>
                      </a:txBody>
                      <a:tcPr>
                        <a:solidFill>
                          <a:srgbClr val="F0F4F8"/>
                        </a:solidFill>
                      </a:tcPr>
                    </a:tc>
                    <a:tc>
                      <a:txBody>
                        <a:bodyPr/>
                        <a:lstStyle/>
                        <a:p>
                          <a:pPr algn="l"/>
                          <a14:m>
                            <m:oMath xmlns:m="http://schemas.openxmlformats.org/officeDocument/2006/math">
                              <m:sSub>
                                <m:sSubPr>
                                  <m:ctrlPr>
                                    <a:rPr lang="en-US" altLang="ko-KR" sz="1200" b="0" i="1" dirty="0" smtClean="0">
                                      <a:solidFill>
                                        <a:srgbClr val="23262C"/>
                                      </a:solidFill>
                                      <a:latin typeface="Cambria Math" panose="02040503050406030204" pitchFamily="18" charset="0"/>
                                    </a:rPr>
                                  </m:ctrlPr>
                                </m:sSubPr>
                                <m:e>
                                  <m:r>
                                    <a:rPr lang="en-US" altLang="ko-KR" sz="1200" b="0" i="1" dirty="0" smtClean="0">
                                      <a:solidFill>
                                        <a:srgbClr val="23262C"/>
                                      </a:solidFill>
                                      <a:latin typeface="Cambria Math" panose="02040503050406030204" pitchFamily="18" charset="0"/>
                                    </a:rPr>
                                    <m:t>𝑉</m:t>
                                  </m:r>
                                </m:e>
                                <m:sub>
                                  <m:r>
                                    <a:rPr lang="en-US" altLang="ko-KR" sz="1200" b="0" i="1" dirty="0" smtClean="0">
                                      <a:solidFill>
                                        <a:srgbClr val="23262C"/>
                                      </a:solidFill>
                                      <a:latin typeface="Cambria Math" panose="02040503050406030204" pitchFamily="18" charset="0"/>
                                    </a:rPr>
                                    <m:t>𝐷𝐷</m:t>
                                  </m:r>
                                </m:sub>
                              </m:sSub>
                              <m:r>
                                <a:rPr lang="en-US" sz="1200" b="0" i="1" dirty="0" smtClean="0">
                                  <a:solidFill>
                                    <a:srgbClr val="23262C"/>
                                  </a:solidFill>
                                  <a:latin typeface="Cambria Math" panose="02040503050406030204" pitchFamily="18" charset="0"/>
                                </a:rPr>
                                <m:t> </m:t>
                              </m:r>
                            </m:oMath>
                          </a14:m>
                          <a:r>
                            <a:rPr lang="en-US" sz="1200" b="0" dirty="0">
                              <a:solidFill>
                                <a:srgbClr val="23262C"/>
                              </a:solidFill>
                              <a:latin typeface="Arial"/>
                            </a:rPr>
                            <a:t>= 2.25 V</a:t>
                          </a:r>
                        </a:p>
                      </a:txBody>
                      <a:tcPr>
                        <a:solidFill>
                          <a:srgbClr val="F0F4F8"/>
                        </a:solidFill>
                      </a:tcPr>
                    </a:tc>
                    <a:extLst>
                      <a:ext uri="{0D108BD9-81ED-4DB2-BD59-A6C34878D82A}">
                        <a16:rowId xmlns:a16="http://schemas.microsoft.com/office/drawing/2014/main" val="10002"/>
                      </a:ext>
                    </a:extLst>
                  </a:tr>
                  <a:tr h="305044">
                    <a:tc>
                      <a:txBody>
                        <a:bodyPr/>
                        <a:lstStyle/>
                        <a:p>
                          <a:pPr algn="ctr"/>
                          <a:r>
                            <a:rPr lang="en-US" sz="1200" b="1" dirty="0">
                              <a:solidFill>
                                <a:srgbClr val="23262C"/>
                              </a:solidFill>
                              <a:latin typeface="Arial"/>
                            </a:rPr>
                            <a:t>Synthesis tool</a:t>
                          </a:r>
                        </a:p>
                      </a:txBody>
                      <a:tcPr>
                        <a:solidFill>
                          <a:srgbClr val="F8FAFC"/>
                        </a:solidFill>
                      </a:tcPr>
                    </a:tc>
                    <a:tc>
                      <a:txBody>
                        <a:bodyPr/>
                        <a:lstStyle/>
                        <a:p>
                          <a:pPr algn="l"/>
                          <a:r>
                            <a:rPr lang="en-US" sz="1200" b="0" dirty="0">
                              <a:solidFill>
                                <a:srgbClr val="23262C"/>
                              </a:solidFill>
                              <a:latin typeface="Arial"/>
                            </a:rPr>
                            <a:t>Synopsys DC Z-2007.03-SP4</a:t>
                          </a:r>
                        </a:p>
                      </a:txBody>
                      <a:tcPr>
                        <a:solidFill>
                          <a:srgbClr val="F8FAFC"/>
                        </a:solidFill>
                      </a:tcPr>
                    </a:tc>
                    <a:extLst>
                      <a:ext uri="{0D108BD9-81ED-4DB2-BD59-A6C34878D82A}">
                        <a16:rowId xmlns:a16="http://schemas.microsoft.com/office/drawing/2014/main" val="10003"/>
                      </a:ext>
                    </a:extLst>
                  </a:tr>
                  <a:tr h="211251">
                    <a:tc>
                      <a:txBody>
                        <a:bodyPr/>
                        <a:lstStyle/>
                        <a:p>
                          <a:pPr algn="ctr"/>
                          <a:r>
                            <a:rPr lang="en-US" sz="1200" b="1" dirty="0">
                              <a:solidFill>
                                <a:srgbClr val="23262C"/>
                              </a:solidFill>
                              <a:latin typeface="Arial"/>
                            </a:rPr>
                            <a:t>Clock sweep</a:t>
                          </a:r>
                        </a:p>
                      </a:txBody>
                      <a:tcPr>
                        <a:solidFill>
                          <a:srgbClr val="F0F4F8"/>
                        </a:solidFill>
                      </a:tcPr>
                    </a:tc>
                    <a:tc>
                      <a:txBody>
                        <a:bodyPr/>
                        <a:lstStyle/>
                        <a:p>
                          <a:pPr algn="l"/>
                          <a:r>
                            <a:rPr lang="en-US" sz="1200" b="0" dirty="0">
                              <a:solidFill>
                                <a:srgbClr val="23262C"/>
                              </a:solidFill>
                              <a:latin typeface="Arial"/>
                            </a:rPr>
                            <a:t>9.4 ns </a:t>
                          </a:r>
                        </a:p>
                      </a:txBody>
                      <a:tcPr>
                        <a:solidFill>
                          <a:srgbClr val="F0F4F8"/>
                        </a:solidFill>
                      </a:tcPr>
                    </a:tc>
                    <a:extLst>
                      <a:ext uri="{0D108BD9-81ED-4DB2-BD59-A6C34878D82A}">
                        <a16:rowId xmlns:a16="http://schemas.microsoft.com/office/drawing/2014/main" val="10004"/>
                      </a:ext>
                    </a:extLst>
                  </a:tr>
                  <a:tr h="305044">
                    <a:tc>
                      <a:txBody>
                        <a:bodyPr/>
                        <a:lstStyle/>
                        <a:p>
                          <a:pPr algn="ctr"/>
                          <a:r>
                            <a:rPr lang="en-US" sz="1200" b="1" dirty="0">
                              <a:solidFill>
                                <a:srgbClr val="23262C"/>
                              </a:solidFill>
                              <a:latin typeface="Arial"/>
                            </a:rPr>
                            <a:t>Verification</a:t>
                          </a:r>
                        </a:p>
                      </a:txBody>
                      <a:tcPr>
                        <a:solidFill>
                          <a:srgbClr val="F8FAFC"/>
                        </a:solidFill>
                      </a:tcPr>
                    </a:tc>
                    <a:tc>
                      <a:txBody>
                        <a:bodyPr/>
                        <a:lstStyle/>
                        <a:p>
                          <a:pPr algn="l"/>
                          <a:r>
                            <a:rPr lang="en-US" sz="1200" b="0" dirty="0">
                              <a:solidFill>
                                <a:srgbClr val="23262C"/>
                              </a:solidFill>
                              <a:latin typeface="Arial"/>
                            </a:rPr>
                            <a:t>Icarus Verilog  -g2012, 9-case regression</a:t>
                          </a:r>
                        </a:p>
                      </a:txBody>
                      <a:tcPr>
                        <a:solidFill>
                          <a:srgbClr val="F8FAFC"/>
                        </a:solidFill>
                      </a:tcPr>
                    </a:tc>
                    <a:extLst>
                      <a:ext uri="{0D108BD9-81ED-4DB2-BD59-A6C34878D82A}">
                        <a16:rowId xmlns:a16="http://schemas.microsoft.com/office/drawing/2014/main" val="10005"/>
                      </a:ext>
                    </a:extLst>
                  </a:tr>
                  <a:tr h="419228">
                    <a:tc>
                      <a:txBody>
                        <a:bodyPr/>
                        <a:lstStyle/>
                        <a:p>
                          <a:pPr algn="ctr"/>
                          <a:r>
                            <a:rPr lang="en-US" sz="1200" b="1" dirty="0">
                              <a:solidFill>
                                <a:srgbClr val="23262C"/>
                              </a:solidFill>
                              <a:latin typeface="Arial"/>
                            </a:rPr>
                            <a:t>Configurations</a:t>
                          </a:r>
                        </a:p>
                      </a:txBody>
                      <a:tcPr>
                        <a:solidFill>
                          <a:srgbClr val="F0F4F8"/>
                        </a:solidFill>
                      </a:tcPr>
                    </a:tc>
                    <a:tc>
                      <a:txBody>
                        <a:bodyPr/>
                        <a:lstStyle/>
                        <a:p>
                          <a:pPr algn="l"/>
                          <a:r>
                            <a:rPr lang="en-US" sz="1200" b="0" dirty="0">
                              <a:solidFill>
                                <a:srgbClr val="23262C"/>
                              </a:solidFill>
                              <a:latin typeface="Arial"/>
                            </a:rPr>
                            <a:t>RV32I base, RV32M, 8-mul / 4-mul / 1-mul</a:t>
                          </a:r>
                        </a:p>
                        <a:p>
                          <a:pPr algn="l"/>
                          <a:r>
                            <a:rPr lang="en-US" sz="1200" b="0" dirty="0">
                              <a:solidFill>
                                <a:srgbClr val="23262C"/>
                              </a:solidFill>
                              <a:latin typeface="Arial"/>
                            </a:rPr>
                            <a:t>Custom-0, MMIO-8</a:t>
                          </a:r>
                        </a:p>
                      </a:txBody>
                      <a:tcPr>
                        <a:solidFill>
                          <a:srgbClr val="F0F4F8"/>
                        </a:solidFill>
                      </a:tcPr>
                    </a:tc>
                    <a:extLst>
                      <a:ext uri="{0D108BD9-81ED-4DB2-BD59-A6C34878D82A}">
                        <a16:rowId xmlns:a16="http://schemas.microsoft.com/office/drawing/2014/main" val="10006"/>
                      </a:ext>
                    </a:extLst>
                  </a:tr>
                </a:tbl>
              </a:graphicData>
            </a:graphic>
          </p:graphicFrame>
        </mc:Choice>
        <mc:Fallback xmlns="">
          <p:graphicFrame>
            <p:nvGraphicFramePr>
              <p:cNvPr id="83" name="Table 54">
                <a:extLst>
                  <a:ext uri="{FF2B5EF4-FFF2-40B4-BE49-F238E27FC236}">
                    <a16:creationId xmlns:a16="http://schemas.microsoft.com/office/drawing/2014/main" id="{24964FE3-885E-D816-E698-CF066966396E}"/>
                  </a:ext>
                </a:extLst>
              </p:cNvPr>
              <p:cNvGraphicFramePr>
                <a:graphicFrameLocks noGrp="1"/>
              </p:cNvGraphicFramePr>
              <p:nvPr/>
            </p:nvGraphicFramePr>
            <p:xfrm>
              <a:off x="5509259" y="3720688"/>
              <a:ext cx="5134440" cy="2244047"/>
            </p:xfrm>
            <a:graphic>
              <a:graphicData uri="http://schemas.openxmlformats.org/drawingml/2006/table">
                <a:tbl>
                  <a:tblPr firstRow="1" bandRow="1">
                    <a:tableStyleId>{5C22544A-7EE6-4342-B048-85BDC9FD1C3A}</a:tableStyleId>
                  </a:tblPr>
                  <a:tblGrid>
                    <a:gridCol w="1579098">
                      <a:extLst>
                        <a:ext uri="{9D8B030D-6E8A-4147-A177-3AD203B41FA5}">
                          <a16:colId xmlns:a16="http://schemas.microsoft.com/office/drawing/2014/main" val="20000"/>
                        </a:ext>
                      </a:extLst>
                    </a:gridCol>
                    <a:gridCol w="3555342">
                      <a:extLst>
                        <a:ext uri="{9D8B030D-6E8A-4147-A177-3AD203B41FA5}">
                          <a16:colId xmlns:a16="http://schemas.microsoft.com/office/drawing/2014/main" val="20001"/>
                        </a:ext>
                      </a:extLst>
                    </a:gridCol>
                  </a:tblGrid>
                  <a:tr h="305044">
                    <a:tc>
                      <a:txBody>
                        <a:bodyPr/>
                        <a:lstStyle/>
                        <a:p>
                          <a:pPr algn="ctr"/>
                          <a:r>
                            <a:rPr lang="en-US" sz="1200" b="1" dirty="0">
                              <a:solidFill>
                                <a:srgbClr val="FFFFFF"/>
                              </a:solidFill>
                              <a:latin typeface="Arial"/>
                            </a:rPr>
                            <a:t>Parameter</a:t>
                          </a:r>
                        </a:p>
                      </a:txBody>
                      <a:tcPr>
                        <a:solidFill>
                          <a:srgbClr val="760018"/>
                        </a:solidFill>
                      </a:tcPr>
                    </a:tc>
                    <a:tc>
                      <a:txBody>
                        <a:bodyPr/>
                        <a:lstStyle/>
                        <a:p>
                          <a:pPr algn="ctr"/>
                          <a:r>
                            <a:rPr lang="en-US" sz="1200" b="1" dirty="0">
                              <a:solidFill>
                                <a:srgbClr val="FFFFFF"/>
                              </a:solidFill>
                              <a:latin typeface="Arial"/>
                            </a:rPr>
                            <a:t>Value</a:t>
                          </a:r>
                        </a:p>
                      </a:txBody>
                      <a:tcPr>
                        <a:solidFill>
                          <a:srgbClr val="760018"/>
                        </a:solidFill>
                      </a:tcPr>
                    </a:tc>
                    <a:extLst>
                      <a:ext uri="{0D108BD9-81ED-4DB2-BD59-A6C34878D82A}">
                        <a16:rowId xmlns:a16="http://schemas.microsoft.com/office/drawing/2014/main" val="10000"/>
                      </a:ext>
                    </a:extLst>
                  </a:tr>
                  <a:tr h="292351">
                    <a:tc>
                      <a:txBody>
                        <a:bodyPr/>
                        <a:lstStyle/>
                        <a:p>
                          <a:pPr algn="ctr"/>
                          <a:r>
                            <a:rPr lang="en-US" sz="1200" b="1" dirty="0">
                              <a:solidFill>
                                <a:srgbClr val="23262C"/>
                              </a:solidFill>
                              <a:latin typeface="Arial"/>
                            </a:rPr>
                            <a:t>Library</a:t>
                          </a:r>
                        </a:p>
                      </a:txBody>
                      <a:tcPr>
                        <a:solidFill>
                          <a:srgbClr val="F8FAFC"/>
                        </a:solidFill>
                      </a:tcPr>
                    </a:tc>
                    <a:tc>
                      <a:txBody>
                        <a:bodyPr/>
                        <a:lstStyle/>
                        <a:p>
                          <a:pPr algn="l"/>
                          <a:r>
                            <a:rPr lang="en-US" sz="1200" b="0">
                              <a:solidFill>
                                <a:srgbClr val="23262C"/>
                              </a:solidFill>
                              <a:latin typeface="Arial"/>
                            </a:rPr>
                            <a:t>lec25dscc25_SS (250 nm SS)</a:t>
                          </a:r>
                          <a:endParaRPr lang="en-US" sz="1200" b="0" dirty="0">
                            <a:solidFill>
                              <a:srgbClr val="23262C"/>
                            </a:solidFill>
                            <a:latin typeface="Arial"/>
                          </a:endParaRPr>
                        </a:p>
                      </a:txBody>
                      <a:tcPr>
                        <a:solidFill>
                          <a:srgbClr val="F8FAFC"/>
                        </a:solidFill>
                      </a:tcPr>
                    </a:tc>
                    <a:extLst>
                      <a:ext uri="{0D108BD9-81ED-4DB2-BD59-A6C34878D82A}">
                        <a16:rowId xmlns:a16="http://schemas.microsoft.com/office/drawing/2014/main" val="10001"/>
                      </a:ext>
                    </a:extLst>
                  </a:tr>
                  <a:tr h="305044">
                    <a:tc>
                      <a:txBody>
                        <a:bodyPr/>
                        <a:lstStyle/>
                        <a:p>
                          <a:pPr algn="ctr"/>
                          <a:r>
                            <a:rPr lang="en-US" sz="1200" b="1" dirty="0">
                              <a:solidFill>
                                <a:srgbClr val="23262C"/>
                              </a:solidFill>
                              <a:latin typeface="Arial"/>
                            </a:rPr>
                            <a:t>Supply voltage</a:t>
                          </a:r>
                        </a:p>
                      </a:txBody>
                      <a:tcPr>
                        <a:solidFill>
                          <a:srgbClr val="F0F4F8"/>
                        </a:solidFill>
                      </a:tcPr>
                    </a:tc>
                    <a:tc>
                      <a:txBody>
                        <a:bodyPr/>
                        <a:lstStyle/>
                        <a:p>
                          <a:endParaRPr lang="ko-KR"/>
                        </a:p>
                      </a:txBody>
                      <a:tcPr>
                        <a:blipFill>
                          <a:blip r:embed="rId15"/>
                          <a:stretch>
                            <a:fillRect l="-44692" t="-198000" r="-685" b="-454000"/>
                          </a:stretch>
                        </a:blipFill>
                      </a:tcPr>
                    </a:tc>
                    <a:extLst>
                      <a:ext uri="{0D108BD9-81ED-4DB2-BD59-A6C34878D82A}">
                        <a16:rowId xmlns:a16="http://schemas.microsoft.com/office/drawing/2014/main" val="10002"/>
                      </a:ext>
                    </a:extLst>
                  </a:tr>
                  <a:tr h="305044">
                    <a:tc>
                      <a:txBody>
                        <a:bodyPr/>
                        <a:lstStyle/>
                        <a:p>
                          <a:pPr algn="ctr"/>
                          <a:r>
                            <a:rPr lang="en-US" sz="1200" b="1" dirty="0">
                              <a:solidFill>
                                <a:srgbClr val="23262C"/>
                              </a:solidFill>
                              <a:latin typeface="Arial"/>
                            </a:rPr>
                            <a:t>Synthesis tool</a:t>
                          </a:r>
                        </a:p>
                      </a:txBody>
                      <a:tcPr>
                        <a:solidFill>
                          <a:srgbClr val="F8FAFC"/>
                        </a:solidFill>
                      </a:tcPr>
                    </a:tc>
                    <a:tc>
                      <a:txBody>
                        <a:bodyPr/>
                        <a:lstStyle/>
                        <a:p>
                          <a:pPr algn="l"/>
                          <a:r>
                            <a:rPr lang="en-US" sz="1200" b="0" dirty="0">
                              <a:solidFill>
                                <a:srgbClr val="23262C"/>
                              </a:solidFill>
                              <a:latin typeface="Arial"/>
                            </a:rPr>
                            <a:t>Synopsys DC Z-2007.03-SP4</a:t>
                          </a:r>
                        </a:p>
                      </a:txBody>
                      <a:tcPr>
                        <a:solidFill>
                          <a:srgbClr val="F8FAFC"/>
                        </a:solidFill>
                      </a:tcPr>
                    </a:tc>
                    <a:extLst>
                      <a:ext uri="{0D108BD9-81ED-4DB2-BD59-A6C34878D82A}">
                        <a16:rowId xmlns:a16="http://schemas.microsoft.com/office/drawing/2014/main" val="10003"/>
                      </a:ext>
                    </a:extLst>
                  </a:tr>
                  <a:tr h="274320">
                    <a:tc>
                      <a:txBody>
                        <a:bodyPr/>
                        <a:lstStyle/>
                        <a:p>
                          <a:pPr algn="ctr"/>
                          <a:r>
                            <a:rPr lang="en-US" sz="1200" b="1" dirty="0">
                              <a:solidFill>
                                <a:srgbClr val="23262C"/>
                              </a:solidFill>
                              <a:latin typeface="Arial"/>
                            </a:rPr>
                            <a:t>Clock sweep</a:t>
                          </a:r>
                        </a:p>
                      </a:txBody>
                      <a:tcPr>
                        <a:solidFill>
                          <a:srgbClr val="F0F4F8"/>
                        </a:solidFill>
                      </a:tcPr>
                    </a:tc>
                    <a:tc>
                      <a:txBody>
                        <a:bodyPr/>
                        <a:lstStyle/>
                        <a:p>
                          <a:pPr algn="l"/>
                          <a:r>
                            <a:rPr lang="en-US" sz="1200" b="0" dirty="0">
                              <a:solidFill>
                                <a:srgbClr val="23262C"/>
                              </a:solidFill>
                              <a:latin typeface="Arial"/>
                            </a:rPr>
                            <a:t>9.4 ns </a:t>
                          </a:r>
                        </a:p>
                      </a:txBody>
                      <a:tcPr>
                        <a:solidFill>
                          <a:srgbClr val="F0F4F8"/>
                        </a:solidFill>
                      </a:tcPr>
                    </a:tc>
                    <a:extLst>
                      <a:ext uri="{0D108BD9-81ED-4DB2-BD59-A6C34878D82A}">
                        <a16:rowId xmlns:a16="http://schemas.microsoft.com/office/drawing/2014/main" val="10004"/>
                      </a:ext>
                    </a:extLst>
                  </a:tr>
                  <a:tr h="305044">
                    <a:tc>
                      <a:txBody>
                        <a:bodyPr/>
                        <a:lstStyle/>
                        <a:p>
                          <a:pPr algn="ctr"/>
                          <a:r>
                            <a:rPr lang="en-US" sz="1200" b="1" dirty="0">
                              <a:solidFill>
                                <a:srgbClr val="23262C"/>
                              </a:solidFill>
                              <a:latin typeface="Arial"/>
                            </a:rPr>
                            <a:t>Verification</a:t>
                          </a:r>
                        </a:p>
                      </a:txBody>
                      <a:tcPr>
                        <a:solidFill>
                          <a:srgbClr val="F8FAFC"/>
                        </a:solidFill>
                      </a:tcPr>
                    </a:tc>
                    <a:tc>
                      <a:txBody>
                        <a:bodyPr/>
                        <a:lstStyle/>
                        <a:p>
                          <a:pPr algn="l"/>
                          <a:r>
                            <a:rPr lang="en-US" sz="1200" b="0" dirty="0">
                              <a:solidFill>
                                <a:srgbClr val="23262C"/>
                              </a:solidFill>
                              <a:latin typeface="Arial"/>
                            </a:rPr>
                            <a:t>Icarus Verilog  -g2012, 9-case regression</a:t>
                          </a:r>
                        </a:p>
                      </a:txBody>
                      <a:tcPr>
                        <a:solidFill>
                          <a:srgbClr val="F8FAFC"/>
                        </a:solidFill>
                      </a:tcPr>
                    </a:tc>
                    <a:extLst>
                      <a:ext uri="{0D108BD9-81ED-4DB2-BD59-A6C34878D82A}">
                        <a16:rowId xmlns:a16="http://schemas.microsoft.com/office/drawing/2014/main" val="10005"/>
                      </a:ext>
                    </a:extLst>
                  </a:tr>
                  <a:tr h="457200">
                    <a:tc>
                      <a:txBody>
                        <a:bodyPr/>
                        <a:lstStyle/>
                        <a:p>
                          <a:pPr algn="ctr"/>
                          <a:r>
                            <a:rPr lang="en-US" sz="1200" b="1" dirty="0">
                              <a:solidFill>
                                <a:srgbClr val="23262C"/>
                              </a:solidFill>
                              <a:latin typeface="Arial"/>
                            </a:rPr>
                            <a:t>Configurations</a:t>
                          </a:r>
                        </a:p>
                      </a:txBody>
                      <a:tcPr>
                        <a:solidFill>
                          <a:srgbClr val="F0F4F8"/>
                        </a:solidFill>
                      </a:tcPr>
                    </a:tc>
                    <a:tc>
                      <a:txBody>
                        <a:bodyPr/>
                        <a:lstStyle/>
                        <a:p>
                          <a:pPr algn="l"/>
                          <a:r>
                            <a:rPr lang="en-US" sz="1200" b="0" dirty="0">
                              <a:solidFill>
                                <a:srgbClr val="23262C"/>
                              </a:solidFill>
                              <a:latin typeface="Arial"/>
                            </a:rPr>
                            <a:t>RV32I base, RV32M, 8-mul / 4-mul / 1-mul</a:t>
                          </a:r>
                        </a:p>
                        <a:p>
                          <a:pPr algn="l"/>
                          <a:r>
                            <a:rPr lang="en-US" sz="1200" b="0" dirty="0">
                              <a:solidFill>
                                <a:srgbClr val="23262C"/>
                              </a:solidFill>
                              <a:latin typeface="Arial"/>
                            </a:rPr>
                            <a:t>Custom-0, MMIO-8</a:t>
                          </a:r>
                        </a:p>
                      </a:txBody>
                      <a:tcPr>
                        <a:solidFill>
                          <a:srgbClr val="F0F4F8"/>
                        </a:solidFill>
                      </a:tcPr>
                    </a:tc>
                    <a:extLst>
                      <a:ext uri="{0D108BD9-81ED-4DB2-BD59-A6C34878D82A}">
                        <a16:rowId xmlns:a16="http://schemas.microsoft.com/office/drawing/2014/main" val="10006"/>
                      </a:ext>
                    </a:extLst>
                  </a:tr>
                </a:tbl>
              </a:graphicData>
            </a:graphic>
          </p:graphicFrame>
        </mc:Fallback>
      </mc:AlternateContent>
      <p:sp>
        <p:nvSpPr>
          <p:cNvPr id="24" name="TextBox 23">
            <a:extLst>
              <a:ext uri="{FF2B5EF4-FFF2-40B4-BE49-F238E27FC236}">
                <a16:creationId xmlns:a16="http://schemas.microsoft.com/office/drawing/2014/main" id="{678AD752-A198-ACCD-1767-3D78FA9321E0}"/>
              </a:ext>
            </a:extLst>
          </p:cNvPr>
          <p:cNvSpPr txBox="1"/>
          <p:nvPr/>
        </p:nvSpPr>
        <p:spPr>
          <a:xfrm>
            <a:off x="1698638" y="9175511"/>
            <a:ext cx="2346691" cy="276999"/>
          </a:xfrm>
          <a:prstGeom prst="rect">
            <a:avLst/>
          </a:prstGeom>
          <a:noFill/>
        </p:spPr>
        <p:txBody>
          <a:bodyPr wrap="square" lIns="65000" rIns="65000" anchor="ctr">
            <a:spAutoFit/>
          </a:bodyPr>
          <a:lstStyle/>
          <a:p>
            <a:pPr algn="ctr"/>
            <a:r>
              <a:rPr lang="af-ZA" altLang="ko-KR" sz="1200" dirty="0">
                <a:latin typeface="Arial" panose="020B0604020202020204" pitchFamily="34" charset="0"/>
                <a:cs typeface="Arial" panose="020B0604020202020204" pitchFamily="34" charset="0"/>
              </a:rPr>
              <a:t>Custom-0 (ISA extension)</a:t>
            </a:r>
          </a:p>
        </p:txBody>
      </p:sp>
      <p:sp>
        <p:nvSpPr>
          <p:cNvPr id="29" name="TextBox 28">
            <a:extLst>
              <a:ext uri="{FF2B5EF4-FFF2-40B4-BE49-F238E27FC236}">
                <a16:creationId xmlns:a16="http://schemas.microsoft.com/office/drawing/2014/main" id="{ED645118-C459-A7EC-3595-7C477CC4B3F9}"/>
              </a:ext>
            </a:extLst>
          </p:cNvPr>
          <p:cNvSpPr txBox="1"/>
          <p:nvPr/>
        </p:nvSpPr>
        <p:spPr>
          <a:xfrm>
            <a:off x="6903133" y="9176640"/>
            <a:ext cx="2346691" cy="276999"/>
          </a:xfrm>
          <a:prstGeom prst="rect">
            <a:avLst/>
          </a:prstGeom>
          <a:noFill/>
        </p:spPr>
        <p:txBody>
          <a:bodyPr wrap="square" lIns="65000" rIns="65000" anchor="ctr">
            <a:spAutoFit/>
          </a:bodyPr>
          <a:lstStyle/>
          <a:p>
            <a:pPr algn="ctr"/>
            <a:r>
              <a:rPr lang="af-ZA" altLang="ko-KR" sz="1200" dirty="0">
                <a:latin typeface="Arial" panose="020B0604020202020204" pitchFamily="34" charset="0"/>
                <a:cs typeface="Arial" panose="020B0604020202020204" pitchFamily="34" charset="0"/>
              </a:rPr>
              <a:t>MMIO attachment</a:t>
            </a:r>
          </a:p>
        </p:txBody>
      </p:sp>
      <p:pic>
        <p:nvPicPr>
          <p:cNvPr id="43" name="그림 42">
            <a:extLst>
              <a:ext uri="{FF2B5EF4-FFF2-40B4-BE49-F238E27FC236}">
                <a16:creationId xmlns:a16="http://schemas.microsoft.com/office/drawing/2014/main" id="{2C791BD3-C336-D09A-A548-80C4757DF867}"/>
              </a:ext>
            </a:extLst>
          </p:cNvPr>
          <p:cNvPicPr>
            <a:picLocks noChangeAspect="1"/>
          </p:cNvPicPr>
          <p:nvPr/>
        </p:nvPicPr>
        <p:blipFill>
          <a:blip r:embed="rId16"/>
          <a:stretch>
            <a:fillRect/>
          </a:stretch>
        </p:blipFill>
        <p:spPr>
          <a:xfrm>
            <a:off x="5273993" y="17422630"/>
            <a:ext cx="4328875" cy="2416116"/>
          </a:xfrm>
          <a:prstGeom prst="rect">
            <a:avLst/>
          </a:prstGeom>
        </p:spPr>
      </p:pic>
      <p:sp>
        <p:nvSpPr>
          <p:cNvPr id="45" name="Rectangle 18">
            <a:extLst>
              <a:ext uri="{FF2B5EF4-FFF2-40B4-BE49-F238E27FC236}">
                <a16:creationId xmlns:a16="http://schemas.microsoft.com/office/drawing/2014/main" id="{A90D7C74-4016-4F6F-E6AC-1882A3EF8A3F}"/>
              </a:ext>
            </a:extLst>
          </p:cNvPr>
          <p:cNvSpPr/>
          <p:nvPr/>
        </p:nvSpPr>
        <p:spPr>
          <a:xfrm>
            <a:off x="240221" y="23222296"/>
            <a:ext cx="10365354" cy="527253"/>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11863CBA-DF94-3288-6C04-250B73F7D03A}"/>
              </a:ext>
            </a:extLst>
          </p:cNvPr>
          <p:cNvSpPr txBox="1"/>
          <p:nvPr/>
        </p:nvSpPr>
        <p:spPr>
          <a:xfrm>
            <a:off x="359093" y="23304120"/>
            <a:ext cx="9592056" cy="338554"/>
          </a:xfrm>
          <a:prstGeom prst="rect">
            <a:avLst/>
          </a:prstGeom>
          <a:noFill/>
        </p:spPr>
        <p:txBody>
          <a:bodyPr wrap="square" lIns="65000" rIns="65000" anchor="ctr">
            <a:spAutoFit/>
          </a:bodyPr>
          <a:lstStyle/>
          <a:p>
            <a:pPr algn="l"/>
            <a:r>
              <a:rPr lang="en-US" sz="1600" b="1" dirty="0">
                <a:solidFill>
                  <a:srgbClr val="FFFFFF"/>
                </a:solidFill>
                <a:latin typeface="Arial"/>
              </a:rPr>
              <a:t>4. Physical Design, P&amp;R </a:t>
            </a:r>
            <a:r>
              <a:rPr lang="en-US" sz="900" b="1" dirty="0">
                <a:solidFill>
                  <a:srgbClr val="FFFFFF"/>
                </a:solidFill>
                <a:latin typeface="Arial"/>
              </a:rPr>
              <a:t>(</a:t>
            </a:r>
            <a:r>
              <a:rPr lang="en-US" sz="900" b="1" dirty="0" err="1">
                <a:solidFill>
                  <a:srgbClr val="FFFFFF"/>
                </a:solidFill>
                <a:latin typeface="Arial"/>
              </a:rPr>
              <a:t>OpenROAD</a:t>
            </a:r>
            <a:r>
              <a:rPr lang="en-US" sz="900" b="1" dirty="0">
                <a:solidFill>
                  <a:srgbClr val="FFFFFF"/>
                </a:solidFill>
                <a:latin typeface="Arial"/>
              </a:rPr>
              <a:t> 130nm, sky130hd)</a:t>
            </a:r>
            <a:endParaRPr sz="900" b="1" dirty="0">
              <a:solidFill>
                <a:srgbClr val="FFFFFF"/>
              </a:solidFill>
              <a:latin typeface="Arial"/>
            </a:endParaRPr>
          </a:p>
        </p:txBody>
      </p:sp>
      <p:graphicFrame>
        <p:nvGraphicFramePr>
          <p:cNvPr id="52" name="Table 54">
            <a:extLst>
              <a:ext uri="{FF2B5EF4-FFF2-40B4-BE49-F238E27FC236}">
                <a16:creationId xmlns:a16="http://schemas.microsoft.com/office/drawing/2014/main" id="{07232F3C-AB9C-0AAD-1F9C-73400EA96FD0}"/>
              </a:ext>
            </a:extLst>
          </p:cNvPr>
          <p:cNvGraphicFramePr>
            <a:graphicFrameLocks noGrp="1"/>
          </p:cNvGraphicFramePr>
          <p:nvPr>
            <p:extLst>
              <p:ext uri="{D42A27DB-BD31-4B8C-83A1-F6EECF244321}">
                <p14:modId xmlns:p14="http://schemas.microsoft.com/office/powerpoint/2010/main" val="3712128696"/>
              </p:ext>
            </p:extLst>
          </p:nvPr>
        </p:nvGraphicFramePr>
        <p:xfrm>
          <a:off x="4484153" y="23861805"/>
          <a:ext cx="6121422" cy="2548359"/>
        </p:xfrm>
        <a:graphic>
          <a:graphicData uri="http://schemas.openxmlformats.org/drawingml/2006/table">
            <a:tbl>
              <a:tblPr firstRow="1" bandRow="1">
                <a:tableStyleId>{5C22544A-7EE6-4342-B048-85BDC9FD1C3A}</a:tableStyleId>
              </a:tblPr>
              <a:tblGrid>
                <a:gridCol w="1444085">
                  <a:extLst>
                    <a:ext uri="{9D8B030D-6E8A-4147-A177-3AD203B41FA5}">
                      <a16:colId xmlns:a16="http://schemas.microsoft.com/office/drawing/2014/main" val="20000"/>
                    </a:ext>
                  </a:extLst>
                </a:gridCol>
                <a:gridCol w="2134734">
                  <a:extLst>
                    <a:ext uri="{9D8B030D-6E8A-4147-A177-3AD203B41FA5}">
                      <a16:colId xmlns:a16="http://schemas.microsoft.com/office/drawing/2014/main" val="20001"/>
                    </a:ext>
                  </a:extLst>
                </a:gridCol>
                <a:gridCol w="2542603">
                  <a:extLst>
                    <a:ext uri="{9D8B030D-6E8A-4147-A177-3AD203B41FA5}">
                      <a16:colId xmlns:a16="http://schemas.microsoft.com/office/drawing/2014/main" val="1901196534"/>
                    </a:ext>
                  </a:extLst>
                </a:gridCol>
              </a:tblGrid>
              <a:tr h="0">
                <a:tc>
                  <a:txBody>
                    <a:bodyPr/>
                    <a:lstStyle/>
                    <a:p>
                      <a:pPr algn="ctr"/>
                      <a:r>
                        <a:rPr lang="en-US" sz="1200" b="1" dirty="0">
                          <a:solidFill>
                            <a:srgbClr val="FFFFFF"/>
                          </a:solidFill>
                          <a:latin typeface="Arial"/>
                        </a:rPr>
                        <a:t>Stage</a:t>
                      </a:r>
                    </a:p>
                  </a:txBody>
                  <a:tcPr>
                    <a:solidFill>
                      <a:srgbClr val="760018"/>
                    </a:solidFill>
                  </a:tcPr>
                </a:tc>
                <a:tc>
                  <a:txBody>
                    <a:bodyPr/>
                    <a:lstStyle/>
                    <a:p>
                      <a:pPr algn="ctr"/>
                      <a:r>
                        <a:rPr lang="en-US" sz="1200" b="1" dirty="0">
                          <a:solidFill>
                            <a:srgbClr val="FFFFFF"/>
                          </a:solidFill>
                          <a:latin typeface="Arial"/>
                        </a:rPr>
                        <a:t>Tool/Step</a:t>
                      </a:r>
                    </a:p>
                  </a:txBody>
                  <a:tcPr>
                    <a:solidFill>
                      <a:srgbClr val="760018"/>
                    </a:solidFill>
                  </a:tcPr>
                </a:tc>
                <a:tc>
                  <a:txBody>
                    <a:bodyPr/>
                    <a:lstStyle/>
                    <a:p>
                      <a:pPr algn="ctr"/>
                      <a:r>
                        <a:rPr lang="en-US" sz="1200" b="1" dirty="0">
                          <a:solidFill>
                            <a:srgbClr val="FFFFFF"/>
                          </a:solidFill>
                          <a:latin typeface="Arial"/>
                        </a:rPr>
                        <a:t>Key result</a:t>
                      </a:r>
                    </a:p>
                  </a:txBody>
                  <a:tcPr>
                    <a:solidFill>
                      <a:srgbClr val="760018"/>
                    </a:solidFill>
                  </a:tcPr>
                </a:tc>
                <a:extLst>
                  <a:ext uri="{0D108BD9-81ED-4DB2-BD59-A6C34878D82A}">
                    <a16:rowId xmlns:a16="http://schemas.microsoft.com/office/drawing/2014/main" val="10000"/>
                  </a:ext>
                </a:extLst>
              </a:tr>
              <a:tr h="292351">
                <a:tc>
                  <a:txBody>
                    <a:bodyPr/>
                    <a:lstStyle/>
                    <a:p>
                      <a:pPr algn="l"/>
                      <a:r>
                        <a:rPr lang="en-US" sz="1200" b="1" dirty="0">
                          <a:solidFill>
                            <a:srgbClr val="23262C"/>
                          </a:solidFill>
                          <a:latin typeface="Arial"/>
                        </a:rPr>
                        <a:t>1. Synthesis</a:t>
                      </a:r>
                    </a:p>
                  </a:txBody>
                  <a:tcPr>
                    <a:solidFill>
                      <a:srgbClr val="F8FAFC"/>
                    </a:solidFill>
                  </a:tcPr>
                </a:tc>
                <a:tc>
                  <a:txBody>
                    <a:bodyPr/>
                    <a:lstStyle/>
                    <a:p>
                      <a:pPr algn="l"/>
                      <a:r>
                        <a:rPr lang="en-US" sz="1200" b="0" dirty="0">
                          <a:solidFill>
                            <a:srgbClr val="23262C"/>
                          </a:solidFill>
                          <a:latin typeface="Arial"/>
                        </a:rPr>
                        <a:t>Yosys + sky130hd liberty</a:t>
                      </a:r>
                    </a:p>
                  </a:txBody>
                  <a:tcPr>
                    <a:solidFill>
                      <a:srgbClr val="F8FAFC"/>
                    </a:solidFill>
                  </a:tcPr>
                </a:tc>
                <a:tc>
                  <a:txBody>
                    <a:bodyPr/>
                    <a:lstStyle/>
                    <a:p>
                      <a:pPr algn="l"/>
                      <a:r>
                        <a:rPr lang="en-US" sz="1200" b="0" dirty="0">
                          <a:solidFill>
                            <a:srgbClr val="23262C"/>
                          </a:solidFill>
                          <a:latin typeface="Arial"/>
                        </a:rPr>
                        <a:t>11,680 cells; 992+627 FFs</a:t>
                      </a:r>
                    </a:p>
                  </a:txBody>
                  <a:tcPr>
                    <a:solidFill>
                      <a:srgbClr val="F8FAFC"/>
                    </a:solidFill>
                  </a:tcPr>
                </a:tc>
                <a:extLst>
                  <a:ext uri="{0D108BD9-81ED-4DB2-BD59-A6C34878D82A}">
                    <a16:rowId xmlns:a16="http://schemas.microsoft.com/office/drawing/2014/main" val="10001"/>
                  </a:ext>
                </a:extLst>
              </a:tr>
              <a:tr h="305044">
                <a:tc>
                  <a:txBody>
                    <a:bodyPr/>
                    <a:lstStyle/>
                    <a:p>
                      <a:pPr algn="l"/>
                      <a:r>
                        <a:rPr lang="en-US" sz="1200" b="1" dirty="0">
                          <a:solidFill>
                            <a:srgbClr val="23262C"/>
                          </a:solidFill>
                          <a:latin typeface="Arial"/>
                        </a:rPr>
                        <a:t>2. Floorplan</a:t>
                      </a:r>
                    </a:p>
                  </a:txBody>
                  <a:tcPr>
                    <a:solidFill>
                      <a:srgbClr val="F0F4F8"/>
                    </a:solidFill>
                  </a:tcPr>
                </a:tc>
                <a:tc>
                  <a:txBody>
                    <a:bodyPr/>
                    <a:lstStyle/>
                    <a:p>
                      <a:pPr algn="l"/>
                      <a:r>
                        <a:rPr lang="en-US" sz="1200" b="0" dirty="0">
                          <a:solidFill>
                            <a:srgbClr val="23262C"/>
                          </a:solidFill>
                          <a:latin typeface="Arial"/>
                        </a:rPr>
                        <a:t>core area + utilization target</a:t>
                      </a:r>
                    </a:p>
                  </a:txBody>
                  <a:tcPr>
                    <a:solidFill>
                      <a:srgbClr val="F0F4F8"/>
                    </a:solidFill>
                  </a:tcPr>
                </a:tc>
                <a:tc>
                  <a:txBody>
                    <a:bodyPr/>
                    <a:lstStyle/>
                    <a:p>
                      <a:pPr algn="l"/>
                      <a:r>
                        <a:rPr lang="en-US" sz="1200" b="0" dirty="0">
                          <a:solidFill>
                            <a:srgbClr val="23262C"/>
                          </a:solidFill>
                          <a:latin typeface="Arial"/>
                        </a:rPr>
                        <a:t>period_min 11.77 ns initially</a:t>
                      </a:r>
                    </a:p>
                  </a:txBody>
                  <a:tcPr>
                    <a:solidFill>
                      <a:srgbClr val="F0F4F8"/>
                    </a:solidFill>
                  </a:tcPr>
                </a:tc>
                <a:extLst>
                  <a:ext uri="{0D108BD9-81ED-4DB2-BD59-A6C34878D82A}">
                    <a16:rowId xmlns:a16="http://schemas.microsoft.com/office/drawing/2014/main" val="10002"/>
                  </a:ext>
                </a:extLst>
              </a:tr>
              <a:tr h="305044">
                <a:tc>
                  <a:txBody>
                    <a:bodyPr/>
                    <a:lstStyle/>
                    <a:p>
                      <a:pPr algn="l"/>
                      <a:r>
                        <a:rPr lang="en-US" sz="1200" b="1" dirty="0">
                          <a:solidFill>
                            <a:srgbClr val="23262C"/>
                          </a:solidFill>
                          <a:latin typeface="Arial"/>
                        </a:rPr>
                        <a:t>3. Placement</a:t>
                      </a:r>
                    </a:p>
                  </a:txBody>
                  <a:tcPr>
                    <a:solidFill>
                      <a:srgbClr val="F8FAFC"/>
                    </a:solidFill>
                  </a:tcPr>
                </a:tc>
                <a:tc>
                  <a:txBody>
                    <a:bodyPr/>
                    <a:lstStyle/>
                    <a:p>
                      <a:pPr algn="l"/>
                      <a:r>
                        <a:rPr lang="en-US" sz="1200" b="0" dirty="0">
                          <a:solidFill>
                            <a:srgbClr val="23262C"/>
                          </a:solidFill>
                          <a:latin typeface="Arial"/>
                        </a:rPr>
                        <a:t>global → detailed → resizer</a:t>
                      </a:r>
                    </a:p>
                  </a:txBody>
                  <a:tcPr>
                    <a:solidFill>
                      <a:srgbClr val="F8FAFC"/>
                    </a:solidFill>
                  </a:tcPr>
                </a:tc>
                <a:tc>
                  <a:txBody>
                    <a:bodyPr/>
                    <a:lstStyle/>
                    <a:p>
                      <a:pPr algn="l"/>
                      <a:r>
                        <a:rPr lang="en-US" sz="1200" b="0" dirty="0">
                          <a:solidFill>
                            <a:srgbClr val="23262C"/>
                          </a:solidFill>
                          <a:latin typeface="Arial"/>
                        </a:rPr>
                        <a:t>period_min 8.79 ns post-place</a:t>
                      </a:r>
                    </a:p>
                  </a:txBody>
                  <a:tcPr>
                    <a:solidFill>
                      <a:srgbClr val="F8FAFC"/>
                    </a:solidFill>
                  </a:tcPr>
                </a:tc>
                <a:extLst>
                  <a:ext uri="{0D108BD9-81ED-4DB2-BD59-A6C34878D82A}">
                    <a16:rowId xmlns:a16="http://schemas.microsoft.com/office/drawing/2014/main" val="10003"/>
                  </a:ext>
                </a:extLst>
              </a:tr>
              <a:tr h="211249">
                <a:tc>
                  <a:txBody>
                    <a:bodyPr/>
                    <a:lstStyle/>
                    <a:p>
                      <a:pPr algn="l"/>
                      <a:r>
                        <a:rPr lang="en-US" sz="1200" b="1" dirty="0">
                          <a:solidFill>
                            <a:srgbClr val="23262C"/>
                          </a:solidFill>
                          <a:latin typeface="Arial"/>
                        </a:rPr>
                        <a:t>4. CTS</a:t>
                      </a:r>
                    </a:p>
                  </a:txBody>
                  <a:tcPr>
                    <a:solidFill>
                      <a:srgbClr val="F0F4F8"/>
                    </a:solidFill>
                  </a:tcPr>
                </a:tc>
                <a:tc>
                  <a:txBody>
                    <a:bodyPr/>
                    <a:lstStyle/>
                    <a:p>
                      <a:pPr algn="l"/>
                      <a:r>
                        <a:rPr lang="en-US" sz="1200" b="0" dirty="0">
                          <a:solidFill>
                            <a:srgbClr val="23262C"/>
                          </a:solidFill>
                          <a:latin typeface="Arial"/>
                        </a:rPr>
                        <a:t>Clock-tree synthesis </a:t>
                      </a:r>
                    </a:p>
                    <a:p>
                      <a:pPr algn="l"/>
                      <a:r>
                        <a:rPr lang="en-US" sz="1200" b="0" dirty="0">
                          <a:solidFill>
                            <a:srgbClr val="23262C"/>
                          </a:solidFill>
                          <a:latin typeface="Arial"/>
                        </a:rPr>
                        <a:t>(TritonCTS)</a:t>
                      </a:r>
                    </a:p>
                  </a:txBody>
                  <a:tcPr>
                    <a:solidFill>
                      <a:srgbClr val="F0F4F8"/>
                    </a:solidFill>
                  </a:tcPr>
                </a:tc>
                <a:tc>
                  <a:txBody>
                    <a:bodyPr/>
                    <a:lstStyle/>
                    <a:p>
                      <a:pPr algn="l"/>
                      <a:r>
                        <a:rPr lang="en-US" sz="1200" b="0" dirty="0">
                          <a:solidFill>
                            <a:srgbClr val="23262C"/>
                          </a:solidFill>
                          <a:latin typeface="Arial"/>
                        </a:rPr>
                        <a:t>clock skew −0.13 ns</a:t>
                      </a:r>
                    </a:p>
                  </a:txBody>
                  <a:tcPr>
                    <a:solidFill>
                      <a:srgbClr val="F0F4F8"/>
                    </a:solidFill>
                  </a:tcPr>
                </a:tc>
                <a:extLst>
                  <a:ext uri="{0D108BD9-81ED-4DB2-BD59-A6C34878D82A}">
                    <a16:rowId xmlns:a16="http://schemas.microsoft.com/office/drawing/2014/main" val="10004"/>
                  </a:ext>
                </a:extLst>
              </a:tr>
              <a:tr h="305044">
                <a:tc>
                  <a:txBody>
                    <a:bodyPr/>
                    <a:lstStyle/>
                    <a:p>
                      <a:pPr algn="l"/>
                      <a:r>
                        <a:rPr lang="en-US" sz="1200" b="1" dirty="0">
                          <a:solidFill>
                            <a:srgbClr val="23262C"/>
                          </a:solidFill>
                          <a:latin typeface="Arial"/>
                        </a:rPr>
                        <a:t>5. Routing</a:t>
                      </a:r>
                    </a:p>
                  </a:txBody>
                  <a:tcPr>
                    <a:solidFill>
                      <a:srgbClr val="F8FAFC"/>
                    </a:solidFill>
                  </a:tcPr>
                </a:tc>
                <a:tc>
                  <a:txBody>
                    <a:bodyPr/>
                    <a:lstStyle/>
                    <a:p>
                      <a:pPr algn="l"/>
                      <a:r>
                        <a:rPr lang="en-US" sz="1200" b="0" dirty="0">
                          <a:solidFill>
                            <a:srgbClr val="23262C"/>
                          </a:solidFill>
                          <a:latin typeface="Arial"/>
                        </a:rPr>
                        <a:t>global + detailed </a:t>
                      </a:r>
                    </a:p>
                    <a:p>
                      <a:pPr algn="l"/>
                      <a:r>
                        <a:rPr lang="en-US" sz="1200" b="0" dirty="0">
                          <a:solidFill>
                            <a:srgbClr val="23262C"/>
                          </a:solidFill>
                          <a:latin typeface="Arial"/>
                        </a:rPr>
                        <a:t>(TritonRoute)</a:t>
                      </a:r>
                    </a:p>
                  </a:txBody>
                  <a:tcPr>
                    <a:solidFill>
                      <a:srgbClr val="F8FAFC"/>
                    </a:solidFill>
                  </a:tcPr>
                </a:tc>
                <a:tc>
                  <a:txBody>
                    <a:bodyPr/>
                    <a:lstStyle/>
                    <a:p>
                      <a:pPr algn="l"/>
                      <a:r>
                        <a:rPr lang="en-US" sz="1200" b="0" dirty="0">
                          <a:solidFill>
                            <a:srgbClr val="23262C"/>
                          </a:solidFill>
                          <a:latin typeface="Arial"/>
                        </a:rPr>
                        <a:t>0 DRC violations</a:t>
                      </a:r>
                    </a:p>
                  </a:txBody>
                  <a:tcPr>
                    <a:solidFill>
                      <a:srgbClr val="F8FAFC"/>
                    </a:solidFill>
                  </a:tcPr>
                </a:tc>
                <a:extLst>
                  <a:ext uri="{0D108BD9-81ED-4DB2-BD59-A6C34878D82A}">
                    <a16:rowId xmlns:a16="http://schemas.microsoft.com/office/drawing/2014/main" val="10005"/>
                  </a:ext>
                </a:extLst>
              </a:tr>
              <a:tr h="419228">
                <a:tc>
                  <a:txBody>
                    <a:bodyPr/>
                    <a:lstStyle/>
                    <a:p>
                      <a:pPr algn="l"/>
                      <a:r>
                        <a:rPr lang="en-US" sz="1200" b="1" dirty="0">
                          <a:solidFill>
                            <a:srgbClr val="23262C"/>
                          </a:solidFill>
                          <a:latin typeface="Arial"/>
                        </a:rPr>
                        <a:t>6. Sign-off</a:t>
                      </a:r>
                    </a:p>
                  </a:txBody>
                  <a:tcPr>
                    <a:solidFill>
                      <a:srgbClr val="F0F4F8"/>
                    </a:solidFill>
                  </a:tcPr>
                </a:tc>
                <a:tc>
                  <a:txBody>
                    <a:bodyPr/>
                    <a:lstStyle/>
                    <a:p>
                      <a:pPr algn="l"/>
                      <a:r>
                        <a:rPr lang="en-US" sz="1200" b="0" dirty="0">
                          <a:solidFill>
                            <a:srgbClr val="23262C"/>
                          </a:solidFill>
                          <a:latin typeface="Arial"/>
                        </a:rPr>
                        <a:t>final STA + IR-drop</a:t>
                      </a:r>
                    </a:p>
                  </a:txBody>
                  <a:tcPr>
                    <a:solidFill>
                      <a:srgbClr val="F0F4F8"/>
                    </a:solidFill>
                  </a:tcPr>
                </a:tc>
                <a:tc>
                  <a:txBody>
                    <a:bodyPr/>
                    <a:lstStyle/>
                    <a:p>
                      <a:pPr algn="l"/>
                      <a:r>
                        <a:rPr lang="en-US" sz="1200" b="0" dirty="0">
                          <a:solidFill>
                            <a:srgbClr val="23262C"/>
                          </a:solidFill>
                          <a:latin typeface="Arial"/>
                        </a:rPr>
                        <a:t>slack +2.52 ns MET, fmax 112.5 MHz</a:t>
                      </a:r>
                    </a:p>
                  </a:txBody>
                  <a:tcPr>
                    <a:solidFill>
                      <a:srgbClr val="F0F4F8"/>
                    </a:solidFill>
                  </a:tcPr>
                </a:tc>
                <a:extLst>
                  <a:ext uri="{0D108BD9-81ED-4DB2-BD59-A6C34878D82A}">
                    <a16:rowId xmlns:a16="http://schemas.microsoft.com/office/drawing/2014/main" val="10006"/>
                  </a:ext>
                </a:extLst>
              </a:tr>
            </a:tbl>
          </a:graphicData>
        </a:graphic>
      </p:graphicFrame>
      <p:pic>
        <p:nvPicPr>
          <p:cNvPr id="68" name="그림 67">
            <a:extLst>
              <a:ext uri="{FF2B5EF4-FFF2-40B4-BE49-F238E27FC236}">
                <a16:creationId xmlns:a16="http://schemas.microsoft.com/office/drawing/2014/main" id="{3CD52428-A2C3-CCF4-7452-7C047393510E}"/>
              </a:ext>
            </a:extLst>
          </p:cNvPr>
          <p:cNvPicPr>
            <a:picLocks noChangeAspect="1"/>
          </p:cNvPicPr>
          <p:nvPr/>
        </p:nvPicPr>
        <p:blipFill>
          <a:blip r:embed="rId17"/>
          <a:stretch>
            <a:fillRect/>
          </a:stretch>
        </p:blipFill>
        <p:spPr>
          <a:xfrm>
            <a:off x="338235" y="20768450"/>
            <a:ext cx="4316930" cy="2409449"/>
          </a:xfrm>
          <a:prstGeom prst="rect">
            <a:avLst/>
          </a:prstGeom>
        </p:spPr>
      </p:pic>
      <p:sp>
        <p:nvSpPr>
          <p:cNvPr id="79" name="TextBox 78">
            <a:extLst>
              <a:ext uri="{FF2B5EF4-FFF2-40B4-BE49-F238E27FC236}">
                <a16:creationId xmlns:a16="http://schemas.microsoft.com/office/drawing/2014/main" id="{BDD37F92-77F1-77AD-B85C-A5BC844E0F25}"/>
              </a:ext>
            </a:extLst>
          </p:cNvPr>
          <p:cNvSpPr txBox="1"/>
          <p:nvPr/>
        </p:nvSpPr>
        <p:spPr>
          <a:xfrm>
            <a:off x="1080734" y="27752000"/>
            <a:ext cx="2533757" cy="230832"/>
          </a:xfrm>
          <a:prstGeom prst="rect">
            <a:avLst/>
          </a:prstGeom>
          <a:noFill/>
        </p:spPr>
        <p:txBody>
          <a:bodyPr wrap="square" lIns="65000" rIns="65000" anchor="ctr">
            <a:spAutoFit/>
          </a:bodyPr>
          <a:lstStyle/>
          <a:p>
            <a:r>
              <a:rPr lang="en-US" sz="900" b="0" dirty="0">
                <a:solidFill>
                  <a:srgbClr val="505660"/>
                </a:solidFill>
                <a:latin typeface="Arial"/>
              </a:rPr>
              <a:t>Synthesis Results / using </a:t>
            </a:r>
            <a:r>
              <a:rPr lang="en-US" sz="900" b="0" dirty="0" err="1">
                <a:solidFill>
                  <a:srgbClr val="505660"/>
                </a:solidFill>
                <a:latin typeface="Arial"/>
              </a:rPr>
              <a:t>OpenROAD</a:t>
            </a:r>
            <a:r>
              <a:rPr lang="en-US" sz="900" b="0" dirty="0">
                <a:solidFill>
                  <a:srgbClr val="505660"/>
                </a:solidFill>
                <a:latin typeface="Arial"/>
              </a:rPr>
              <a:t> tools</a:t>
            </a:r>
            <a:endParaRPr sz="900" b="0" dirty="0">
              <a:solidFill>
                <a:srgbClr val="505660"/>
              </a:solidFill>
              <a:latin typeface="Arial"/>
            </a:endParaRPr>
          </a:p>
        </p:txBody>
      </p:sp>
      <p:sp>
        <p:nvSpPr>
          <p:cNvPr id="85" name="TextBox 84">
            <a:extLst>
              <a:ext uri="{FF2B5EF4-FFF2-40B4-BE49-F238E27FC236}">
                <a16:creationId xmlns:a16="http://schemas.microsoft.com/office/drawing/2014/main" id="{440FC871-A660-DAB5-2C68-68C353482203}"/>
              </a:ext>
            </a:extLst>
          </p:cNvPr>
          <p:cNvSpPr txBox="1"/>
          <p:nvPr/>
        </p:nvSpPr>
        <p:spPr>
          <a:xfrm>
            <a:off x="4462724" y="26451015"/>
            <a:ext cx="6002423" cy="1400383"/>
          </a:xfrm>
          <a:prstGeom prst="rect">
            <a:avLst/>
          </a:prstGeom>
          <a:noFill/>
        </p:spPr>
        <p:txBody>
          <a:bodyPr wrap="square" lIns="65000" rIns="65000" anchor="ctr">
            <a:spAutoFit/>
          </a:bodyPr>
          <a:lstStyle/>
          <a:p>
            <a:r>
              <a:rPr lang="en-US" altLang="ko-KR" sz="1300" b="1" dirty="0">
                <a:latin typeface="Arial" panose="020B0604020202020204" pitchFamily="34" charset="0"/>
                <a:cs typeface="Arial" panose="020B0604020202020204" pitchFamily="34" charset="0"/>
              </a:rPr>
              <a:t>Takeaway</a:t>
            </a:r>
          </a:p>
          <a:p>
            <a:endParaRPr lang="en-US" altLang="ko-KR" sz="1200" dirty="0">
              <a:latin typeface="Arial" panose="020B0604020202020204" pitchFamily="34" charset="0"/>
              <a:cs typeface="Arial" panose="020B0604020202020204" pitchFamily="34" charset="0"/>
            </a:endParaRPr>
          </a:p>
          <a:p>
            <a:r>
              <a:rPr lang="en-US" altLang="ko-KR" sz="1200" dirty="0">
                <a:latin typeface="Arial" panose="020B0604020202020204" pitchFamily="34" charset="0"/>
                <a:cs typeface="Arial" panose="020B0604020202020204" pitchFamily="34" charset="0"/>
              </a:rPr>
              <a:t>- Folding is monotonic on area/leakage but non-monotonic on critical path </a:t>
            </a:r>
          </a:p>
          <a:p>
            <a:r>
              <a:rPr lang="en-US" altLang="ko-KR" sz="1200" dirty="0">
                <a:latin typeface="Arial" panose="020B0604020202020204" pitchFamily="34" charset="0"/>
                <a:cs typeface="Arial" panose="020B0604020202020204" pitchFamily="34" charset="0"/>
              </a:rPr>
              <a:t>(mid-stage folding inserts MUX + accumulator in series, increasing serial depth)</a:t>
            </a:r>
          </a:p>
          <a:p>
            <a:r>
              <a:rPr lang="en-US" altLang="ko-KR" sz="1200" dirty="0">
                <a:latin typeface="Arial" panose="020B0604020202020204" pitchFamily="34" charset="0"/>
                <a:cs typeface="Arial" panose="020B0604020202020204" pitchFamily="34" charset="0"/>
              </a:rPr>
              <a:t>- 4-mul achieves the lowest PDP (5.6 </a:t>
            </a:r>
            <a:r>
              <a:rPr lang="en-US" altLang="ko-KR" sz="1200" dirty="0" err="1">
                <a:latin typeface="Arial" panose="020B0604020202020204" pitchFamily="34" charset="0"/>
                <a:cs typeface="Arial" panose="020B0604020202020204" pitchFamily="34" charset="0"/>
              </a:rPr>
              <a:t>nJ</a:t>
            </a:r>
            <a:r>
              <a:rPr lang="en-US" altLang="ko-KR" sz="1200" dirty="0">
                <a:latin typeface="Arial" panose="020B0604020202020204" pitchFamily="34" charset="0"/>
                <a:cs typeface="Arial" panose="020B0604020202020204" pitchFamily="34" charset="0"/>
              </a:rPr>
              <a:t>/op) but requires a relaxed 9.4 ns clock </a:t>
            </a:r>
          </a:p>
          <a:p>
            <a:r>
              <a:rPr lang="en-US" altLang="ko-KR" sz="1200" dirty="0">
                <a:latin typeface="Arial" panose="020B0604020202020204" pitchFamily="34" charset="0"/>
                <a:cs typeface="Arial" panose="020B0604020202020204" pitchFamily="34" charset="0"/>
              </a:rPr>
              <a:t>(energy optimum costs timing margin)</a:t>
            </a:r>
          </a:p>
          <a:p>
            <a:r>
              <a:rPr lang="en-US" altLang="ko-KR" sz="1200" dirty="0">
                <a:latin typeface="Arial" panose="020B0604020202020204" pitchFamily="34" charset="0"/>
                <a:cs typeface="Arial" panose="020B0604020202020204" pitchFamily="34" charset="0"/>
              </a:rPr>
              <a:t>- MMIO is a viable ISA-free alternative at +3.6 % chip area and +3 cycles vs Custom-0.</a:t>
            </a:r>
            <a:endParaRPr lang="en-US" sz="1200" b="0" dirty="0">
              <a:solidFill>
                <a:srgbClr val="505660"/>
              </a:solidFill>
              <a:latin typeface="Arial"/>
            </a:endParaRPr>
          </a:p>
        </p:txBody>
      </p:sp>
      <p:pic>
        <p:nvPicPr>
          <p:cNvPr id="33" name="그림 32">
            <a:extLst>
              <a:ext uri="{FF2B5EF4-FFF2-40B4-BE49-F238E27FC236}">
                <a16:creationId xmlns:a16="http://schemas.microsoft.com/office/drawing/2014/main" id="{59E6CD9D-ADE5-071F-9E6F-EC23A0892AF3}"/>
              </a:ext>
            </a:extLst>
          </p:cNvPr>
          <p:cNvPicPr>
            <a:picLocks noChangeAspect="1"/>
          </p:cNvPicPr>
          <p:nvPr/>
        </p:nvPicPr>
        <p:blipFill>
          <a:blip r:embed="rId18"/>
          <a:stretch>
            <a:fillRect/>
          </a:stretch>
        </p:blipFill>
        <p:spPr>
          <a:xfrm>
            <a:off x="240221" y="17429531"/>
            <a:ext cx="4114279" cy="2523424"/>
          </a:xfrm>
          <a:prstGeom prst="rect">
            <a:avLst/>
          </a:prstGeom>
        </p:spPr>
      </p:pic>
      <p:sp>
        <p:nvSpPr>
          <p:cNvPr id="40" name="TextBox 39">
            <a:extLst>
              <a:ext uri="{FF2B5EF4-FFF2-40B4-BE49-F238E27FC236}">
                <a16:creationId xmlns:a16="http://schemas.microsoft.com/office/drawing/2014/main" id="{42EBCBE0-F1F7-9648-5381-B4B990686601}"/>
              </a:ext>
            </a:extLst>
          </p:cNvPr>
          <p:cNvSpPr txBox="1"/>
          <p:nvPr/>
        </p:nvSpPr>
        <p:spPr>
          <a:xfrm>
            <a:off x="460547" y="19810109"/>
            <a:ext cx="4029370" cy="846386"/>
          </a:xfrm>
          <a:prstGeom prst="rect">
            <a:avLst/>
          </a:prstGeom>
          <a:noFill/>
        </p:spPr>
        <p:txBody>
          <a:bodyPr wrap="square" lIns="65000" rIns="65000" anchor="ctr">
            <a:spAutoFit/>
          </a:bodyPr>
          <a:lstStyle/>
          <a:p>
            <a:r>
              <a:rPr lang="en-US" sz="1300" b="1" dirty="0">
                <a:latin typeface="Arial"/>
              </a:rPr>
              <a:t>Folding Architecture</a:t>
            </a:r>
            <a:r>
              <a:rPr lang="en-US" sz="1300" b="0" dirty="0">
                <a:latin typeface="Arial"/>
              </a:rPr>
              <a:t> </a:t>
            </a:r>
            <a:r>
              <a:rPr lang="en-US" sz="1200" b="0" dirty="0">
                <a:latin typeface="Arial"/>
              </a:rPr>
              <a:t>is non-monotonic in critical path: </a:t>
            </a:r>
          </a:p>
          <a:p>
            <a:r>
              <a:rPr lang="en-US" sz="1200" b="0" dirty="0">
                <a:latin typeface="Arial"/>
              </a:rPr>
              <a:t>only mid-stage 4-mul exceeds the 8.65 ns core baseline by +0.57 ns. Full folding (1-mul) eliminates the adder tree and recovers timing.</a:t>
            </a:r>
            <a:endParaRPr sz="1200" b="0" dirty="0">
              <a:latin typeface="Arial"/>
            </a:endParaRPr>
          </a:p>
        </p:txBody>
      </p:sp>
      <p:sp>
        <p:nvSpPr>
          <p:cNvPr id="56" name="TextBox 55">
            <a:extLst>
              <a:ext uri="{FF2B5EF4-FFF2-40B4-BE49-F238E27FC236}">
                <a16:creationId xmlns:a16="http://schemas.microsoft.com/office/drawing/2014/main" id="{77B6682A-9149-BA89-B8EC-D28D625AE3DD}"/>
              </a:ext>
            </a:extLst>
          </p:cNvPr>
          <p:cNvSpPr txBox="1"/>
          <p:nvPr/>
        </p:nvSpPr>
        <p:spPr>
          <a:xfrm>
            <a:off x="5703789" y="19744774"/>
            <a:ext cx="3944653" cy="846386"/>
          </a:xfrm>
          <a:prstGeom prst="rect">
            <a:avLst/>
          </a:prstGeom>
          <a:noFill/>
        </p:spPr>
        <p:txBody>
          <a:bodyPr wrap="square" lIns="65000" rIns="65000" anchor="ctr">
            <a:spAutoFit/>
          </a:bodyPr>
          <a:lstStyle/>
          <a:p>
            <a:r>
              <a:rPr lang="en-US" sz="1300" b="1" dirty="0">
                <a:latin typeface="Arial"/>
              </a:rPr>
              <a:t>Dynamic power </a:t>
            </a:r>
            <a:r>
              <a:rPr lang="en-US" sz="1200" b="0" dirty="0">
                <a:latin typeface="Arial"/>
              </a:rPr>
              <a:t>is core-dominated (28 to 30 </a:t>
            </a:r>
            <a:r>
              <a:rPr lang="en-US" sz="1200" b="0" dirty="0" err="1">
                <a:latin typeface="Arial"/>
              </a:rPr>
              <a:t>mW</a:t>
            </a:r>
            <a:r>
              <a:rPr lang="en-US" sz="1200" b="0" dirty="0">
                <a:latin typeface="Arial"/>
              </a:rPr>
              <a:t> across all configs). Leakage is the structural differentiator — 8-mul shows 5× outlier due to 8 always-on multipliers + low-Vt cells.</a:t>
            </a:r>
            <a:endParaRPr sz="1200" b="0" dirty="0">
              <a:latin typeface="Arial"/>
            </a:endParaRPr>
          </a:p>
        </p:txBody>
      </p:sp>
      <p:sp>
        <p:nvSpPr>
          <p:cNvPr id="57" name="TextBox 56">
            <a:extLst>
              <a:ext uri="{FF2B5EF4-FFF2-40B4-BE49-F238E27FC236}">
                <a16:creationId xmlns:a16="http://schemas.microsoft.com/office/drawing/2014/main" id="{6F0EDA0A-346B-0804-D49A-2F3C74EC4240}"/>
              </a:ext>
            </a:extLst>
          </p:cNvPr>
          <p:cNvSpPr txBox="1"/>
          <p:nvPr/>
        </p:nvSpPr>
        <p:spPr>
          <a:xfrm>
            <a:off x="4735165" y="21121180"/>
            <a:ext cx="5381575" cy="1400383"/>
          </a:xfrm>
          <a:prstGeom prst="rect">
            <a:avLst/>
          </a:prstGeom>
          <a:noFill/>
        </p:spPr>
        <p:txBody>
          <a:bodyPr wrap="square" lIns="65000" rIns="65000" anchor="ctr">
            <a:spAutoFit/>
          </a:bodyPr>
          <a:lstStyle/>
          <a:p>
            <a:r>
              <a:rPr lang="en-US" altLang="ko-KR" sz="1300" b="1" dirty="0">
                <a:latin typeface="Arial"/>
              </a:rPr>
              <a:t>PDP = energy per dot-product (Power × Delay).</a:t>
            </a:r>
          </a:p>
          <a:p>
            <a:endParaRPr lang="en-US" altLang="ko-KR" sz="1200" dirty="0">
              <a:latin typeface="Arial"/>
            </a:endParaRPr>
          </a:p>
          <a:p>
            <a:r>
              <a:rPr lang="en-US" altLang="ko-KR" sz="1200" dirty="0">
                <a:latin typeface="Arial"/>
              </a:rPr>
              <a:t>• 4-mul: 5.6 </a:t>
            </a:r>
            <a:r>
              <a:rPr lang="en-US" altLang="ko-KR" sz="1200" dirty="0" err="1">
                <a:latin typeface="Arial"/>
              </a:rPr>
              <a:t>nJ</a:t>
            </a:r>
            <a:r>
              <a:rPr lang="en-US" altLang="ko-KR" sz="1200" dirty="0">
                <a:latin typeface="Arial"/>
              </a:rPr>
              <a:t>/op — best efficiency. Leakage −3× outweighs +1 cycle.</a:t>
            </a:r>
          </a:p>
          <a:p>
            <a:r>
              <a:rPr lang="en-US" altLang="ko-KR" sz="1200" dirty="0">
                <a:latin typeface="Arial"/>
              </a:rPr>
              <a:t>• 1-mul: 7.2 </a:t>
            </a:r>
            <a:r>
              <a:rPr lang="en-US" altLang="ko-KR" sz="1200" dirty="0" err="1">
                <a:latin typeface="Arial"/>
              </a:rPr>
              <a:t>nJ</a:t>
            </a:r>
            <a:r>
              <a:rPr lang="en-US" altLang="ko-KR" sz="1200" dirty="0">
                <a:latin typeface="Arial"/>
              </a:rPr>
              <a:t>/op — over-folded, +25 % vs 4-mul.</a:t>
            </a:r>
          </a:p>
          <a:p>
            <a:r>
              <a:rPr lang="en-US" altLang="ko-KR" sz="1200" dirty="0">
                <a:latin typeface="Arial"/>
              </a:rPr>
              <a:t>• Catch: 4-mul needs 9.4 ns clock (violates 9 ns).</a:t>
            </a:r>
          </a:p>
          <a:p>
            <a:endParaRPr lang="en-US" altLang="ko-KR" sz="1200" dirty="0">
              <a:latin typeface="Arial"/>
            </a:endParaRPr>
          </a:p>
          <a:p>
            <a:r>
              <a:rPr lang="en-US" altLang="ko-KR" sz="1200" dirty="0">
                <a:latin typeface="Arial"/>
              </a:rPr>
              <a:t>→ Energy optimum costs timing margin.</a:t>
            </a:r>
            <a:endParaRPr sz="1200" b="0" dirty="0">
              <a:latin typeface="Arial"/>
            </a:endParaRPr>
          </a:p>
        </p:txBody>
      </p:sp>
      <p:pic>
        <p:nvPicPr>
          <p:cNvPr id="58" name="그림 57">
            <a:extLst>
              <a:ext uri="{FF2B5EF4-FFF2-40B4-BE49-F238E27FC236}">
                <a16:creationId xmlns:a16="http://schemas.microsoft.com/office/drawing/2014/main" id="{F3E94A42-4987-7758-61E9-04011C8A5465}"/>
              </a:ext>
            </a:extLst>
          </p:cNvPr>
          <p:cNvPicPr>
            <a:picLocks noChangeAspect="1"/>
          </p:cNvPicPr>
          <p:nvPr/>
        </p:nvPicPr>
        <p:blipFill>
          <a:blip r:embed="rId19"/>
          <a:stretch>
            <a:fillRect/>
          </a:stretch>
        </p:blipFill>
        <p:spPr>
          <a:xfrm>
            <a:off x="338235" y="28088506"/>
            <a:ext cx="1446558" cy="1399895"/>
          </a:xfrm>
          <a:prstGeom prst="rect">
            <a:avLst/>
          </a:prstGeom>
          <a:ln w="38100">
            <a:solidFill>
              <a:srgbClr val="FF0000"/>
            </a:solidFill>
          </a:ln>
        </p:spPr>
      </p:pic>
      <p:sp>
        <p:nvSpPr>
          <p:cNvPr id="71" name="TextBox 70">
            <a:extLst>
              <a:ext uri="{FF2B5EF4-FFF2-40B4-BE49-F238E27FC236}">
                <a16:creationId xmlns:a16="http://schemas.microsoft.com/office/drawing/2014/main" id="{4182C46D-BABF-B2B0-6EE0-D4F35C087219}"/>
              </a:ext>
            </a:extLst>
          </p:cNvPr>
          <p:cNvSpPr txBox="1"/>
          <p:nvPr/>
        </p:nvSpPr>
        <p:spPr>
          <a:xfrm>
            <a:off x="1839196" y="29218505"/>
            <a:ext cx="2895969" cy="276999"/>
          </a:xfrm>
          <a:prstGeom prst="rect">
            <a:avLst/>
          </a:prstGeom>
          <a:noFill/>
        </p:spPr>
        <p:txBody>
          <a:bodyPr wrap="square" lIns="65000" rIns="65000" anchor="ctr">
            <a:spAutoFit/>
          </a:bodyPr>
          <a:lstStyle/>
          <a:p>
            <a:r>
              <a:rPr lang="en-US" sz="1200" dirty="0">
                <a:solidFill>
                  <a:srgbClr val="FF0000"/>
                </a:solidFill>
                <a:latin typeface="Arial"/>
              </a:rPr>
              <a:t>Paper link : https://works.do/IGuiaXE</a:t>
            </a:r>
            <a:endParaRPr lang="en-US" sz="1200" b="0" dirty="0">
              <a:solidFill>
                <a:srgbClr val="FF0000"/>
              </a:solidFill>
              <a:latin typeface="Arial"/>
            </a:endParaRPr>
          </a:p>
        </p:txBody>
      </p:sp>
      <p:sp>
        <p:nvSpPr>
          <p:cNvPr id="80" name="TextBox 79">
            <a:extLst>
              <a:ext uri="{FF2B5EF4-FFF2-40B4-BE49-F238E27FC236}">
                <a16:creationId xmlns:a16="http://schemas.microsoft.com/office/drawing/2014/main" id="{AB2CA5ED-8CF2-5B46-D212-F44969B66BA1}"/>
              </a:ext>
            </a:extLst>
          </p:cNvPr>
          <p:cNvSpPr txBox="1"/>
          <p:nvPr/>
        </p:nvSpPr>
        <p:spPr>
          <a:xfrm>
            <a:off x="1839195" y="29020576"/>
            <a:ext cx="8450699" cy="276999"/>
          </a:xfrm>
          <a:prstGeom prst="rect">
            <a:avLst/>
          </a:prstGeom>
          <a:noFill/>
        </p:spPr>
        <p:txBody>
          <a:bodyPr wrap="square" lIns="65000" rIns="65000" anchor="ctr">
            <a:spAutoFit/>
          </a:bodyPr>
          <a:lstStyle/>
          <a:p>
            <a:r>
              <a:rPr lang="en-US" sz="1200" dirty="0">
                <a:solidFill>
                  <a:srgbClr val="505660"/>
                </a:solidFill>
                <a:latin typeface="Arial"/>
              </a:rPr>
              <a:t>If</a:t>
            </a:r>
            <a:r>
              <a:rPr lang="ko-KR" altLang="en-US" sz="1200" dirty="0">
                <a:solidFill>
                  <a:srgbClr val="505660"/>
                </a:solidFill>
                <a:latin typeface="Arial"/>
              </a:rPr>
              <a:t> </a:t>
            </a:r>
            <a:r>
              <a:rPr lang="en-US" altLang="ko-KR" sz="1200" dirty="0">
                <a:solidFill>
                  <a:srgbClr val="505660"/>
                </a:solidFill>
                <a:latin typeface="Arial"/>
              </a:rPr>
              <a:t>you</a:t>
            </a:r>
            <a:r>
              <a:rPr lang="ko-KR" altLang="en-US" sz="1200" dirty="0">
                <a:solidFill>
                  <a:srgbClr val="505660"/>
                </a:solidFill>
                <a:latin typeface="Arial"/>
              </a:rPr>
              <a:t> </a:t>
            </a:r>
            <a:r>
              <a:rPr lang="en-US" altLang="ko-KR" sz="1200" dirty="0">
                <a:solidFill>
                  <a:srgbClr val="505660"/>
                </a:solidFill>
                <a:latin typeface="Arial"/>
              </a:rPr>
              <a:t>want</a:t>
            </a:r>
            <a:r>
              <a:rPr lang="ko-KR" altLang="en-US" sz="1200" dirty="0">
                <a:solidFill>
                  <a:srgbClr val="505660"/>
                </a:solidFill>
                <a:latin typeface="Arial"/>
              </a:rPr>
              <a:t> </a:t>
            </a:r>
            <a:r>
              <a:rPr lang="en-US" altLang="ko-KR" sz="1200" dirty="0">
                <a:solidFill>
                  <a:srgbClr val="505660"/>
                </a:solidFill>
                <a:latin typeface="Arial"/>
              </a:rPr>
              <a:t>more</a:t>
            </a:r>
            <a:r>
              <a:rPr lang="ko-KR" altLang="en-US" sz="1200" dirty="0">
                <a:solidFill>
                  <a:srgbClr val="505660"/>
                </a:solidFill>
                <a:latin typeface="Arial"/>
              </a:rPr>
              <a:t> </a:t>
            </a:r>
            <a:r>
              <a:rPr lang="en-US" altLang="ko-KR" sz="1200" dirty="0">
                <a:solidFill>
                  <a:srgbClr val="505660"/>
                </a:solidFill>
                <a:latin typeface="Arial"/>
              </a:rPr>
              <a:t>information about this project, please check QR code, rather than throwing question at me. Thank you; </a:t>
            </a:r>
          </a:p>
        </p:txBody>
      </p:sp>
    </p:spTree>
    <p:extLst>
      <p:ext uri="{BB962C8B-B14F-4D97-AF65-F5344CB8AC3E}">
        <p14:creationId xmlns:p14="http://schemas.microsoft.com/office/powerpoint/2010/main" val="1344531552"/>
      </p:ext>
    </p:extLst>
  </p:cSld>
  <p:clrMapOvr>
    <a:masterClrMapping/>
  </p:clrMapOvr>
</p:sld>
</file>

<file path=ppt/theme/theme1.xml><?xml version="1.0" encoding="utf-8"?>
<a:theme xmlns:a="http://schemas.openxmlformats.org/drawingml/2006/main" name="Office 2013 - 2022 테마">
  <a:themeElements>
    <a:clrScheme name="Office 2013 - 2022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0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BAF7AAA-A546-41B1-8D5D-BE8A70F18ACB}">
  <we:reference id="wa200010001" version="1.0.0.1" store="en-US" storeType="OMEX"/>
  <we:alternateReferences>
    <we:reference id="wa200010001" version="1.0.0.1" store="en-US" storeType="OMEX"/>
  </we:alternateReferences>
  <we:properties>
    <we:property name="claude.fileId" value="&quot;6367764d-06c3-4dcf-bc10-69cb7d8d924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432</TotalTime>
  <Words>1208</Words>
  <Application>Microsoft Office PowerPoint</Application>
  <PresentationFormat>사용자 지정</PresentationFormat>
  <Paragraphs>202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Arial</vt:lpstr>
      <vt:lpstr>Calibri</vt:lpstr>
      <vt:lpstr>Calibri Light</vt:lpstr>
      <vt:lpstr>Cambria Math</vt:lpstr>
      <vt:lpstr>Wingdings</vt:lpstr>
      <vt:lpstr>Office 2013 - 2022 테마</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우준하[ 학부재학 / 전기전자공학부 ]</cp:lastModifiedBy>
  <cp:revision>71</cp:revision>
  <dcterms:created xsi:type="dcterms:W3CDTF">2026-05-26T05:50:27Z</dcterms:created>
  <dcterms:modified xsi:type="dcterms:W3CDTF">2026-05-28T22:03:25Z</dcterms:modified>
</cp:coreProperties>
</file>