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
  </p:notesMasterIdLst>
  <p:sldIdLst>
    <p:sldId id="256" r:id="rId2"/>
  </p:sldIdLst>
  <p:sldSz cx="21383625" cy="30275213"/>
  <p:notesSz cx="30275213" cy="428037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001A"/>
    <a:srgbClr val="8B0029"/>
    <a:srgbClr val="862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A50803-4579-49AC-9EB2-AEA561D3EEFF}" v="5" dt="2026-05-28T10:38:04.5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3" d="100"/>
          <a:sy n="53" d="100"/>
        </p:scale>
        <p:origin x="293" y="-12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NHA WOO" userId="47f54dc779eff470" providerId="LiveId" clId="{3AF03CC5-4BAE-4D72-8AB4-0875E59FF27C}"/>
    <pc:docChg chg="undo custSel modSld">
      <pc:chgData name="JUNHA WOO" userId="47f54dc779eff470" providerId="LiveId" clId="{3AF03CC5-4BAE-4D72-8AB4-0875E59FF27C}" dt="2026-05-28T21:42:03.134" v="642" actId="1076"/>
      <pc:docMkLst>
        <pc:docMk/>
      </pc:docMkLst>
      <pc:sldChg chg="addSp delSp modSp mod">
        <pc:chgData name="JUNHA WOO" userId="47f54dc779eff470" providerId="LiveId" clId="{3AF03CC5-4BAE-4D72-8AB4-0875E59FF27C}" dt="2026-05-28T21:42:03.134" v="642" actId="1076"/>
        <pc:sldMkLst>
          <pc:docMk/>
          <pc:sldMk cId="0" sldId="256"/>
        </pc:sldMkLst>
        <pc:spChg chg="mod">
          <ac:chgData name="JUNHA WOO" userId="47f54dc779eff470" providerId="LiveId" clId="{3AF03CC5-4BAE-4D72-8AB4-0875E59FF27C}" dt="2026-05-28T21:41:59.019" v="641" actId="1076"/>
          <ac:spMkLst>
            <pc:docMk/>
            <pc:sldMk cId="0" sldId="256"/>
            <ac:spMk id="3" creationId="{00000000-0000-0000-0000-000000000000}"/>
          </ac:spMkLst>
        </pc:spChg>
        <pc:spChg chg="add mod">
          <ac:chgData name="JUNHA WOO" userId="47f54dc779eff470" providerId="LiveId" clId="{3AF03CC5-4BAE-4D72-8AB4-0875E59FF27C}" dt="2026-05-28T10:40:35.647" v="632" actId="20577"/>
          <ac:spMkLst>
            <pc:docMk/>
            <pc:sldMk cId="0" sldId="256"/>
            <ac:spMk id="5" creationId="{00000000-0000-0000-0000-000000000000}"/>
          </ac:spMkLst>
        </pc:spChg>
        <pc:spChg chg="mod">
          <ac:chgData name="JUNHA WOO" userId="47f54dc779eff470" providerId="LiveId" clId="{3AF03CC5-4BAE-4D72-8AB4-0875E59FF27C}" dt="2026-05-28T10:41:22.121" v="639" actId="1037"/>
          <ac:spMkLst>
            <pc:docMk/>
            <pc:sldMk cId="0" sldId="256"/>
            <ac:spMk id="8" creationId="{FB70FF64-5DCA-ACC2-B8B2-FB96CD0695C9}"/>
          </ac:spMkLst>
        </pc:spChg>
        <pc:spChg chg="mod">
          <ac:chgData name="JUNHA WOO" userId="47f54dc779eff470" providerId="LiveId" clId="{3AF03CC5-4BAE-4D72-8AB4-0875E59FF27C}" dt="2026-05-28T21:42:03.134" v="642" actId="1076"/>
          <ac:spMkLst>
            <pc:docMk/>
            <pc:sldMk cId="0" sldId="256"/>
            <ac:spMk id="13" creationId="{00000000-0000-0000-0000-000000000000}"/>
          </ac:spMkLst>
        </pc:spChg>
        <pc:spChg chg="mod">
          <ac:chgData name="JUNHA WOO" userId="47f54dc779eff470" providerId="LiveId" clId="{3AF03CC5-4BAE-4D72-8AB4-0875E59FF27C}" dt="2026-05-28T10:08:48.786" v="132" actId="14100"/>
          <ac:spMkLst>
            <pc:docMk/>
            <pc:sldMk cId="0" sldId="256"/>
            <ac:spMk id="22" creationId="{EE0FC683-0DDE-83AC-C743-ADD3FC8C3201}"/>
          </ac:spMkLst>
        </pc:spChg>
        <pc:spChg chg="mod">
          <ac:chgData name="JUNHA WOO" userId="47f54dc779eff470" providerId="LiveId" clId="{3AF03CC5-4BAE-4D72-8AB4-0875E59FF27C}" dt="2026-05-28T10:08:56.999" v="133" actId="14100"/>
          <ac:spMkLst>
            <pc:docMk/>
            <pc:sldMk cId="0" sldId="256"/>
            <ac:spMk id="27" creationId="{78662667-FEE6-81E9-120B-1AF41BE450C5}"/>
          </ac:spMkLst>
        </pc:spChg>
        <pc:spChg chg="mod">
          <ac:chgData name="JUNHA WOO" userId="47f54dc779eff470" providerId="LiveId" clId="{3AF03CC5-4BAE-4D72-8AB4-0875E59FF27C}" dt="2026-05-28T10:38:22.369" v="598" actId="1038"/>
          <ac:spMkLst>
            <pc:docMk/>
            <pc:sldMk cId="0" sldId="256"/>
            <ac:spMk id="32" creationId="{00000000-0000-0000-0000-000000000000}"/>
          </ac:spMkLst>
        </pc:spChg>
        <pc:spChg chg="mod">
          <ac:chgData name="JUNHA WOO" userId="47f54dc779eff470" providerId="LiveId" clId="{3AF03CC5-4BAE-4D72-8AB4-0875E59FF27C}" dt="2026-05-28T10:39:23.128" v="603" actId="1035"/>
          <ac:spMkLst>
            <pc:docMk/>
            <pc:sldMk cId="0" sldId="256"/>
            <ac:spMk id="34" creationId="{00000000-0000-0000-0000-000000000000}"/>
          </ac:spMkLst>
        </pc:spChg>
        <pc:spChg chg="del mod">
          <ac:chgData name="JUNHA WOO" userId="47f54dc779eff470" providerId="LiveId" clId="{3AF03CC5-4BAE-4D72-8AB4-0875E59FF27C}" dt="2026-05-28T10:07:24.149" v="75"/>
          <ac:spMkLst>
            <pc:docMk/>
            <pc:sldMk cId="0" sldId="256"/>
            <ac:spMk id="43" creationId="{00000000-0000-0000-0000-000000000000}"/>
          </ac:spMkLst>
        </pc:spChg>
        <pc:spChg chg="del">
          <ac:chgData name="JUNHA WOO" userId="47f54dc779eff470" providerId="LiveId" clId="{3AF03CC5-4BAE-4D72-8AB4-0875E59FF27C}" dt="2026-05-28T10:04:48.291" v="0" actId="21"/>
          <ac:spMkLst>
            <pc:docMk/>
            <pc:sldMk cId="0" sldId="256"/>
            <ac:spMk id="45" creationId="{00000000-0000-0000-0000-000000000000}"/>
          </ac:spMkLst>
        </pc:spChg>
        <pc:spChg chg="mod">
          <ac:chgData name="JUNHA WOO" userId="47f54dc779eff470" providerId="LiveId" clId="{3AF03CC5-4BAE-4D72-8AB4-0875E59FF27C}" dt="2026-05-28T10:37:11.591" v="437" actId="1036"/>
          <ac:spMkLst>
            <pc:docMk/>
            <pc:sldMk cId="0" sldId="256"/>
            <ac:spMk id="46" creationId="{00000000-0000-0000-0000-000000000000}"/>
          </ac:spMkLst>
        </pc:spChg>
        <pc:spChg chg="mod">
          <ac:chgData name="JUNHA WOO" userId="47f54dc779eff470" providerId="LiveId" clId="{3AF03CC5-4BAE-4D72-8AB4-0875E59FF27C}" dt="2026-05-28T10:37:11.591" v="437" actId="1036"/>
          <ac:spMkLst>
            <pc:docMk/>
            <pc:sldMk cId="0" sldId="256"/>
            <ac:spMk id="47" creationId="{00000000-0000-0000-0000-000000000000}"/>
          </ac:spMkLst>
        </pc:spChg>
        <pc:spChg chg="mod">
          <ac:chgData name="JUNHA WOO" userId="47f54dc779eff470" providerId="LiveId" clId="{3AF03CC5-4BAE-4D72-8AB4-0875E59FF27C}" dt="2026-05-28T10:37:11.591" v="437" actId="1036"/>
          <ac:spMkLst>
            <pc:docMk/>
            <pc:sldMk cId="0" sldId="256"/>
            <ac:spMk id="48" creationId="{00000000-0000-0000-0000-000000000000}"/>
          </ac:spMkLst>
        </pc:spChg>
        <pc:spChg chg="mod">
          <ac:chgData name="JUNHA WOO" userId="47f54dc779eff470" providerId="LiveId" clId="{3AF03CC5-4BAE-4D72-8AB4-0875E59FF27C}" dt="2026-05-28T10:37:11.591" v="437" actId="1036"/>
          <ac:spMkLst>
            <pc:docMk/>
            <pc:sldMk cId="0" sldId="256"/>
            <ac:spMk id="49" creationId="{00000000-0000-0000-0000-000000000000}"/>
          </ac:spMkLst>
        </pc:spChg>
        <pc:spChg chg="mod">
          <ac:chgData name="JUNHA WOO" userId="47f54dc779eff470" providerId="LiveId" clId="{3AF03CC5-4BAE-4D72-8AB4-0875E59FF27C}" dt="2026-05-28T10:41:06.675" v="635" actId="1036"/>
          <ac:spMkLst>
            <pc:docMk/>
            <pc:sldMk cId="0" sldId="256"/>
            <ac:spMk id="53" creationId="{00000000-0000-0000-0000-000000000000}"/>
          </ac:spMkLst>
        </pc:spChg>
        <pc:grpChg chg="mod">
          <ac:chgData name="JUNHA WOO" userId="47f54dc779eff470" providerId="LiveId" clId="{3AF03CC5-4BAE-4D72-8AB4-0875E59FF27C}" dt="2026-05-28T10:36:04.813" v="401" actId="1038"/>
          <ac:grpSpMkLst>
            <pc:docMk/>
            <pc:sldMk cId="0" sldId="256"/>
            <ac:grpSpMk id="6" creationId="{5C4298BA-CDF7-58F3-89CB-4DF64718EC43}"/>
          </ac:grpSpMkLst>
        </pc:grpChg>
        <pc:graphicFrameChg chg="mod modGraphic">
          <ac:chgData name="JUNHA WOO" userId="47f54dc779eff470" providerId="LiveId" clId="{3AF03CC5-4BAE-4D72-8AB4-0875E59FF27C}" dt="2026-05-28T10:05:14.018" v="6" actId="1076"/>
          <ac:graphicFrameMkLst>
            <pc:docMk/>
            <pc:sldMk cId="0" sldId="256"/>
            <ac:graphicFrameMk id="44" creationId="{00000000-0000-0000-0000-000000000000}"/>
          </ac:graphicFrameMkLst>
        </pc:graphicFrameChg>
        <pc:picChg chg="mod">
          <ac:chgData name="JUNHA WOO" userId="47f54dc779eff470" providerId="LiveId" clId="{3AF03CC5-4BAE-4D72-8AB4-0875E59FF27C}" dt="2026-05-28T10:39:30.513" v="623" actId="1036"/>
          <ac:picMkLst>
            <pc:docMk/>
            <pc:sldMk cId="0" sldId="256"/>
            <ac:picMk id="7" creationId="{E5C9383C-B706-2F6D-65C5-447E30A00FA5}"/>
          </ac:picMkLst>
        </pc:picChg>
        <pc:picChg chg="mod">
          <ac:chgData name="JUNHA WOO" userId="47f54dc779eff470" providerId="LiveId" clId="{3AF03CC5-4BAE-4D72-8AB4-0875E59FF27C}" dt="2026-05-28T10:37:11.591" v="437" actId="1036"/>
          <ac:picMkLst>
            <pc:docMk/>
            <pc:sldMk cId="0" sldId="256"/>
            <ac:picMk id="5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341682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ko-KR" altLang="en-US"/>
              <a:t>마스터 제목 스타일 편집</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2333133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654336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ko-KR" altLang="en-US"/>
              <a:t>마스터 제목 스타일 편집</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0348842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778800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1472912" y="11058863"/>
            <a:ext cx="9046274" cy="1626592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0825461" y="11058863"/>
            <a:ext cx="9090826" cy="16265921"/>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5/29/2026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044072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5/29/2026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6827186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5/29/2026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2400179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961003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C764DE79-268F-4C1A-8933-263129D2AF90}" type="datetimeFigureOut">
              <a:rPr lang="en-US" dirty="0"/>
              <a:t>5/29/2026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689144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8932327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5/29/2026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0733482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7915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C764DE79-268F-4C1A-8933-263129D2AF90}" type="datetimeFigureOut">
              <a:rPr lang="en-US" dirty="0"/>
              <a:t>5/29/2026</a:t>
            </a:fld>
            <a:endParaRPr lang="en-US" dirty="0"/>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246749385"/>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2138324" rtl="0" eaLnBrk="1" latinLnBrk="1"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1"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1"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1"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1" hangingPunct="1">
        <a:defRPr sz="4209" kern="1200">
          <a:solidFill>
            <a:schemeClr val="tx1"/>
          </a:solidFill>
          <a:latin typeface="+mn-lt"/>
          <a:ea typeface="+mn-ea"/>
          <a:cs typeface="+mn-cs"/>
        </a:defRPr>
      </a:lvl1pPr>
      <a:lvl2pPr marL="1069162" algn="l" defTabSz="2138324" rtl="0" eaLnBrk="1" latinLnBrk="1" hangingPunct="1">
        <a:defRPr sz="4209" kern="1200">
          <a:solidFill>
            <a:schemeClr val="tx1"/>
          </a:solidFill>
          <a:latin typeface="+mn-lt"/>
          <a:ea typeface="+mn-ea"/>
          <a:cs typeface="+mn-cs"/>
        </a:defRPr>
      </a:lvl2pPr>
      <a:lvl3pPr marL="2138324" algn="l" defTabSz="2138324" rtl="0" eaLnBrk="1" latinLnBrk="1" hangingPunct="1">
        <a:defRPr sz="4209" kern="1200">
          <a:solidFill>
            <a:schemeClr val="tx1"/>
          </a:solidFill>
          <a:latin typeface="+mn-lt"/>
          <a:ea typeface="+mn-ea"/>
          <a:cs typeface="+mn-cs"/>
        </a:defRPr>
      </a:lvl3pPr>
      <a:lvl4pPr marL="3207487" algn="l" defTabSz="2138324" rtl="0" eaLnBrk="1" latinLnBrk="1" hangingPunct="1">
        <a:defRPr sz="4209" kern="1200">
          <a:solidFill>
            <a:schemeClr val="tx1"/>
          </a:solidFill>
          <a:latin typeface="+mn-lt"/>
          <a:ea typeface="+mn-ea"/>
          <a:cs typeface="+mn-cs"/>
        </a:defRPr>
      </a:lvl4pPr>
      <a:lvl5pPr marL="4276649" algn="l" defTabSz="2138324" rtl="0" eaLnBrk="1" latinLnBrk="1" hangingPunct="1">
        <a:defRPr sz="4209" kern="1200">
          <a:solidFill>
            <a:schemeClr val="tx1"/>
          </a:solidFill>
          <a:latin typeface="+mn-lt"/>
          <a:ea typeface="+mn-ea"/>
          <a:cs typeface="+mn-cs"/>
        </a:defRPr>
      </a:lvl5pPr>
      <a:lvl6pPr marL="5345811" algn="l" defTabSz="2138324" rtl="0" eaLnBrk="1" latinLnBrk="1" hangingPunct="1">
        <a:defRPr sz="4209" kern="1200">
          <a:solidFill>
            <a:schemeClr val="tx1"/>
          </a:solidFill>
          <a:latin typeface="+mn-lt"/>
          <a:ea typeface="+mn-ea"/>
          <a:cs typeface="+mn-cs"/>
        </a:defRPr>
      </a:lvl6pPr>
      <a:lvl7pPr marL="6414973" algn="l" defTabSz="2138324" rtl="0" eaLnBrk="1" latinLnBrk="1" hangingPunct="1">
        <a:defRPr sz="4209" kern="1200">
          <a:solidFill>
            <a:schemeClr val="tx1"/>
          </a:solidFill>
          <a:latin typeface="+mn-lt"/>
          <a:ea typeface="+mn-ea"/>
          <a:cs typeface="+mn-cs"/>
        </a:defRPr>
      </a:lvl7pPr>
      <a:lvl8pPr marL="7484135" algn="l" defTabSz="2138324" rtl="0" eaLnBrk="1" latinLnBrk="1" hangingPunct="1">
        <a:defRPr sz="4209" kern="1200">
          <a:solidFill>
            <a:schemeClr val="tx1"/>
          </a:solidFill>
          <a:latin typeface="+mn-lt"/>
          <a:ea typeface="+mn-ea"/>
          <a:cs typeface="+mn-cs"/>
        </a:defRPr>
      </a:lvl8pPr>
      <a:lvl9pPr marL="8553298" algn="l" defTabSz="2138324" rtl="0" eaLnBrk="1" latinLnBrk="1"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175" y="0"/>
            <a:ext cx="21383625" cy="3540369"/>
          </a:xfrm>
          <a:prstGeom prst="rect">
            <a:avLst/>
          </a:prstGeom>
          <a:solidFill>
            <a:srgbClr val="7C001A"/>
          </a:solidFill>
          <a:ln/>
        </p:spPr>
        <p:txBody>
          <a:bodyPr/>
          <a:lstStyle/>
          <a:p>
            <a:endParaRPr lang="ko-KR" altLang="en-US" sz="899" dirty="0"/>
          </a:p>
        </p:txBody>
      </p:sp>
      <p:sp>
        <p:nvSpPr>
          <p:cNvPr id="4" name="Shape 2"/>
          <p:cNvSpPr/>
          <p:nvPr/>
        </p:nvSpPr>
        <p:spPr>
          <a:xfrm>
            <a:off x="10691812" y="0"/>
            <a:ext cx="0" cy="30275213"/>
          </a:xfrm>
          <a:prstGeom prst="line">
            <a:avLst/>
          </a:prstGeom>
          <a:noFill/>
          <a:ln w="19050">
            <a:solidFill>
              <a:srgbClr val="B3B3B3"/>
            </a:solidFill>
            <a:prstDash val="solid"/>
          </a:ln>
        </p:spPr>
        <p:txBody>
          <a:bodyPr/>
          <a:lstStyle/>
          <a:p>
            <a:endParaRPr lang="ko-KR" altLang="en-US" sz="899"/>
          </a:p>
        </p:txBody>
      </p:sp>
      <p:pic>
        <p:nvPicPr>
          <p:cNvPr id="11" name="그림 10">
            <a:extLst>
              <a:ext uri="{FF2B5EF4-FFF2-40B4-BE49-F238E27FC236}">
                <a16:creationId xmlns:a16="http://schemas.microsoft.com/office/drawing/2014/main" id="{D0F512B5-7B94-376D-EB36-079536E5484C}"/>
              </a:ext>
            </a:extLst>
          </p:cNvPr>
          <p:cNvPicPr>
            <a:picLocks noChangeAspect="1"/>
          </p:cNvPicPr>
          <p:nvPr/>
        </p:nvPicPr>
        <p:blipFill>
          <a:blip r:embed="rId3"/>
          <a:stretch>
            <a:fillRect/>
          </a:stretch>
        </p:blipFill>
        <p:spPr>
          <a:xfrm>
            <a:off x="0" y="0"/>
            <a:ext cx="1587674" cy="1838960"/>
          </a:xfrm>
          <a:prstGeom prst="rect">
            <a:avLst/>
          </a:prstGeom>
        </p:spPr>
      </p:pic>
      <p:sp>
        <p:nvSpPr>
          <p:cNvPr id="12" name="TextBox 11"/>
          <p:cNvSpPr txBox="1"/>
          <p:nvPr/>
        </p:nvSpPr>
        <p:spPr>
          <a:xfrm>
            <a:off x="11341812" y="822960"/>
            <a:ext cx="9841813" cy="390876"/>
          </a:xfrm>
          <a:prstGeom prst="rect">
            <a:avLst/>
          </a:prstGeom>
          <a:noFill/>
        </p:spPr>
        <p:txBody>
          <a:bodyPr wrap="square" lIns="45720" tIns="18288" rIns="45720" bIns="18288" anchor="ctr">
            <a:spAutoFit/>
          </a:bodyPr>
          <a:lstStyle/>
          <a:p>
            <a:pPr algn="ctr"/>
            <a:r>
              <a:rPr sz="2300" b="1" dirty="0">
                <a:solidFill>
                  <a:schemeClr val="bg1"/>
                </a:solidFill>
                <a:latin typeface="Arial"/>
              </a:rPr>
              <a:t>Self-Supervised Modulation Classification under Varying SNR</a:t>
            </a:r>
          </a:p>
        </p:txBody>
      </p:sp>
      <p:sp>
        <p:nvSpPr>
          <p:cNvPr id="13" name="TextBox 12"/>
          <p:cNvSpPr txBox="1"/>
          <p:nvPr/>
        </p:nvSpPr>
        <p:spPr>
          <a:xfrm>
            <a:off x="11663847" y="1285502"/>
            <a:ext cx="9241813" cy="221599"/>
          </a:xfrm>
          <a:prstGeom prst="rect">
            <a:avLst/>
          </a:prstGeom>
          <a:noFill/>
        </p:spPr>
        <p:txBody>
          <a:bodyPr wrap="square" lIns="45720" tIns="18288" rIns="45720" bIns="18288" anchor="ctr">
            <a:spAutoFit/>
          </a:bodyPr>
          <a:lstStyle/>
          <a:p>
            <a:pPr algn="ctr"/>
            <a:r>
              <a:rPr sz="1200" b="0" dirty="0">
                <a:solidFill>
                  <a:schemeClr val="bg1"/>
                </a:solidFill>
                <a:latin typeface="Arial"/>
              </a:rPr>
              <a:t>Label-Efficient I/Q Modulation Classification with Contrastive Pretraining</a:t>
            </a:r>
          </a:p>
        </p:txBody>
      </p:sp>
      <p:sp>
        <p:nvSpPr>
          <p:cNvPr id="14" name="TextBox 13"/>
          <p:cNvSpPr txBox="1"/>
          <p:nvPr/>
        </p:nvSpPr>
        <p:spPr>
          <a:xfrm>
            <a:off x="11433487" y="2255218"/>
            <a:ext cx="9791813" cy="221599"/>
          </a:xfrm>
          <a:prstGeom prst="rect">
            <a:avLst/>
          </a:prstGeom>
          <a:noFill/>
        </p:spPr>
        <p:txBody>
          <a:bodyPr wrap="square" lIns="45720" tIns="18288" rIns="45720" bIns="18288" anchor="ctr">
            <a:spAutoFit/>
          </a:bodyPr>
          <a:lstStyle/>
          <a:p>
            <a:pPr algn="ctr"/>
            <a:r>
              <a:rPr sz="1200" b="0" dirty="0">
                <a:solidFill>
                  <a:schemeClr val="bg1"/>
                </a:solidFill>
                <a:latin typeface="Arial"/>
              </a:rPr>
              <a:t>Woo, Jun Ha | School of Electrical Engineering, Korea University | jerry229@korea.ac.kr</a:t>
            </a:r>
          </a:p>
        </p:txBody>
      </p:sp>
      <p:sp>
        <p:nvSpPr>
          <p:cNvPr id="15" name="Rectangle 14"/>
          <p:cNvSpPr/>
          <p:nvPr/>
        </p:nvSpPr>
        <p:spPr>
          <a:xfrm>
            <a:off x="11194732" y="3836890"/>
            <a:ext cx="98298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313604" y="3900785"/>
            <a:ext cx="9592056" cy="338554"/>
          </a:xfrm>
          <a:prstGeom prst="rect">
            <a:avLst/>
          </a:prstGeom>
          <a:noFill/>
        </p:spPr>
        <p:txBody>
          <a:bodyPr wrap="square" lIns="65000" rIns="65000" anchor="ctr">
            <a:spAutoFit/>
          </a:bodyPr>
          <a:lstStyle/>
          <a:p>
            <a:pPr algn="l"/>
            <a:r>
              <a:rPr sz="1600" b="1" dirty="0">
                <a:solidFill>
                  <a:srgbClr val="FFFFFF"/>
                </a:solidFill>
                <a:latin typeface="Arial"/>
              </a:rPr>
              <a:t>1. Motivation / Setup</a:t>
            </a:r>
          </a:p>
        </p:txBody>
      </p:sp>
      <p:sp>
        <p:nvSpPr>
          <p:cNvPr id="17" name="Rectangle 16"/>
          <p:cNvSpPr/>
          <p:nvPr/>
        </p:nvSpPr>
        <p:spPr>
          <a:xfrm>
            <a:off x="11194732" y="10808724"/>
            <a:ext cx="98298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1313604" y="10880573"/>
            <a:ext cx="9592056" cy="320040"/>
          </a:xfrm>
          <a:prstGeom prst="rect">
            <a:avLst/>
          </a:prstGeom>
          <a:noFill/>
        </p:spPr>
        <p:txBody>
          <a:bodyPr wrap="square" lIns="65000" rIns="65000" anchor="ctr">
            <a:spAutoFit/>
          </a:bodyPr>
          <a:lstStyle/>
          <a:p>
            <a:r>
              <a:rPr sz="1600" b="1" dirty="0">
                <a:solidFill>
                  <a:srgbClr val="FFFFFF"/>
                </a:solidFill>
                <a:latin typeface="Arial"/>
              </a:rPr>
              <a:t>2. Low-label SL vs SSL Gain</a:t>
            </a:r>
          </a:p>
        </p:txBody>
      </p:sp>
      <p:sp>
        <p:nvSpPr>
          <p:cNvPr id="19" name="Rectangle 18"/>
          <p:cNvSpPr/>
          <p:nvPr/>
        </p:nvSpPr>
        <p:spPr>
          <a:xfrm>
            <a:off x="11194732" y="16866832"/>
            <a:ext cx="98298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1313604" y="16979432"/>
            <a:ext cx="9592056" cy="276999"/>
          </a:xfrm>
          <a:prstGeom prst="rect">
            <a:avLst/>
          </a:prstGeom>
          <a:noFill/>
        </p:spPr>
        <p:txBody>
          <a:bodyPr wrap="square" lIns="65000" rIns="65000" anchor="ctr">
            <a:spAutoFit/>
          </a:bodyPr>
          <a:lstStyle/>
          <a:p>
            <a:pPr algn="l"/>
            <a:r>
              <a:rPr sz="1600" b="1" dirty="0">
                <a:solidFill>
                  <a:srgbClr val="FFFFFF"/>
                </a:solidFill>
                <a:latin typeface="Arial"/>
              </a:rPr>
              <a:t>3. Added Methods and Per-head SSL Gain</a:t>
            </a:r>
          </a:p>
        </p:txBody>
      </p:sp>
      <p:graphicFrame>
        <p:nvGraphicFramePr>
          <p:cNvPr id="30" name="Table 29"/>
          <p:cNvGraphicFramePr>
            <a:graphicFrameLocks noGrp="1"/>
          </p:cNvGraphicFramePr>
          <p:nvPr>
            <p:extLst>
              <p:ext uri="{D42A27DB-BD31-4B8C-83A1-F6EECF244321}">
                <p14:modId xmlns:p14="http://schemas.microsoft.com/office/powerpoint/2010/main" val="1376152831"/>
              </p:ext>
            </p:extLst>
          </p:nvPr>
        </p:nvGraphicFramePr>
        <p:xfrm>
          <a:off x="16199632" y="17571461"/>
          <a:ext cx="4669900" cy="1650000"/>
        </p:xfrm>
        <a:graphic>
          <a:graphicData uri="http://schemas.openxmlformats.org/drawingml/2006/table">
            <a:tbl>
              <a:tblPr firstRow="1" bandRow="1">
                <a:tableStyleId>{5C22544A-7EE6-4342-B048-85BDC9FD1C3A}</a:tableStyleId>
              </a:tblPr>
              <a:tblGrid>
                <a:gridCol w="2334950">
                  <a:extLst>
                    <a:ext uri="{9D8B030D-6E8A-4147-A177-3AD203B41FA5}">
                      <a16:colId xmlns:a16="http://schemas.microsoft.com/office/drawing/2014/main" val="20000"/>
                    </a:ext>
                  </a:extLst>
                </a:gridCol>
                <a:gridCol w="2334950">
                  <a:extLst>
                    <a:ext uri="{9D8B030D-6E8A-4147-A177-3AD203B41FA5}">
                      <a16:colId xmlns:a16="http://schemas.microsoft.com/office/drawing/2014/main" val="20001"/>
                    </a:ext>
                  </a:extLst>
                </a:gridCol>
              </a:tblGrid>
              <a:tr h="275000">
                <a:tc>
                  <a:txBody>
                    <a:bodyPr/>
                    <a:lstStyle/>
                    <a:p>
                      <a:pPr algn="ctr"/>
                      <a:r>
                        <a:rPr sz="1200" b="1" dirty="0">
                          <a:solidFill>
                            <a:srgbClr val="FFFFFF"/>
                          </a:solidFill>
                          <a:latin typeface="Arial"/>
                        </a:rPr>
                        <a:t>Method</a:t>
                      </a:r>
                    </a:p>
                  </a:txBody>
                  <a:tcPr>
                    <a:solidFill>
                      <a:srgbClr val="760018"/>
                    </a:solidFill>
                  </a:tcPr>
                </a:tc>
                <a:tc>
                  <a:txBody>
                    <a:bodyPr/>
                    <a:lstStyle/>
                    <a:p>
                      <a:pPr algn="ctr"/>
                      <a:r>
                        <a:rPr sz="1200" b="1">
                          <a:solidFill>
                            <a:srgbClr val="FFFFFF"/>
                          </a:solidFill>
                          <a:latin typeface="Arial"/>
                        </a:rPr>
                        <a:t>Role</a:t>
                      </a:r>
                    </a:p>
                  </a:txBody>
                  <a:tcPr>
                    <a:solidFill>
                      <a:srgbClr val="760018"/>
                    </a:solidFill>
                  </a:tcPr>
                </a:tc>
                <a:extLst>
                  <a:ext uri="{0D108BD9-81ED-4DB2-BD59-A6C34878D82A}">
                    <a16:rowId xmlns:a16="http://schemas.microsoft.com/office/drawing/2014/main" val="10000"/>
                  </a:ext>
                </a:extLst>
              </a:tr>
              <a:tr h="275000">
                <a:tc>
                  <a:txBody>
                    <a:bodyPr/>
                    <a:lstStyle/>
                    <a:p>
                      <a:pPr algn="ctr"/>
                      <a:r>
                        <a:rPr lang="en-US" sz="1200" b="0">
                          <a:solidFill>
                            <a:srgbClr val="23262C"/>
                          </a:solidFill>
                          <a:latin typeface="Arial"/>
                        </a:rPr>
                        <a:t>SL</a:t>
                      </a:r>
                      <a:endParaRPr lang="en-US" sz="1200" b="0" dirty="0">
                        <a:solidFill>
                          <a:srgbClr val="23262C"/>
                        </a:solidFill>
                        <a:latin typeface="Arial"/>
                      </a:endParaRPr>
                    </a:p>
                  </a:txBody>
                  <a:tcPr>
                    <a:solidFill>
                      <a:srgbClr val="F8FAFC"/>
                    </a:solidFill>
                  </a:tcPr>
                </a:tc>
                <a:tc>
                  <a:txBody>
                    <a:bodyPr/>
                    <a:lstStyle/>
                    <a:p>
                      <a:pPr algn="ctr"/>
                      <a:r>
                        <a:rPr lang="en-US" sz="1200" b="0" dirty="0">
                          <a:solidFill>
                            <a:srgbClr val="23262C"/>
                          </a:solidFill>
                          <a:latin typeface="Arial"/>
                        </a:rPr>
                        <a:t>SL baseline</a:t>
                      </a:r>
                    </a:p>
                  </a:txBody>
                  <a:tcPr>
                    <a:solidFill>
                      <a:srgbClr val="F8FAFC"/>
                    </a:solidFill>
                  </a:tcPr>
                </a:tc>
                <a:extLst>
                  <a:ext uri="{0D108BD9-81ED-4DB2-BD59-A6C34878D82A}">
                    <a16:rowId xmlns:a16="http://schemas.microsoft.com/office/drawing/2014/main" val="10001"/>
                  </a:ext>
                </a:extLst>
              </a:tr>
              <a:tr h="275000">
                <a:tc>
                  <a:txBody>
                    <a:bodyPr/>
                    <a:lstStyle/>
                    <a:p>
                      <a:pPr algn="ctr"/>
                      <a:r>
                        <a:rPr lang="en-US" sz="1200" b="0">
                          <a:solidFill>
                            <a:srgbClr val="23262C"/>
                          </a:solidFill>
                          <a:latin typeface="Arial"/>
                        </a:rPr>
                        <a:t>SSL</a:t>
                      </a:r>
                      <a:endParaRPr lang="en-US" sz="1200" b="0" dirty="0">
                        <a:solidFill>
                          <a:srgbClr val="23262C"/>
                        </a:solidFill>
                        <a:latin typeface="Arial"/>
                      </a:endParaRPr>
                    </a:p>
                  </a:txBody>
                  <a:tcPr>
                    <a:solidFill>
                      <a:srgbClr val="F0F4F8"/>
                    </a:solidFill>
                  </a:tcPr>
                </a:tc>
                <a:tc>
                  <a:txBody>
                    <a:bodyPr/>
                    <a:lstStyle/>
                    <a:p>
                      <a:pPr algn="ctr"/>
                      <a:r>
                        <a:rPr lang="en-US" sz="1200" b="0" dirty="0">
                          <a:solidFill>
                            <a:srgbClr val="23262C"/>
                          </a:solidFill>
                          <a:latin typeface="Arial"/>
                        </a:rPr>
                        <a:t>SSL baseline</a:t>
                      </a:r>
                    </a:p>
                  </a:txBody>
                  <a:tcPr>
                    <a:solidFill>
                      <a:srgbClr val="F0F4F8"/>
                    </a:solidFill>
                  </a:tcPr>
                </a:tc>
                <a:extLst>
                  <a:ext uri="{0D108BD9-81ED-4DB2-BD59-A6C34878D82A}">
                    <a16:rowId xmlns:a16="http://schemas.microsoft.com/office/drawing/2014/main" val="10002"/>
                  </a:ext>
                </a:extLst>
              </a:tr>
              <a:tr h="275000">
                <a:tc>
                  <a:txBody>
                    <a:bodyPr/>
                    <a:lstStyle/>
                    <a:p>
                      <a:pPr algn="ctr"/>
                      <a:r>
                        <a:rPr sz="1200" b="0" dirty="0">
                          <a:solidFill>
                            <a:srgbClr val="23262C"/>
                          </a:solidFill>
                          <a:latin typeface="Arial"/>
                        </a:rPr>
                        <a:t>Low-SNR Exposure SSL</a:t>
                      </a:r>
                    </a:p>
                  </a:txBody>
                  <a:tcPr>
                    <a:solidFill>
                      <a:srgbClr val="F8FAFC"/>
                    </a:solidFill>
                  </a:tcPr>
                </a:tc>
                <a:tc>
                  <a:txBody>
                    <a:bodyPr/>
                    <a:lstStyle/>
                    <a:p>
                      <a:pPr algn="ctr"/>
                      <a:r>
                        <a:rPr lang="en-US" sz="1200" b="0" dirty="0">
                          <a:solidFill>
                            <a:srgbClr val="23262C"/>
                          </a:solidFill>
                          <a:latin typeface="Arial"/>
                        </a:rPr>
                        <a:t>Severe-SNR</a:t>
                      </a:r>
                      <a:r>
                        <a:rPr sz="1200" b="0" dirty="0">
                          <a:solidFill>
                            <a:srgbClr val="23262C"/>
                          </a:solidFill>
                          <a:latin typeface="Arial"/>
                        </a:rPr>
                        <a:t> </a:t>
                      </a:r>
                      <a:r>
                        <a:rPr lang="en-US" sz="1200" b="0" dirty="0">
                          <a:solidFill>
                            <a:srgbClr val="23262C"/>
                          </a:solidFill>
                          <a:latin typeface="Arial"/>
                        </a:rPr>
                        <a:t>extra training</a:t>
                      </a:r>
                      <a:endParaRPr sz="1200" b="0" dirty="0">
                        <a:solidFill>
                          <a:srgbClr val="23262C"/>
                        </a:solidFill>
                        <a:latin typeface="Arial"/>
                      </a:endParaRPr>
                    </a:p>
                  </a:txBody>
                  <a:tcPr>
                    <a:solidFill>
                      <a:srgbClr val="F8FAFC"/>
                    </a:solidFill>
                  </a:tcPr>
                </a:tc>
                <a:extLst>
                  <a:ext uri="{0D108BD9-81ED-4DB2-BD59-A6C34878D82A}">
                    <a16:rowId xmlns:a16="http://schemas.microsoft.com/office/drawing/2014/main" val="10003"/>
                  </a:ext>
                </a:extLst>
              </a:tr>
              <a:tr h="275000">
                <a:tc>
                  <a:txBody>
                    <a:bodyPr/>
                    <a:lstStyle/>
                    <a:p>
                      <a:pPr algn="ctr"/>
                      <a:r>
                        <a:rPr sz="1200" b="0" dirty="0">
                          <a:solidFill>
                            <a:srgbClr val="23262C"/>
                          </a:solidFill>
                          <a:latin typeface="Arial"/>
                        </a:rPr>
                        <a:t>Denoising SSL</a:t>
                      </a:r>
                    </a:p>
                  </a:txBody>
                  <a:tcPr>
                    <a:solidFill>
                      <a:srgbClr val="F0F4F8"/>
                    </a:solidFill>
                  </a:tcPr>
                </a:tc>
                <a:tc>
                  <a:txBody>
                    <a:bodyPr/>
                    <a:lstStyle/>
                    <a:p>
                      <a:pPr algn="ctr"/>
                      <a:r>
                        <a:rPr lang="en-US" sz="1200" b="0" dirty="0">
                          <a:solidFill>
                            <a:srgbClr val="23262C"/>
                          </a:solidFill>
                          <a:latin typeface="Arial"/>
                        </a:rPr>
                        <a:t>Loss r</a:t>
                      </a:r>
                      <a:r>
                        <a:rPr sz="1200" b="0" dirty="0">
                          <a:solidFill>
                            <a:srgbClr val="23262C"/>
                          </a:solidFill>
                          <a:latin typeface="Arial"/>
                        </a:rPr>
                        <a:t>econstruction</a:t>
                      </a:r>
                    </a:p>
                  </a:txBody>
                  <a:tcPr>
                    <a:solidFill>
                      <a:srgbClr val="F0F4F8"/>
                    </a:solidFill>
                  </a:tcPr>
                </a:tc>
                <a:extLst>
                  <a:ext uri="{0D108BD9-81ED-4DB2-BD59-A6C34878D82A}">
                    <a16:rowId xmlns:a16="http://schemas.microsoft.com/office/drawing/2014/main" val="10004"/>
                  </a:ext>
                </a:extLst>
              </a:tr>
              <a:tr h="275000">
                <a:tc>
                  <a:txBody>
                    <a:bodyPr/>
                    <a:lstStyle/>
                    <a:p>
                      <a:pPr algn="ctr"/>
                      <a:r>
                        <a:rPr sz="1200" b="0">
                          <a:solidFill>
                            <a:srgbClr val="23262C"/>
                          </a:solidFill>
                          <a:latin typeface="Arial"/>
                        </a:rPr>
                        <a:t>Per-head SSL</a:t>
                      </a:r>
                    </a:p>
                  </a:txBody>
                  <a:tcPr>
                    <a:solidFill>
                      <a:srgbClr val="F8FAFC"/>
                    </a:solidFill>
                  </a:tcPr>
                </a:tc>
                <a:tc>
                  <a:txBody>
                    <a:bodyPr/>
                    <a:lstStyle/>
                    <a:p>
                      <a:pPr algn="ctr"/>
                      <a:r>
                        <a:rPr sz="1200" b="0" dirty="0">
                          <a:solidFill>
                            <a:srgbClr val="23262C"/>
                          </a:solidFill>
                          <a:latin typeface="Arial"/>
                        </a:rPr>
                        <a:t>SNR-aware</a:t>
                      </a:r>
                      <a:r>
                        <a:rPr lang="en-US" sz="1200" b="0" dirty="0">
                          <a:solidFill>
                            <a:srgbClr val="23262C"/>
                          </a:solidFill>
                          <a:latin typeface="Arial"/>
                        </a:rPr>
                        <a:t> multi-classifier</a:t>
                      </a:r>
                      <a:endParaRPr sz="1200" b="0" dirty="0">
                        <a:solidFill>
                          <a:srgbClr val="23262C"/>
                        </a:solidFill>
                        <a:latin typeface="Arial"/>
                      </a:endParaRPr>
                    </a:p>
                  </a:txBody>
                  <a:tcPr>
                    <a:solidFill>
                      <a:srgbClr val="F8FAFC"/>
                    </a:solidFill>
                  </a:tcPr>
                </a:tc>
                <a:extLst>
                  <a:ext uri="{0D108BD9-81ED-4DB2-BD59-A6C34878D82A}">
                    <a16:rowId xmlns:a16="http://schemas.microsoft.com/office/drawing/2014/main" val="10005"/>
                  </a:ext>
                </a:extLst>
              </a:tr>
            </a:tbl>
          </a:graphicData>
        </a:graphic>
      </p:graphicFrame>
      <p:graphicFrame>
        <p:nvGraphicFramePr>
          <p:cNvPr id="31" name="Table 30"/>
          <p:cNvGraphicFramePr>
            <a:graphicFrameLocks noGrp="1"/>
          </p:cNvGraphicFramePr>
          <p:nvPr>
            <p:extLst>
              <p:ext uri="{D42A27DB-BD31-4B8C-83A1-F6EECF244321}">
                <p14:modId xmlns:p14="http://schemas.microsoft.com/office/powerpoint/2010/main" val="4118444193"/>
              </p:ext>
            </p:extLst>
          </p:nvPr>
        </p:nvGraphicFramePr>
        <p:xfrm>
          <a:off x="16199632" y="19642840"/>
          <a:ext cx="4669900" cy="2050000"/>
        </p:xfrm>
        <a:graphic>
          <a:graphicData uri="http://schemas.openxmlformats.org/drawingml/2006/table">
            <a:tbl>
              <a:tblPr firstRow="1" bandRow="1">
                <a:tableStyleId>{5C22544A-7EE6-4342-B048-85BDC9FD1C3A}</a:tableStyleId>
              </a:tblPr>
              <a:tblGrid>
                <a:gridCol w="1167475">
                  <a:extLst>
                    <a:ext uri="{9D8B030D-6E8A-4147-A177-3AD203B41FA5}">
                      <a16:colId xmlns:a16="http://schemas.microsoft.com/office/drawing/2014/main" val="20000"/>
                    </a:ext>
                  </a:extLst>
                </a:gridCol>
                <a:gridCol w="1167475">
                  <a:extLst>
                    <a:ext uri="{9D8B030D-6E8A-4147-A177-3AD203B41FA5}">
                      <a16:colId xmlns:a16="http://schemas.microsoft.com/office/drawing/2014/main" val="20001"/>
                    </a:ext>
                  </a:extLst>
                </a:gridCol>
                <a:gridCol w="1167475">
                  <a:extLst>
                    <a:ext uri="{9D8B030D-6E8A-4147-A177-3AD203B41FA5}">
                      <a16:colId xmlns:a16="http://schemas.microsoft.com/office/drawing/2014/main" val="20002"/>
                    </a:ext>
                  </a:extLst>
                </a:gridCol>
                <a:gridCol w="1167475">
                  <a:extLst>
                    <a:ext uri="{9D8B030D-6E8A-4147-A177-3AD203B41FA5}">
                      <a16:colId xmlns:a16="http://schemas.microsoft.com/office/drawing/2014/main" val="20003"/>
                    </a:ext>
                  </a:extLst>
                </a:gridCol>
              </a:tblGrid>
              <a:tr h="410000">
                <a:tc>
                  <a:txBody>
                    <a:bodyPr/>
                    <a:lstStyle/>
                    <a:p>
                      <a:pPr algn="ctr"/>
                      <a:r>
                        <a:rPr sz="1200" b="1">
                          <a:solidFill>
                            <a:srgbClr val="FFFFFF"/>
                          </a:solidFill>
                          <a:latin typeface="Arial"/>
                        </a:rPr>
                        <a:t>Region</a:t>
                      </a:r>
                    </a:p>
                  </a:txBody>
                  <a:tcPr>
                    <a:solidFill>
                      <a:srgbClr val="760018"/>
                    </a:solidFill>
                  </a:tcPr>
                </a:tc>
                <a:tc>
                  <a:txBody>
                    <a:bodyPr/>
                    <a:lstStyle/>
                    <a:p>
                      <a:pPr algn="ctr"/>
                      <a:r>
                        <a:rPr sz="1200" b="1">
                          <a:solidFill>
                            <a:srgbClr val="FFFFFF"/>
                          </a:solidFill>
                          <a:latin typeface="Arial"/>
                        </a:rPr>
                        <a:t>SSL</a:t>
                      </a:r>
                    </a:p>
                  </a:txBody>
                  <a:tcPr>
                    <a:solidFill>
                      <a:srgbClr val="760018"/>
                    </a:solidFill>
                  </a:tcPr>
                </a:tc>
                <a:tc>
                  <a:txBody>
                    <a:bodyPr/>
                    <a:lstStyle/>
                    <a:p>
                      <a:pPr algn="ctr"/>
                      <a:r>
                        <a:rPr sz="1200" b="1">
                          <a:solidFill>
                            <a:srgbClr val="FFFFFF"/>
                          </a:solidFill>
                          <a:latin typeface="Arial"/>
                        </a:rPr>
                        <a:t>Per-head</a:t>
                      </a:r>
                    </a:p>
                  </a:txBody>
                  <a:tcPr>
                    <a:solidFill>
                      <a:srgbClr val="760018"/>
                    </a:solidFill>
                  </a:tcPr>
                </a:tc>
                <a:tc>
                  <a:txBody>
                    <a:bodyPr/>
                    <a:lstStyle/>
                    <a:p>
                      <a:pPr algn="ctr"/>
                      <a:r>
                        <a:rPr sz="1200" b="1">
                          <a:solidFill>
                            <a:srgbClr val="FFFFFF"/>
                          </a:solidFill>
                          <a:latin typeface="Arial"/>
                        </a:rPr>
                        <a:t>Gain</a:t>
                      </a:r>
                    </a:p>
                  </a:txBody>
                  <a:tcPr>
                    <a:solidFill>
                      <a:srgbClr val="760018"/>
                    </a:solidFill>
                  </a:tcPr>
                </a:tc>
                <a:extLst>
                  <a:ext uri="{0D108BD9-81ED-4DB2-BD59-A6C34878D82A}">
                    <a16:rowId xmlns:a16="http://schemas.microsoft.com/office/drawing/2014/main" val="10000"/>
                  </a:ext>
                </a:extLst>
              </a:tr>
              <a:tr h="410000">
                <a:tc>
                  <a:txBody>
                    <a:bodyPr/>
                    <a:lstStyle/>
                    <a:p>
                      <a:pPr algn="ctr"/>
                      <a:r>
                        <a:rPr sz="1200" b="0" dirty="0">
                          <a:solidFill>
                            <a:srgbClr val="23262C"/>
                          </a:solidFill>
                          <a:latin typeface="Arial"/>
                        </a:rPr>
                        <a:t>Severe</a:t>
                      </a:r>
                    </a:p>
                  </a:txBody>
                  <a:tcPr>
                    <a:solidFill>
                      <a:srgbClr val="F8FAFC"/>
                    </a:solidFill>
                  </a:tcPr>
                </a:tc>
                <a:tc>
                  <a:txBody>
                    <a:bodyPr/>
                    <a:lstStyle/>
                    <a:p>
                      <a:pPr algn="ctr"/>
                      <a:r>
                        <a:rPr sz="1200" b="0">
                          <a:solidFill>
                            <a:srgbClr val="23262C"/>
                          </a:solidFill>
                          <a:latin typeface="Arial"/>
                        </a:rPr>
                        <a:t>19.78</a:t>
                      </a:r>
                    </a:p>
                  </a:txBody>
                  <a:tcPr>
                    <a:solidFill>
                      <a:srgbClr val="F8FAFC"/>
                    </a:solidFill>
                  </a:tcPr>
                </a:tc>
                <a:tc>
                  <a:txBody>
                    <a:bodyPr/>
                    <a:lstStyle/>
                    <a:p>
                      <a:pPr algn="ctr"/>
                      <a:r>
                        <a:rPr sz="1200" b="0">
                          <a:solidFill>
                            <a:srgbClr val="23262C"/>
                          </a:solidFill>
                          <a:latin typeface="Arial"/>
                        </a:rPr>
                        <a:t>20.14</a:t>
                      </a:r>
                    </a:p>
                  </a:txBody>
                  <a:tcPr>
                    <a:solidFill>
                      <a:srgbClr val="F8FAFC"/>
                    </a:solidFill>
                  </a:tcPr>
                </a:tc>
                <a:tc>
                  <a:txBody>
                    <a:bodyPr/>
                    <a:lstStyle/>
                    <a:p>
                      <a:pPr algn="ctr"/>
                      <a:r>
                        <a:rPr sz="1200" b="0">
                          <a:solidFill>
                            <a:srgbClr val="23262C"/>
                          </a:solidFill>
                          <a:latin typeface="Arial"/>
                        </a:rPr>
                        <a:t>+0.36</a:t>
                      </a:r>
                    </a:p>
                  </a:txBody>
                  <a:tcPr>
                    <a:solidFill>
                      <a:srgbClr val="F8FAFC"/>
                    </a:solidFill>
                  </a:tcPr>
                </a:tc>
                <a:extLst>
                  <a:ext uri="{0D108BD9-81ED-4DB2-BD59-A6C34878D82A}">
                    <a16:rowId xmlns:a16="http://schemas.microsoft.com/office/drawing/2014/main" val="10001"/>
                  </a:ext>
                </a:extLst>
              </a:tr>
              <a:tr h="410000">
                <a:tc>
                  <a:txBody>
                    <a:bodyPr/>
                    <a:lstStyle/>
                    <a:p>
                      <a:pPr algn="ctr"/>
                      <a:r>
                        <a:rPr sz="1200" b="0" dirty="0">
                          <a:solidFill>
                            <a:srgbClr val="23262C"/>
                          </a:solidFill>
                          <a:latin typeface="Arial"/>
                        </a:rPr>
                        <a:t>Transition</a:t>
                      </a:r>
                    </a:p>
                  </a:txBody>
                  <a:tcPr>
                    <a:solidFill>
                      <a:srgbClr val="F0F4F8"/>
                    </a:solidFill>
                  </a:tcPr>
                </a:tc>
                <a:tc>
                  <a:txBody>
                    <a:bodyPr/>
                    <a:lstStyle/>
                    <a:p>
                      <a:pPr algn="ctr"/>
                      <a:r>
                        <a:rPr sz="1200" b="0">
                          <a:solidFill>
                            <a:srgbClr val="23262C"/>
                          </a:solidFill>
                          <a:latin typeface="Arial"/>
                        </a:rPr>
                        <a:t>39.76</a:t>
                      </a:r>
                    </a:p>
                  </a:txBody>
                  <a:tcPr>
                    <a:solidFill>
                      <a:srgbClr val="F0F4F8"/>
                    </a:solidFill>
                  </a:tcPr>
                </a:tc>
                <a:tc>
                  <a:txBody>
                    <a:bodyPr/>
                    <a:lstStyle/>
                    <a:p>
                      <a:pPr algn="ctr"/>
                      <a:r>
                        <a:rPr sz="1200" b="0">
                          <a:solidFill>
                            <a:srgbClr val="23262C"/>
                          </a:solidFill>
                          <a:latin typeface="Arial"/>
                        </a:rPr>
                        <a:t>44.69</a:t>
                      </a:r>
                    </a:p>
                  </a:txBody>
                  <a:tcPr>
                    <a:solidFill>
                      <a:srgbClr val="F0F4F8"/>
                    </a:solidFill>
                  </a:tcPr>
                </a:tc>
                <a:tc>
                  <a:txBody>
                    <a:bodyPr/>
                    <a:lstStyle/>
                    <a:p>
                      <a:pPr algn="ctr"/>
                      <a:r>
                        <a:rPr sz="1200" b="0">
                          <a:solidFill>
                            <a:srgbClr val="23262C"/>
                          </a:solidFill>
                          <a:latin typeface="Arial"/>
                        </a:rPr>
                        <a:t>+4.93</a:t>
                      </a:r>
                    </a:p>
                  </a:txBody>
                  <a:tcPr>
                    <a:solidFill>
                      <a:srgbClr val="F0F4F8"/>
                    </a:solidFill>
                  </a:tcPr>
                </a:tc>
                <a:extLst>
                  <a:ext uri="{0D108BD9-81ED-4DB2-BD59-A6C34878D82A}">
                    <a16:rowId xmlns:a16="http://schemas.microsoft.com/office/drawing/2014/main" val="10002"/>
                  </a:ext>
                </a:extLst>
              </a:tr>
              <a:tr h="410000">
                <a:tc>
                  <a:txBody>
                    <a:bodyPr/>
                    <a:lstStyle/>
                    <a:p>
                      <a:pPr algn="ctr"/>
                      <a:r>
                        <a:rPr sz="1200" b="0">
                          <a:solidFill>
                            <a:srgbClr val="23262C"/>
                          </a:solidFill>
                          <a:latin typeface="Arial"/>
                        </a:rPr>
                        <a:t>High</a:t>
                      </a:r>
                    </a:p>
                  </a:txBody>
                  <a:tcPr>
                    <a:solidFill>
                      <a:srgbClr val="F8FAFC"/>
                    </a:solidFill>
                  </a:tcPr>
                </a:tc>
                <a:tc>
                  <a:txBody>
                    <a:bodyPr/>
                    <a:lstStyle/>
                    <a:p>
                      <a:pPr algn="ctr"/>
                      <a:r>
                        <a:rPr sz="1200" b="0">
                          <a:solidFill>
                            <a:srgbClr val="23262C"/>
                          </a:solidFill>
                          <a:latin typeface="Arial"/>
                        </a:rPr>
                        <a:t>77.48</a:t>
                      </a:r>
                    </a:p>
                  </a:txBody>
                  <a:tcPr>
                    <a:solidFill>
                      <a:srgbClr val="F8FAFC"/>
                    </a:solidFill>
                  </a:tcPr>
                </a:tc>
                <a:tc>
                  <a:txBody>
                    <a:bodyPr/>
                    <a:lstStyle/>
                    <a:p>
                      <a:pPr algn="ctr"/>
                      <a:r>
                        <a:rPr sz="1200" b="0">
                          <a:solidFill>
                            <a:srgbClr val="23262C"/>
                          </a:solidFill>
                          <a:latin typeface="Arial"/>
                        </a:rPr>
                        <a:t>81.21</a:t>
                      </a:r>
                    </a:p>
                  </a:txBody>
                  <a:tcPr>
                    <a:solidFill>
                      <a:srgbClr val="F8FAFC"/>
                    </a:solidFill>
                  </a:tcPr>
                </a:tc>
                <a:tc>
                  <a:txBody>
                    <a:bodyPr/>
                    <a:lstStyle/>
                    <a:p>
                      <a:pPr algn="ctr"/>
                      <a:r>
                        <a:rPr sz="1200" b="0">
                          <a:solidFill>
                            <a:srgbClr val="23262C"/>
                          </a:solidFill>
                          <a:latin typeface="Arial"/>
                        </a:rPr>
                        <a:t>+3.73</a:t>
                      </a:r>
                    </a:p>
                  </a:txBody>
                  <a:tcPr>
                    <a:solidFill>
                      <a:srgbClr val="F8FAFC"/>
                    </a:solidFill>
                  </a:tcPr>
                </a:tc>
                <a:extLst>
                  <a:ext uri="{0D108BD9-81ED-4DB2-BD59-A6C34878D82A}">
                    <a16:rowId xmlns:a16="http://schemas.microsoft.com/office/drawing/2014/main" val="10003"/>
                  </a:ext>
                </a:extLst>
              </a:tr>
              <a:tr h="410000">
                <a:tc>
                  <a:txBody>
                    <a:bodyPr/>
                    <a:lstStyle/>
                    <a:p>
                      <a:pPr algn="ctr"/>
                      <a:r>
                        <a:rPr sz="1200" b="0">
                          <a:solidFill>
                            <a:srgbClr val="23262C"/>
                          </a:solidFill>
                          <a:latin typeface="Arial"/>
                        </a:rPr>
                        <a:t>Overall</a:t>
                      </a:r>
                    </a:p>
                  </a:txBody>
                  <a:tcPr>
                    <a:solidFill>
                      <a:srgbClr val="F0F4F8"/>
                    </a:solidFill>
                  </a:tcPr>
                </a:tc>
                <a:tc>
                  <a:txBody>
                    <a:bodyPr/>
                    <a:lstStyle/>
                    <a:p>
                      <a:pPr algn="ctr"/>
                      <a:r>
                        <a:rPr sz="1200" b="0">
                          <a:solidFill>
                            <a:srgbClr val="23262C"/>
                          </a:solidFill>
                          <a:latin typeface="Arial"/>
                        </a:rPr>
                        <a:t>46.41</a:t>
                      </a:r>
                    </a:p>
                  </a:txBody>
                  <a:tcPr>
                    <a:solidFill>
                      <a:srgbClr val="F0F4F8"/>
                    </a:solidFill>
                  </a:tcPr>
                </a:tc>
                <a:tc>
                  <a:txBody>
                    <a:bodyPr/>
                    <a:lstStyle/>
                    <a:p>
                      <a:pPr algn="ctr"/>
                      <a:r>
                        <a:rPr sz="1200" b="0">
                          <a:solidFill>
                            <a:srgbClr val="23262C"/>
                          </a:solidFill>
                          <a:latin typeface="Arial"/>
                        </a:rPr>
                        <a:t>50.19</a:t>
                      </a:r>
                    </a:p>
                  </a:txBody>
                  <a:tcPr>
                    <a:solidFill>
                      <a:srgbClr val="F0F4F8"/>
                    </a:solidFill>
                  </a:tcPr>
                </a:tc>
                <a:tc>
                  <a:txBody>
                    <a:bodyPr/>
                    <a:lstStyle/>
                    <a:p>
                      <a:pPr algn="ctr"/>
                      <a:r>
                        <a:rPr sz="1200" b="0" dirty="0">
                          <a:solidFill>
                            <a:srgbClr val="23262C"/>
                          </a:solidFill>
                          <a:latin typeface="Arial"/>
                        </a:rPr>
                        <a:t>+3.77</a:t>
                      </a:r>
                    </a:p>
                  </a:txBody>
                  <a:tcPr>
                    <a:solidFill>
                      <a:srgbClr val="F0F4F8"/>
                    </a:solidFill>
                  </a:tcPr>
                </a:tc>
                <a:extLst>
                  <a:ext uri="{0D108BD9-81ED-4DB2-BD59-A6C34878D82A}">
                    <a16:rowId xmlns:a16="http://schemas.microsoft.com/office/drawing/2014/main" val="10004"/>
                  </a:ext>
                </a:extLst>
              </a:tr>
            </a:tbl>
          </a:graphicData>
        </a:graphic>
      </p:graphicFrame>
      <p:sp>
        <p:nvSpPr>
          <p:cNvPr id="32" name="TextBox 31"/>
          <p:cNvSpPr txBox="1"/>
          <p:nvPr/>
        </p:nvSpPr>
        <p:spPr>
          <a:xfrm>
            <a:off x="16182800" y="21814716"/>
            <a:ext cx="4953993" cy="1384995"/>
          </a:xfrm>
          <a:prstGeom prst="rect">
            <a:avLst/>
          </a:prstGeom>
          <a:noFill/>
        </p:spPr>
        <p:txBody>
          <a:bodyPr wrap="square" lIns="65000" rIns="65000" anchor="ctr">
            <a:spAutoFit/>
          </a:bodyPr>
          <a:lstStyle/>
          <a:p>
            <a:r>
              <a:rPr lang="en-US" sz="1200" dirty="0">
                <a:solidFill>
                  <a:srgbClr val="23262C"/>
                </a:solidFill>
                <a:latin typeface="Arial"/>
              </a:rPr>
              <a:t>Among the additional methods, Per-head SSL achieved the most consistent improvement in transition and high-SNR regions.</a:t>
            </a:r>
          </a:p>
          <a:p>
            <a:r>
              <a:rPr lang="en-US" sz="1200" dirty="0">
                <a:solidFill>
                  <a:srgbClr val="23262C"/>
                </a:solidFill>
                <a:latin typeface="Arial"/>
              </a:rPr>
              <a:t>This suggests that SNR-specialized classification heads can better capture modulation characteristics that vary across noise conditions.</a:t>
            </a:r>
          </a:p>
          <a:p>
            <a:r>
              <a:rPr lang="en-US" sz="1200" dirty="0">
                <a:solidFill>
                  <a:srgbClr val="23262C"/>
                </a:solidFill>
                <a:latin typeface="Arial"/>
              </a:rPr>
              <a:t>Despite these improvements, performance under severe low-SNR conditions remains close to random guessing, indicating that denoising alone is insufficient when signal structure is heavily distorted.</a:t>
            </a:r>
            <a:endParaRPr sz="1200" b="0" dirty="0">
              <a:solidFill>
                <a:srgbClr val="23262C"/>
              </a:solidFill>
              <a:latin typeface="Arial"/>
            </a:endParaRPr>
          </a:p>
        </p:txBody>
      </p:sp>
      <p:sp>
        <p:nvSpPr>
          <p:cNvPr id="34" name="TextBox 33"/>
          <p:cNvSpPr txBox="1"/>
          <p:nvPr/>
        </p:nvSpPr>
        <p:spPr>
          <a:xfrm>
            <a:off x="16078625" y="24082988"/>
            <a:ext cx="4669900" cy="2162130"/>
          </a:xfrm>
          <a:prstGeom prst="rect">
            <a:avLst/>
          </a:prstGeom>
          <a:noFill/>
        </p:spPr>
        <p:txBody>
          <a:bodyPr wrap="square" lIns="85000" rIns="65000">
            <a:spAutoFit/>
          </a:bodyPr>
          <a:lstStyle/>
          <a:p>
            <a:pPr algn="l">
              <a:spcAft>
                <a:spcPts val="500"/>
              </a:spcAft>
            </a:pPr>
            <a:endParaRPr sz="1300" b="1" dirty="0">
              <a:solidFill>
                <a:srgbClr val="760018"/>
              </a:solidFill>
              <a:latin typeface="Arial"/>
            </a:endParaRPr>
          </a:p>
          <a:p>
            <a:pPr marL="285750" indent="-285750" algn="l">
              <a:spcAft>
                <a:spcPts val="400"/>
              </a:spcAft>
              <a:buFont typeface="Wingdings" panose="05000000000000000000" pitchFamily="2" charset="2"/>
              <a:buChar char="l"/>
            </a:pPr>
            <a:r>
              <a:rPr sz="1300" b="1" dirty="0">
                <a:solidFill>
                  <a:srgbClr val="23262C"/>
                </a:solidFill>
                <a:latin typeface="Arial"/>
              </a:rPr>
              <a:t>SSL is effective under scarce labels, but mainly in recoverable SNR regimes.</a:t>
            </a:r>
            <a:endParaRPr lang="en-US" sz="1300" b="1" dirty="0">
              <a:solidFill>
                <a:srgbClr val="23262C"/>
              </a:solidFill>
              <a:latin typeface="Arial"/>
            </a:endParaRPr>
          </a:p>
          <a:p>
            <a:pPr marL="285750" indent="-285750" algn="l">
              <a:spcAft>
                <a:spcPts val="400"/>
              </a:spcAft>
              <a:buFont typeface="Wingdings" panose="05000000000000000000" pitchFamily="2" charset="2"/>
              <a:buChar char="l"/>
            </a:pPr>
            <a:endParaRPr sz="1300" b="1" dirty="0">
              <a:solidFill>
                <a:srgbClr val="23262C"/>
              </a:solidFill>
              <a:latin typeface="Arial"/>
            </a:endParaRPr>
          </a:p>
          <a:p>
            <a:pPr marL="285750" indent="-285750" algn="l">
              <a:spcAft>
                <a:spcPts val="400"/>
              </a:spcAft>
              <a:buFont typeface="Wingdings" panose="05000000000000000000" pitchFamily="2" charset="2"/>
              <a:buChar char="l"/>
            </a:pPr>
            <a:r>
              <a:rPr sz="1300" b="1" dirty="0">
                <a:solidFill>
                  <a:srgbClr val="23262C"/>
                </a:solidFill>
                <a:latin typeface="Arial"/>
              </a:rPr>
              <a:t>Per-head SSL adds the clearest improvement by specializing the classifier to SNR regimes.</a:t>
            </a:r>
            <a:endParaRPr lang="en-US" sz="1300" b="1" dirty="0">
              <a:solidFill>
                <a:srgbClr val="23262C"/>
              </a:solidFill>
              <a:latin typeface="Arial"/>
            </a:endParaRPr>
          </a:p>
          <a:p>
            <a:pPr marL="285750" indent="-285750" algn="l">
              <a:spcAft>
                <a:spcPts val="400"/>
              </a:spcAft>
              <a:buFont typeface="Wingdings" panose="05000000000000000000" pitchFamily="2" charset="2"/>
              <a:buChar char="l"/>
            </a:pPr>
            <a:endParaRPr sz="1300" b="1" dirty="0">
              <a:solidFill>
                <a:srgbClr val="23262C"/>
              </a:solidFill>
              <a:latin typeface="Arial"/>
            </a:endParaRPr>
          </a:p>
          <a:p>
            <a:pPr marL="285750" indent="-285750" algn="l">
              <a:spcAft>
                <a:spcPts val="400"/>
              </a:spcAft>
              <a:buFont typeface="Wingdings" panose="05000000000000000000" pitchFamily="2" charset="2"/>
              <a:buChar char="l"/>
            </a:pPr>
            <a:r>
              <a:rPr sz="1300" b="1" dirty="0">
                <a:solidFill>
                  <a:srgbClr val="23262C"/>
                </a:solidFill>
                <a:latin typeface="Arial"/>
              </a:rPr>
              <a:t>Severe -10/-5 dB remains near chance, </a:t>
            </a:r>
            <a:r>
              <a:rPr lang="en-US" sz="1300" b="1" dirty="0">
                <a:solidFill>
                  <a:srgbClr val="23262C"/>
                </a:solidFill>
                <a:latin typeface="Arial"/>
              </a:rPr>
              <a:t>and </a:t>
            </a:r>
            <a:r>
              <a:rPr sz="1300" b="1" dirty="0">
                <a:solidFill>
                  <a:srgbClr val="23262C"/>
                </a:solidFill>
                <a:latin typeface="Arial"/>
              </a:rPr>
              <a:t>noise exposure or denoising alone is not enough.</a:t>
            </a:r>
          </a:p>
        </p:txBody>
      </p:sp>
      <p:pic>
        <p:nvPicPr>
          <p:cNvPr id="39" name="Picture 38" descr="image6.png"/>
          <p:cNvPicPr>
            <a:picLocks noChangeAspect="1"/>
          </p:cNvPicPr>
          <p:nvPr/>
        </p:nvPicPr>
        <p:blipFill>
          <a:blip r:embed="rId4"/>
          <a:stretch>
            <a:fillRect/>
          </a:stretch>
        </p:blipFill>
        <p:spPr>
          <a:xfrm>
            <a:off x="10880345" y="17575605"/>
            <a:ext cx="5139287" cy="5069512"/>
          </a:xfrm>
          <a:prstGeom prst="rect">
            <a:avLst/>
          </a:prstGeom>
        </p:spPr>
      </p:pic>
      <p:sp>
        <p:nvSpPr>
          <p:cNvPr id="41" name="TextBox 40"/>
          <p:cNvSpPr txBox="1"/>
          <p:nvPr/>
        </p:nvSpPr>
        <p:spPr>
          <a:xfrm>
            <a:off x="16199632" y="11510634"/>
            <a:ext cx="4669900" cy="276999"/>
          </a:xfrm>
          <a:prstGeom prst="rect">
            <a:avLst/>
          </a:prstGeom>
          <a:noFill/>
        </p:spPr>
        <p:txBody>
          <a:bodyPr wrap="square" lIns="60000" rIns="60000" anchor="ctr">
            <a:spAutoFit/>
          </a:bodyPr>
          <a:lstStyle/>
          <a:p>
            <a:pPr algn="ctr"/>
            <a:r>
              <a:rPr sz="1200" b="1" dirty="0">
                <a:solidFill>
                  <a:srgbClr val="23262C"/>
                </a:solidFill>
                <a:latin typeface="Arial"/>
              </a:rPr>
              <a:t>SL -&gt; SSL gain at label ratio 0.005</a:t>
            </a:r>
          </a:p>
        </p:txBody>
      </p:sp>
      <p:graphicFrame>
        <p:nvGraphicFramePr>
          <p:cNvPr id="42" name="Table 41"/>
          <p:cNvGraphicFramePr>
            <a:graphicFrameLocks noGrp="1"/>
          </p:cNvGraphicFramePr>
          <p:nvPr>
            <p:extLst>
              <p:ext uri="{D42A27DB-BD31-4B8C-83A1-F6EECF244321}">
                <p14:modId xmlns:p14="http://schemas.microsoft.com/office/powerpoint/2010/main" val="1982241188"/>
              </p:ext>
            </p:extLst>
          </p:nvPr>
        </p:nvGraphicFramePr>
        <p:xfrm>
          <a:off x="16199632" y="11802568"/>
          <a:ext cx="4669900" cy="1700000"/>
        </p:xfrm>
        <a:graphic>
          <a:graphicData uri="http://schemas.openxmlformats.org/drawingml/2006/table">
            <a:tbl>
              <a:tblPr firstRow="1" bandRow="1">
                <a:tableStyleId>{5C22544A-7EE6-4342-B048-85BDC9FD1C3A}</a:tableStyleId>
              </a:tblPr>
              <a:tblGrid>
                <a:gridCol w="1167475">
                  <a:extLst>
                    <a:ext uri="{9D8B030D-6E8A-4147-A177-3AD203B41FA5}">
                      <a16:colId xmlns:a16="http://schemas.microsoft.com/office/drawing/2014/main" val="20000"/>
                    </a:ext>
                  </a:extLst>
                </a:gridCol>
                <a:gridCol w="1167475">
                  <a:extLst>
                    <a:ext uri="{9D8B030D-6E8A-4147-A177-3AD203B41FA5}">
                      <a16:colId xmlns:a16="http://schemas.microsoft.com/office/drawing/2014/main" val="20001"/>
                    </a:ext>
                  </a:extLst>
                </a:gridCol>
                <a:gridCol w="1167475">
                  <a:extLst>
                    <a:ext uri="{9D8B030D-6E8A-4147-A177-3AD203B41FA5}">
                      <a16:colId xmlns:a16="http://schemas.microsoft.com/office/drawing/2014/main" val="20002"/>
                    </a:ext>
                  </a:extLst>
                </a:gridCol>
                <a:gridCol w="1167475">
                  <a:extLst>
                    <a:ext uri="{9D8B030D-6E8A-4147-A177-3AD203B41FA5}">
                      <a16:colId xmlns:a16="http://schemas.microsoft.com/office/drawing/2014/main" val="20003"/>
                    </a:ext>
                  </a:extLst>
                </a:gridCol>
              </a:tblGrid>
              <a:tr h="425000">
                <a:tc>
                  <a:txBody>
                    <a:bodyPr/>
                    <a:lstStyle/>
                    <a:p>
                      <a:pPr algn="ctr"/>
                      <a:r>
                        <a:rPr sz="1200" b="1">
                          <a:solidFill>
                            <a:srgbClr val="FFFFFF"/>
                          </a:solidFill>
                          <a:latin typeface="Arial"/>
                        </a:rPr>
                        <a:t>Region</a:t>
                      </a:r>
                    </a:p>
                  </a:txBody>
                  <a:tcPr>
                    <a:solidFill>
                      <a:srgbClr val="760018"/>
                    </a:solidFill>
                  </a:tcPr>
                </a:tc>
                <a:tc>
                  <a:txBody>
                    <a:bodyPr/>
                    <a:lstStyle/>
                    <a:p>
                      <a:pPr algn="ctr"/>
                      <a:r>
                        <a:rPr sz="1200" b="1">
                          <a:solidFill>
                            <a:srgbClr val="FFFFFF"/>
                          </a:solidFill>
                          <a:latin typeface="Arial"/>
                        </a:rPr>
                        <a:t>SL</a:t>
                      </a:r>
                    </a:p>
                  </a:txBody>
                  <a:tcPr>
                    <a:solidFill>
                      <a:srgbClr val="760018"/>
                    </a:solidFill>
                  </a:tcPr>
                </a:tc>
                <a:tc>
                  <a:txBody>
                    <a:bodyPr/>
                    <a:lstStyle/>
                    <a:p>
                      <a:pPr algn="ctr"/>
                      <a:r>
                        <a:rPr sz="1200" b="1">
                          <a:solidFill>
                            <a:srgbClr val="FFFFFF"/>
                          </a:solidFill>
                          <a:latin typeface="Arial"/>
                        </a:rPr>
                        <a:t>SSL</a:t>
                      </a:r>
                    </a:p>
                  </a:txBody>
                  <a:tcPr>
                    <a:solidFill>
                      <a:srgbClr val="760018"/>
                    </a:solidFill>
                  </a:tcPr>
                </a:tc>
                <a:tc>
                  <a:txBody>
                    <a:bodyPr/>
                    <a:lstStyle/>
                    <a:p>
                      <a:pPr algn="ctr"/>
                      <a:r>
                        <a:rPr sz="1200" b="1">
                          <a:solidFill>
                            <a:srgbClr val="FFFFFF"/>
                          </a:solidFill>
                          <a:latin typeface="Arial"/>
                        </a:rPr>
                        <a:t>Gain</a:t>
                      </a:r>
                    </a:p>
                  </a:txBody>
                  <a:tcPr>
                    <a:solidFill>
                      <a:srgbClr val="760018"/>
                    </a:solidFill>
                  </a:tcPr>
                </a:tc>
                <a:extLst>
                  <a:ext uri="{0D108BD9-81ED-4DB2-BD59-A6C34878D82A}">
                    <a16:rowId xmlns:a16="http://schemas.microsoft.com/office/drawing/2014/main" val="10000"/>
                  </a:ext>
                </a:extLst>
              </a:tr>
              <a:tr h="425000">
                <a:tc>
                  <a:txBody>
                    <a:bodyPr/>
                    <a:lstStyle/>
                    <a:p>
                      <a:pPr algn="ctr"/>
                      <a:r>
                        <a:rPr sz="1200" b="0">
                          <a:solidFill>
                            <a:srgbClr val="23262C"/>
                          </a:solidFill>
                          <a:latin typeface="Arial"/>
                        </a:rPr>
                        <a:t>Severe</a:t>
                      </a:r>
                    </a:p>
                  </a:txBody>
                  <a:tcPr>
                    <a:solidFill>
                      <a:srgbClr val="F8FAFC"/>
                    </a:solidFill>
                  </a:tcPr>
                </a:tc>
                <a:tc>
                  <a:txBody>
                    <a:bodyPr/>
                    <a:lstStyle/>
                    <a:p>
                      <a:pPr algn="ctr"/>
                      <a:r>
                        <a:rPr sz="1200" b="0">
                          <a:solidFill>
                            <a:srgbClr val="23262C"/>
                          </a:solidFill>
                          <a:latin typeface="Arial"/>
                        </a:rPr>
                        <a:t>20.06</a:t>
                      </a:r>
                    </a:p>
                  </a:txBody>
                  <a:tcPr>
                    <a:solidFill>
                      <a:srgbClr val="F8FAFC"/>
                    </a:solidFill>
                  </a:tcPr>
                </a:tc>
                <a:tc>
                  <a:txBody>
                    <a:bodyPr/>
                    <a:lstStyle/>
                    <a:p>
                      <a:pPr algn="ctr"/>
                      <a:r>
                        <a:rPr sz="1200" b="0">
                          <a:solidFill>
                            <a:srgbClr val="23262C"/>
                          </a:solidFill>
                          <a:latin typeface="Arial"/>
                        </a:rPr>
                        <a:t>19.78</a:t>
                      </a:r>
                    </a:p>
                  </a:txBody>
                  <a:tcPr>
                    <a:solidFill>
                      <a:srgbClr val="F8FAFC"/>
                    </a:solidFill>
                  </a:tcPr>
                </a:tc>
                <a:tc>
                  <a:txBody>
                    <a:bodyPr/>
                    <a:lstStyle/>
                    <a:p>
                      <a:pPr algn="ctr"/>
                      <a:r>
                        <a:rPr sz="1200" b="0">
                          <a:solidFill>
                            <a:srgbClr val="23262C"/>
                          </a:solidFill>
                          <a:latin typeface="Arial"/>
                        </a:rPr>
                        <a:t>-0.28</a:t>
                      </a:r>
                    </a:p>
                  </a:txBody>
                  <a:tcPr>
                    <a:solidFill>
                      <a:srgbClr val="F8FAFC"/>
                    </a:solidFill>
                  </a:tcPr>
                </a:tc>
                <a:extLst>
                  <a:ext uri="{0D108BD9-81ED-4DB2-BD59-A6C34878D82A}">
                    <a16:rowId xmlns:a16="http://schemas.microsoft.com/office/drawing/2014/main" val="10001"/>
                  </a:ext>
                </a:extLst>
              </a:tr>
              <a:tr h="425000">
                <a:tc>
                  <a:txBody>
                    <a:bodyPr/>
                    <a:lstStyle/>
                    <a:p>
                      <a:pPr algn="ctr"/>
                      <a:r>
                        <a:rPr sz="1200" b="0">
                          <a:solidFill>
                            <a:srgbClr val="23262C"/>
                          </a:solidFill>
                          <a:latin typeface="Arial"/>
                        </a:rPr>
                        <a:t>Transition</a:t>
                      </a:r>
                    </a:p>
                  </a:txBody>
                  <a:tcPr>
                    <a:solidFill>
                      <a:srgbClr val="F0F4F8"/>
                    </a:solidFill>
                  </a:tcPr>
                </a:tc>
                <a:tc>
                  <a:txBody>
                    <a:bodyPr/>
                    <a:lstStyle/>
                    <a:p>
                      <a:pPr algn="ctr"/>
                      <a:r>
                        <a:rPr sz="1200" b="0">
                          <a:solidFill>
                            <a:srgbClr val="23262C"/>
                          </a:solidFill>
                          <a:latin typeface="Arial"/>
                        </a:rPr>
                        <a:t>25.21</a:t>
                      </a:r>
                    </a:p>
                  </a:txBody>
                  <a:tcPr>
                    <a:solidFill>
                      <a:srgbClr val="F0F4F8"/>
                    </a:solidFill>
                  </a:tcPr>
                </a:tc>
                <a:tc>
                  <a:txBody>
                    <a:bodyPr/>
                    <a:lstStyle/>
                    <a:p>
                      <a:pPr algn="ctr"/>
                      <a:r>
                        <a:rPr sz="1200" b="0">
                          <a:solidFill>
                            <a:srgbClr val="23262C"/>
                          </a:solidFill>
                          <a:latin typeface="Arial"/>
                        </a:rPr>
                        <a:t>39.76</a:t>
                      </a:r>
                    </a:p>
                  </a:txBody>
                  <a:tcPr>
                    <a:solidFill>
                      <a:srgbClr val="F0F4F8"/>
                    </a:solidFill>
                  </a:tcPr>
                </a:tc>
                <a:tc>
                  <a:txBody>
                    <a:bodyPr/>
                    <a:lstStyle/>
                    <a:p>
                      <a:pPr algn="ctr"/>
                      <a:r>
                        <a:rPr sz="1200" b="0">
                          <a:solidFill>
                            <a:srgbClr val="23262C"/>
                          </a:solidFill>
                          <a:latin typeface="Arial"/>
                        </a:rPr>
                        <a:t>+14.55</a:t>
                      </a:r>
                    </a:p>
                  </a:txBody>
                  <a:tcPr>
                    <a:solidFill>
                      <a:srgbClr val="F0F4F8"/>
                    </a:solidFill>
                  </a:tcPr>
                </a:tc>
                <a:extLst>
                  <a:ext uri="{0D108BD9-81ED-4DB2-BD59-A6C34878D82A}">
                    <a16:rowId xmlns:a16="http://schemas.microsoft.com/office/drawing/2014/main" val="10002"/>
                  </a:ext>
                </a:extLst>
              </a:tr>
              <a:tr h="425000">
                <a:tc>
                  <a:txBody>
                    <a:bodyPr/>
                    <a:lstStyle/>
                    <a:p>
                      <a:pPr algn="ctr"/>
                      <a:r>
                        <a:rPr sz="1200" b="0">
                          <a:solidFill>
                            <a:srgbClr val="23262C"/>
                          </a:solidFill>
                          <a:latin typeface="Arial"/>
                        </a:rPr>
                        <a:t>High</a:t>
                      </a:r>
                    </a:p>
                  </a:txBody>
                  <a:tcPr>
                    <a:solidFill>
                      <a:srgbClr val="F8FAFC"/>
                    </a:solidFill>
                  </a:tcPr>
                </a:tc>
                <a:tc>
                  <a:txBody>
                    <a:bodyPr/>
                    <a:lstStyle/>
                    <a:p>
                      <a:pPr algn="ctr"/>
                      <a:r>
                        <a:rPr sz="1200" b="0">
                          <a:solidFill>
                            <a:srgbClr val="23262C"/>
                          </a:solidFill>
                          <a:latin typeface="Arial"/>
                        </a:rPr>
                        <a:t>42.85</a:t>
                      </a:r>
                    </a:p>
                  </a:txBody>
                  <a:tcPr>
                    <a:solidFill>
                      <a:srgbClr val="F8FAFC"/>
                    </a:solidFill>
                  </a:tcPr>
                </a:tc>
                <a:tc>
                  <a:txBody>
                    <a:bodyPr/>
                    <a:lstStyle/>
                    <a:p>
                      <a:pPr algn="ctr"/>
                      <a:r>
                        <a:rPr sz="1200" b="0" dirty="0">
                          <a:solidFill>
                            <a:srgbClr val="23262C"/>
                          </a:solidFill>
                          <a:latin typeface="Arial"/>
                        </a:rPr>
                        <a:t>77.48</a:t>
                      </a:r>
                    </a:p>
                  </a:txBody>
                  <a:tcPr>
                    <a:solidFill>
                      <a:srgbClr val="F8FAFC"/>
                    </a:solidFill>
                  </a:tcPr>
                </a:tc>
                <a:tc>
                  <a:txBody>
                    <a:bodyPr/>
                    <a:lstStyle/>
                    <a:p>
                      <a:pPr algn="ctr"/>
                      <a:r>
                        <a:rPr sz="1200" b="0" dirty="0">
                          <a:solidFill>
                            <a:srgbClr val="23262C"/>
                          </a:solidFill>
                          <a:latin typeface="Arial"/>
                        </a:rPr>
                        <a:t>+34.63</a:t>
                      </a:r>
                    </a:p>
                  </a:txBody>
                  <a:tcPr>
                    <a:solidFill>
                      <a:srgbClr val="F8FAFC"/>
                    </a:solidFill>
                  </a:tcPr>
                </a:tc>
                <a:extLst>
                  <a:ext uri="{0D108BD9-81ED-4DB2-BD59-A6C34878D82A}">
                    <a16:rowId xmlns:a16="http://schemas.microsoft.com/office/drawing/2014/main" val="10003"/>
                  </a:ext>
                </a:extLst>
              </a:tr>
            </a:tbl>
          </a:graphicData>
        </a:graphic>
      </p:graphicFrame>
      <p:graphicFrame>
        <p:nvGraphicFramePr>
          <p:cNvPr id="44" name="Table 43"/>
          <p:cNvGraphicFramePr>
            <a:graphicFrameLocks noGrp="1"/>
          </p:cNvGraphicFramePr>
          <p:nvPr>
            <p:extLst>
              <p:ext uri="{D42A27DB-BD31-4B8C-83A1-F6EECF244321}">
                <p14:modId xmlns:p14="http://schemas.microsoft.com/office/powerpoint/2010/main" val="2641399916"/>
              </p:ext>
            </p:extLst>
          </p:nvPr>
        </p:nvGraphicFramePr>
        <p:xfrm>
          <a:off x="16199632" y="13701575"/>
          <a:ext cx="4669900" cy="1600000"/>
        </p:xfrm>
        <a:graphic>
          <a:graphicData uri="http://schemas.openxmlformats.org/drawingml/2006/table">
            <a:tbl>
              <a:tblPr firstRow="1" bandRow="1">
                <a:tableStyleId>{5C22544A-7EE6-4342-B048-85BDC9FD1C3A}</a:tableStyleId>
              </a:tblPr>
              <a:tblGrid>
                <a:gridCol w="1556633">
                  <a:extLst>
                    <a:ext uri="{9D8B030D-6E8A-4147-A177-3AD203B41FA5}">
                      <a16:colId xmlns:a16="http://schemas.microsoft.com/office/drawing/2014/main" val="20000"/>
                    </a:ext>
                  </a:extLst>
                </a:gridCol>
                <a:gridCol w="1556633">
                  <a:extLst>
                    <a:ext uri="{9D8B030D-6E8A-4147-A177-3AD203B41FA5}">
                      <a16:colId xmlns:a16="http://schemas.microsoft.com/office/drawing/2014/main" val="20001"/>
                    </a:ext>
                  </a:extLst>
                </a:gridCol>
                <a:gridCol w="1556634">
                  <a:extLst>
                    <a:ext uri="{9D8B030D-6E8A-4147-A177-3AD203B41FA5}">
                      <a16:colId xmlns:a16="http://schemas.microsoft.com/office/drawing/2014/main" val="20002"/>
                    </a:ext>
                  </a:extLst>
                </a:gridCol>
              </a:tblGrid>
              <a:tr h="400000">
                <a:tc>
                  <a:txBody>
                    <a:bodyPr/>
                    <a:lstStyle/>
                    <a:p>
                      <a:pPr algn="ctr"/>
                      <a:r>
                        <a:rPr sz="1200" b="1">
                          <a:solidFill>
                            <a:srgbClr val="FFFFFF"/>
                          </a:solidFill>
                          <a:latin typeface="Arial"/>
                        </a:rPr>
                        <a:t>Ratio</a:t>
                      </a:r>
                    </a:p>
                  </a:txBody>
                  <a:tcPr>
                    <a:solidFill>
                      <a:srgbClr val="760018"/>
                    </a:solidFill>
                  </a:tcPr>
                </a:tc>
                <a:tc>
                  <a:txBody>
                    <a:bodyPr/>
                    <a:lstStyle/>
                    <a:p>
                      <a:pPr algn="ctr"/>
                      <a:r>
                        <a:rPr sz="1200" b="1" dirty="0">
                          <a:solidFill>
                            <a:srgbClr val="FFFFFF"/>
                          </a:solidFill>
                          <a:latin typeface="Arial"/>
                        </a:rPr>
                        <a:t>Transition</a:t>
                      </a:r>
                    </a:p>
                  </a:txBody>
                  <a:tcPr>
                    <a:solidFill>
                      <a:srgbClr val="760018"/>
                    </a:solidFill>
                  </a:tcPr>
                </a:tc>
                <a:tc>
                  <a:txBody>
                    <a:bodyPr/>
                    <a:lstStyle/>
                    <a:p>
                      <a:pPr algn="ctr"/>
                      <a:r>
                        <a:rPr sz="1200" b="1">
                          <a:solidFill>
                            <a:srgbClr val="FFFFFF"/>
                          </a:solidFill>
                          <a:latin typeface="Arial"/>
                        </a:rPr>
                        <a:t>High</a:t>
                      </a:r>
                    </a:p>
                  </a:txBody>
                  <a:tcPr>
                    <a:solidFill>
                      <a:srgbClr val="760018"/>
                    </a:solidFill>
                  </a:tcPr>
                </a:tc>
                <a:extLst>
                  <a:ext uri="{0D108BD9-81ED-4DB2-BD59-A6C34878D82A}">
                    <a16:rowId xmlns:a16="http://schemas.microsoft.com/office/drawing/2014/main" val="10000"/>
                  </a:ext>
                </a:extLst>
              </a:tr>
              <a:tr h="400000">
                <a:tc>
                  <a:txBody>
                    <a:bodyPr/>
                    <a:lstStyle/>
                    <a:p>
                      <a:pPr algn="ctr"/>
                      <a:r>
                        <a:rPr lang="en-US" sz="1200" b="0" dirty="0">
                          <a:solidFill>
                            <a:srgbClr val="23262C"/>
                          </a:solidFill>
                          <a:latin typeface="Arial"/>
                        </a:rPr>
                        <a:t>0.25%</a:t>
                      </a:r>
                      <a:endParaRPr sz="1200" b="0" dirty="0">
                        <a:solidFill>
                          <a:srgbClr val="23262C"/>
                        </a:solidFill>
                        <a:latin typeface="Arial"/>
                      </a:endParaRPr>
                    </a:p>
                  </a:txBody>
                  <a:tcPr>
                    <a:solidFill>
                      <a:srgbClr val="F8FAFC"/>
                    </a:solidFill>
                  </a:tcPr>
                </a:tc>
                <a:tc>
                  <a:txBody>
                    <a:bodyPr/>
                    <a:lstStyle/>
                    <a:p>
                      <a:pPr algn="ctr"/>
                      <a:r>
                        <a:rPr sz="1200" b="0">
                          <a:solidFill>
                            <a:srgbClr val="23262C"/>
                          </a:solidFill>
                          <a:latin typeface="Arial"/>
                        </a:rPr>
                        <a:t>+14.65</a:t>
                      </a:r>
                    </a:p>
                  </a:txBody>
                  <a:tcPr>
                    <a:solidFill>
                      <a:srgbClr val="F8FAFC"/>
                    </a:solidFill>
                  </a:tcPr>
                </a:tc>
                <a:tc>
                  <a:txBody>
                    <a:bodyPr/>
                    <a:lstStyle/>
                    <a:p>
                      <a:pPr algn="ctr"/>
                      <a:r>
                        <a:rPr sz="1200" b="0" dirty="0">
                          <a:solidFill>
                            <a:srgbClr val="23262C"/>
                          </a:solidFill>
                          <a:latin typeface="Arial"/>
                        </a:rPr>
                        <a:t>+49.52</a:t>
                      </a:r>
                    </a:p>
                  </a:txBody>
                  <a:tcPr>
                    <a:solidFill>
                      <a:srgbClr val="F8FAFC"/>
                    </a:solidFill>
                  </a:tcPr>
                </a:tc>
                <a:extLst>
                  <a:ext uri="{0D108BD9-81ED-4DB2-BD59-A6C34878D82A}">
                    <a16:rowId xmlns:a16="http://schemas.microsoft.com/office/drawing/2014/main" val="10001"/>
                  </a:ext>
                </a:extLst>
              </a:tr>
              <a:tr h="400000">
                <a:tc>
                  <a:txBody>
                    <a:bodyPr/>
                    <a:lstStyle/>
                    <a:p>
                      <a:pPr algn="ctr"/>
                      <a:r>
                        <a:rPr sz="1200" b="0" dirty="0">
                          <a:solidFill>
                            <a:srgbClr val="23262C"/>
                          </a:solidFill>
                          <a:latin typeface="Arial"/>
                        </a:rPr>
                        <a:t>0.5</a:t>
                      </a:r>
                      <a:r>
                        <a:rPr lang="en-US" sz="1200" b="0" dirty="0">
                          <a:solidFill>
                            <a:srgbClr val="23262C"/>
                          </a:solidFill>
                          <a:latin typeface="Arial"/>
                        </a:rPr>
                        <a:t>%</a:t>
                      </a:r>
                      <a:endParaRPr sz="1200" b="0" dirty="0">
                        <a:solidFill>
                          <a:srgbClr val="23262C"/>
                        </a:solidFill>
                        <a:latin typeface="Arial"/>
                      </a:endParaRPr>
                    </a:p>
                  </a:txBody>
                  <a:tcPr>
                    <a:solidFill>
                      <a:srgbClr val="F0F4F8"/>
                    </a:solidFill>
                  </a:tcPr>
                </a:tc>
                <a:tc>
                  <a:txBody>
                    <a:bodyPr/>
                    <a:lstStyle/>
                    <a:p>
                      <a:pPr algn="ctr"/>
                      <a:r>
                        <a:rPr sz="1200" b="0">
                          <a:solidFill>
                            <a:srgbClr val="23262C"/>
                          </a:solidFill>
                          <a:latin typeface="Arial"/>
                        </a:rPr>
                        <a:t>+14.55</a:t>
                      </a:r>
                    </a:p>
                  </a:txBody>
                  <a:tcPr>
                    <a:solidFill>
                      <a:srgbClr val="F0F4F8"/>
                    </a:solidFill>
                  </a:tcPr>
                </a:tc>
                <a:tc>
                  <a:txBody>
                    <a:bodyPr/>
                    <a:lstStyle/>
                    <a:p>
                      <a:pPr algn="ctr"/>
                      <a:r>
                        <a:rPr sz="1200" b="0">
                          <a:solidFill>
                            <a:srgbClr val="23262C"/>
                          </a:solidFill>
                          <a:latin typeface="Arial"/>
                        </a:rPr>
                        <a:t>+34.63</a:t>
                      </a:r>
                    </a:p>
                  </a:txBody>
                  <a:tcPr>
                    <a:solidFill>
                      <a:srgbClr val="F0F4F8"/>
                    </a:solidFill>
                  </a:tcPr>
                </a:tc>
                <a:extLst>
                  <a:ext uri="{0D108BD9-81ED-4DB2-BD59-A6C34878D82A}">
                    <a16:rowId xmlns:a16="http://schemas.microsoft.com/office/drawing/2014/main" val="10002"/>
                  </a:ext>
                </a:extLst>
              </a:tr>
              <a:tr h="400000">
                <a:tc>
                  <a:txBody>
                    <a:bodyPr/>
                    <a:lstStyle/>
                    <a:p>
                      <a:pPr algn="ctr"/>
                      <a:r>
                        <a:rPr sz="1200" b="0" dirty="0">
                          <a:solidFill>
                            <a:srgbClr val="23262C"/>
                          </a:solidFill>
                          <a:latin typeface="Arial"/>
                        </a:rPr>
                        <a:t>1</a:t>
                      </a:r>
                      <a:r>
                        <a:rPr lang="en-US" sz="1200" b="0" dirty="0">
                          <a:solidFill>
                            <a:srgbClr val="23262C"/>
                          </a:solidFill>
                          <a:latin typeface="Arial"/>
                        </a:rPr>
                        <a:t>%</a:t>
                      </a:r>
                      <a:endParaRPr sz="1200" b="0" dirty="0">
                        <a:solidFill>
                          <a:srgbClr val="23262C"/>
                        </a:solidFill>
                        <a:latin typeface="Arial"/>
                      </a:endParaRPr>
                    </a:p>
                  </a:txBody>
                  <a:tcPr>
                    <a:solidFill>
                      <a:srgbClr val="F8FAFC"/>
                    </a:solidFill>
                  </a:tcPr>
                </a:tc>
                <a:tc>
                  <a:txBody>
                    <a:bodyPr/>
                    <a:lstStyle/>
                    <a:p>
                      <a:pPr algn="ctr"/>
                      <a:r>
                        <a:rPr sz="1200" b="0" dirty="0">
                          <a:solidFill>
                            <a:srgbClr val="23262C"/>
                          </a:solidFill>
                          <a:latin typeface="Arial"/>
                        </a:rPr>
                        <a:t>+13.25</a:t>
                      </a:r>
                    </a:p>
                  </a:txBody>
                  <a:tcPr>
                    <a:solidFill>
                      <a:srgbClr val="F8FAFC"/>
                    </a:solidFill>
                  </a:tcPr>
                </a:tc>
                <a:tc>
                  <a:txBody>
                    <a:bodyPr/>
                    <a:lstStyle/>
                    <a:p>
                      <a:pPr algn="ctr"/>
                      <a:r>
                        <a:rPr sz="1200" b="0" dirty="0">
                          <a:solidFill>
                            <a:srgbClr val="23262C"/>
                          </a:solidFill>
                          <a:latin typeface="Arial"/>
                        </a:rPr>
                        <a:t>+32.21</a:t>
                      </a:r>
                    </a:p>
                  </a:txBody>
                  <a:tcPr>
                    <a:solidFill>
                      <a:srgbClr val="F8FAFC"/>
                    </a:solidFill>
                  </a:tcPr>
                </a:tc>
                <a:extLst>
                  <a:ext uri="{0D108BD9-81ED-4DB2-BD59-A6C34878D82A}">
                    <a16:rowId xmlns:a16="http://schemas.microsoft.com/office/drawing/2014/main" val="10003"/>
                  </a:ext>
                </a:extLst>
              </a:tr>
            </a:tbl>
          </a:graphicData>
        </a:graphic>
      </p:graphicFrame>
      <p:sp>
        <p:nvSpPr>
          <p:cNvPr id="46" name="Rectangle 45"/>
          <p:cNvSpPr/>
          <p:nvPr/>
        </p:nvSpPr>
        <p:spPr>
          <a:xfrm>
            <a:off x="11349732" y="23413706"/>
            <a:ext cx="46699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429732" y="23500102"/>
            <a:ext cx="4509900" cy="338554"/>
          </a:xfrm>
          <a:prstGeom prst="rect">
            <a:avLst/>
          </a:prstGeom>
          <a:noFill/>
        </p:spPr>
        <p:txBody>
          <a:bodyPr wrap="square" anchor="ctr">
            <a:spAutoFit/>
          </a:bodyPr>
          <a:lstStyle/>
          <a:p>
            <a:pPr algn="l"/>
            <a:r>
              <a:rPr sz="1600" b="1" dirty="0">
                <a:solidFill>
                  <a:srgbClr val="FFFFFF"/>
                </a:solidFill>
                <a:latin typeface="Arial"/>
              </a:rPr>
              <a:t>4. Per-Modulation Analysis</a:t>
            </a:r>
          </a:p>
        </p:txBody>
      </p:sp>
      <p:sp>
        <p:nvSpPr>
          <p:cNvPr id="48" name="Rectangle 47"/>
          <p:cNvSpPr/>
          <p:nvPr/>
        </p:nvSpPr>
        <p:spPr>
          <a:xfrm>
            <a:off x="16199632" y="23413706"/>
            <a:ext cx="4669900" cy="475488"/>
          </a:xfrm>
          <a:prstGeom prst="rect">
            <a:avLst/>
          </a:prstGeom>
          <a:solidFill>
            <a:srgbClr val="760018"/>
          </a:solidFill>
          <a:ln>
            <a:solidFill>
              <a:srgbClr val="76001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6279632" y="23500102"/>
            <a:ext cx="4509900" cy="338554"/>
          </a:xfrm>
          <a:prstGeom prst="rect">
            <a:avLst/>
          </a:prstGeom>
          <a:noFill/>
        </p:spPr>
        <p:txBody>
          <a:bodyPr wrap="square" anchor="ctr">
            <a:spAutoFit/>
          </a:bodyPr>
          <a:lstStyle/>
          <a:p>
            <a:pPr algn="l"/>
            <a:r>
              <a:rPr lang="en-US" sz="1600" b="1" dirty="0">
                <a:solidFill>
                  <a:srgbClr val="FFFFFF"/>
                </a:solidFill>
                <a:latin typeface="Arial"/>
              </a:rPr>
              <a:t>5</a:t>
            </a:r>
            <a:r>
              <a:rPr sz="1600" b="1" dirty="0">
                <a:solidFill>
                  <a:srgbClr val="FFFFFF"/>
                </a:solidFill>
                <a:latin typeface="Arial"/>
              </a:rPr>
              <a:t>. Takeaway</a:t>
            </a:r>
          </a:p>
        </p:txBody>
      </p:sp>
      <p:pic>
        <p:nvPicPr>
          <p:cNvPr id="50" name="Picture 49" descr="image.png"/>
          <p:cNvPicPr>
            <a:picLocks noChangeAspect="1"/>
          </p:cNvPicPr>
          <p:nvPr/>
        </p:nvPicPr>
        <p:blipFill>
          <a:blip r:embed="rId5"/>
          <a:stretch>
            <a:fillRect/>
          </a:stretch>
        </p:blipFill>
        <p:spPr>
          <a:xfrm>
            <a:off x="11196612" y="24157411"/>
            <a:ext cx="4669900" cy="4147733"/>
          </a:xfrm>
          <a:prstGeom prst="rect">
            <a:avLst/>
          </a:prstGeom>
        </p:spPr>
      </p:pic>
      <p:grpSp>
        <p:nvGrpSpPr>
          <p:cNvPr id="6" name="그룹 5">
            <a:extLst>
              <a:ext uri="{FF2B5EF4-FFF2-40B4-BE49-F238E27FC236}">
                <a16:creationId xmlns:a16="http://schemas.microsoft.com/office/drawing/2014/main" id="{5C4298BA-CDF7-58F3-89CB-4DF64718EC43}"/>
              </a:ext>
            </a:extLst>
          </p:cNvPr>
          <p:cNvGrpSpPr/>
          <p:nvPr/>
        </p:nvGrpSpPr>
        <p:grpSpPr>
          <a:xfrm>
            <a:off x="17089418" y="5282094"/>
            <a:ext cx="3791815" cy="4574983"/>
            <a:chOff x="17188054" y="4652937"/>
            <a:chExt cx="4195396" cy="4582777"/>
          </a:xfrm>
        </p:grpSpPr>
        <p:pic>
          <p:nvPicPr>
            <p:cNvPr id="37" name="Picture 36" descr="image1.png"/>
            <p:cNvPicPr>
              <a:picLocks noChangeAspect="1"/>
            </p:cNvPicPr>
            <p:nvPr/>
          </p:nvPicPr>
          <p:blipFill>
            <a:blip r:embed="rId6"/>
            <a:srcRect b="13909"/>
            <a:stretch>
              <a:fillRect/>
            </a:stretch>
          </p:blipFill>
          <p:spPr>
            <a:xfrm>
              <a:off x="17188054" y="4681914"/>
              <a:ext cx="4195396" cy="4553800"/>
            </a:xfrm>
            <a:prstGeom prst="rect">
              <a:avLst/>
            </a:prstGeom>
          </p:spPr>
        </p:pic>
        <p:pic>
          <p:nvPicPr>
            <p:cNvPr id="2" name="Picture 36" descr="image1.png">
              <a:extLst>
                <a:ext uri="{FF2B5EF4-FFF2-40B4-BE49-F238E27FC236}">
                  <a16:creationId xmlns:a16="http://schemas.microsoft.com/office/drawing/2014/main" id="{A2C48D31-A07B-3025-AFE2-C2E58A03FB1A}"/>
                </a:ext>
              </a:extLst>
            </p:cNvPr>
            <p:cNvPicPr>
              <a:picLocks noChangeAspect="1"/>
            </p:cNvPicPr>
            <p:nvPr/>
          </p:nvPicPr>
          <p:blipFill>
            <a:blip r:embed="rId6"/>
            <a:srcRect r="95747" b="86508"/>
            <a:stretch>
              <a:fillRect/>
            </a:stretch>
          </p:blipFill>
          <p:spPr>
            <a:xfrm>
              <a:off x="17374440" y="4652937"/>
              <a:ext cx="524791" cy="713636"/>
            </a:xfrm>
            <a:prstGeom prst="rect">
              <a:avLst/>
            </a:prstGeom>
          </p:spPr>
        </p:pic>
      </p:grpSp>
      <p:sp>
        <p:nvSpPr>
          <p:cNvPr id="53" name="TextBox 52"/>
          <p:cNvSpPr txBox="1"/>
          <p:nvPr/>
        </p:nvSpPr>
        <p:spPr>
          <a:xfrm>
            <a:off x="11395007" y="28201359"/>
            <a:ext cx="4669900" cy="1384995"/>
          </a:xfrm>
          <a:prstGeom prst="rect">
            <a:avLst/>
          </a:prstGeom>
          <a:noFill/>
        </p:spPr>
        <p:txBody>
          <a:bodyPr wrap="square" lIns="65000" rIns="65000" anchor="ctr">
            <a:spAutoFit/>
          </a:bodyPr>
          <a:lstStyle/>
          <a:p>
            <a:r>
              <a:rPr lang="en-US" altLang="ko-KR" sz="1200" dirty="0">
                <a:latin typeface="Arial" panose="020B0604020202020204" pitchFamily="34" charset="0"/>
                <a:cs typeface="Arial" panose="020B0604020202020204" pitchFamily="34" charset="0"/>
              </a:rPr>
              <a:t>SSL improves the accuracy of all modulation classes compared with SL, including relatively simple modulations such as BPSK. The gain becomes especially noticeable for higher-order modulations such as 16QAM and 64QAM, where class boundaries are more sensitive to noise and limited labels. Overall, the result suggests that SSL helps the encoder learn more robust and transferable RF signal representations across different modulation types.</a:t>
            </a:r>
            <a:endParaRPr sz="1200" b="0" dirty="0">
              <a:solidFill>
                <a:srgbClr val="505660"/>
              </a:solidFill>
              <a:latin typeface="Arial"/>
            </a:endParaRPr>
          </a:p>
        </p:txBody>
      </p:sp>
      <p:sp>
        <p:nvSpPr>
          <p:cNvPr id="54" name="TextBox 53"/>
          <p:cNvSpPr txBox="1"/>
          <p:nvPr/>
        </p:nvSpPr>
        <p:spPr>
          <a:xfrm>
            <a:off x="11196612" y="4627138"/>
            <a:ext cx="5818910" cy="2985433"/>
          </a:xfrm>
          <a:prstGeom prst="rect">
            <a:avLst/>
          </a:prstGeom>
          <a:noFill/>
        </p:spPr>
        <p:txBody>
          <a:bodyPr wrap="square" lIns="65000" rIns="65000" anchor="ctr">
            <a:spAutoFit/>
          </a:bodyPr>
          <a:lstStyle/>
          <a:p>
            <a:pPr algn="l"/>
            <a:r>
              <a:rPr sz="1300" b="1" dirty="0">
                <a:solidFill>
                  <a:srgbClr val="23262C"/>
                </a:solidFill>
                <a:latin typeface="Arial"/>
              </a:rPr>
              <a:t>Current trend</a:t>
            </a:r>
            <a:r>
              <a:rPr sz="1300" dirty="0">
                <a:solidFill>
                  <a:srgbClr val="23262C"/>
                </a:solidFill>
                <a:latin typeface="Arial"/>
              </a:rPr>
              <a:t>: </a:t>
            </a:r>
            <a:endParaRPr lang="en-US" sz="1300" dirty="0">
              <a:solidFill>
                <a:srgbClr val="23262C"/>
              </a:solidFill>
              <a:latin typeface="Arial"/>
            </a:endParaRPr>
          </a:p>
          <a:p>
            <a:pPr algn="l"/>
            <a:r>
              <a:rPr sz="1200" dirty="0">
                <a:solidFill>
                  <a:srgbClr val="23262C"/>
                </a:solidFill>
                <a:latin typeface="Arial"/>
              </a:rPr>
              <a:t>RF systems increasingly require automatic modulation recognition.</a:t>
            </a:r>
            <a:endParaRPr lang="en-US" sz="1200" dirty="0">
              <a:solidFill>
                <a:srgbClr val="23262C"/>
              </a:solidFill>
              <a:latin typeface="Arial"/>
            </a:endParaRPr>
          </a:p>
          <a:p>
            <a:r>
              <a:rPr lang="en-US" altLang="ko-KR" sz="1200" dirty="0">
                <a:latin typeface="Arial" panose="020B0604020202020204" pitchFamily="34" charset="0"/>
                <a:cs typeface="Arial" panose="020B0604020202020204" pitchFamily="34" charset="0"/>
              </a:rPr>
              <a:t>Machine learning-based classification research has become increasingly active.</a:t>
            </a:r>
            <a:endParaRPr lang="en-US" sz="1200" dirty="0">
              <a:solidFill>
                <a:srgbClr val="23262C"/>
              </a:solidFill>
              <a:latin typeface="Arial" panose="020B0604020202020204" pitchFamily="34" charset="0"/>
              <a:cs typeface="Arial" panose="020B0604020202020204" pitchFamily="34" charset="0"/>
            </a:endParaRPr>
          </a:p>
          <a:p>
            <a:br>
              <a:rPr dirty="0"/>
            </a:br>
            <a:r>
              <a:rPr lang="en-US" altLang="ko-KR" sz="1300" b="1" dirty="0">
                <a:latin typeface="Arial" panose="020B0604020202020204" pitchFamily="34" charset="0"/>
                <a:cs typeface="Arial" panose="020B0604020202020204" pitchFamily="34" charset="0"/>
              </a:rPr>
              <a:t>Data issue</a:t>
            </a:r>
            <a:r>
              <a:rPr lang="en-US" altLang="ko-KR" sz="1300" dirty="0">
                <a:latin typeface="Arial" panose="020B0604020202020204" pitchFamily="34" charset="0"/>
                <a:cs typeface="Arial" panose="020B0604020202020204" pitchFamily="34" charset="0"/>
              </a:rPr>
              <a:t>: </a:t>
            </a:r>
          </a:p>
          <a:p>
            <a:r>
              <a:rPr lang="en-US" altLang="ko-KR" sz="1200" dirty="0">
                <a:latin typeface="Arial" panose="020B0604020202020204" pitchFamily="34" charset="0"/>
                <a:cs typeface="Arial" panose="020B0604020202020204" pitchFamily="34" charset="0"/>
              </a:rPr>
              <a:t>Labeled I/Q datasets are costly to build, </a:t>
            </a:r>
          </a:p>
          <a:p>
            <a:r>
              <a:rPr lang="en-US" altLang="ko-KR" sz="1200" dirty="0">
                <a:latin typeface="Arial" panose="020B0604020202020204" pitchFamily="34" charset="0"/>
                <a:cs typeface="Arial" panose="020B0604020202020204" pitchFamily="34" charset="0"/>
              </a:rPr>
              <a:t>while unlabeled RF signals are relatively easy to collect.</a:t>
            </a:r>
            <a:endParaRPr lang="en-US" sz="1200" dirty="0">
              <a:solidFill>
                <a:srgbClr val="23262C"/>
              </a:solidFill>
              <a:latin typeface="Arial" panose="020B0604020202020204" pitchFamily="34" charset="0"/>
              <a:cs typeface="Arial" panose="020B0604020202020204" pitchFamily="34" charset="0"/>
            </a:endParaRPr>
          </a:p>
          <a:p>
            <a:pPr algn="l"/>
            <a:br>
              <a:rPr sz="1300" dirty="0"/>
            </a:br>
            <a:r>
              <a:rPr sz="1300" b="1" dirty="0">
                <a:solidFill>
                  <a:srgbClr val="23262C"/>
                </a:solidFill>
                <a:latin typeface="Arial"/>
              </a:rPr>
              <a:t>SSL idea</a:t>
            </a:r>
            <a:r>
              <a:rPr sz="1300" dirty="0">
                <a:solidFill>
                  <a:srgbClr val="23262C"/>
                </a:solidFill>
                <a:latin typeface="Arial"/>
              </a:rPr>
              <a:t>:</a:t>
            </a:r>
            <a:endParaRPr lang="en-US" sz="1300" dirty="0">
              <a:solidFill>
                <a:srgbClr val="23262C"/>
              </a:solidFill>
              <a:latin typeface="Arial"/>
            </a:endParaRPr>
          </a:p>
          <a:p>
            <a:pPr algn="l"/>
            <a:r>
              <a:rPr lang="en-US" sz="1200" dirty="0">
                <a:solidFill>
                  <a:srgbClr val="23262C"/>
                </a:solidFill>
                <a:latin typeface="Arial"/>
              </a:rPr>
              <a:t>Step1. </a:t>
            </a:r>
            <a:r>
              <a:rPr sz="1200" dirty="0">
                <a:solidFill>
                  <a:srgbClr val="23262C"/>
                </a:solidFill>
                <a:latin typeface="Arial"/>
              </a:rPr>
              <a:t>pretrain an encoder </a:t>
            </a:r>
            <a:r>
              <a:rPr lang="en-US" sz="1200" dirty="0">
                <a:solidFill>
                  <a:srgbClr val="23262C"/>
                </a:solidFill>
                <a:latin typeface="Arial"/>
              </a:rPr>
              <a:t>using</a:t>
            </a:r>
            <a:r>
              <a:rPr sz="1200" dirty="0">
                <a:solidFill>
                  <a:srgbClr val="23262C"/>
                </a:solidFill>
                <a:latin typeface="Arial"/>
              </a:rPr>
              <a:t> </a:t>
            </a:r>
            <a:r>
              <a:rPr lang="en-US" sz="1200" dirty="0" err="1">
                <a:solidFill>
                  <a:srgbClr val="23262C"/>
                </a:solidFill>
                <a:latin typeface="Arial"/>
              </a:rPr>
              <a:t>SimCLR</a:t>
            </a:r>
            <a:r>
              <a:rPr lang="en-US" sz="1200" dirty="0">
                <a:solidFill>
                  <a:srgbClr val="23262C"/>
                </a:solidFill>
                <a:latin typeface="Arial"/>
              </a:rPr>
              <a:t>-style</a:t>
            </a:r>
          </a:p>
          <a:p>
            <a:pPr algn="l"/>
            <a:r>
              <a:rPr lang="en-US" sz="1200" dirty="0">
                <a:solidFill>
                  <a:srgbClr val="23262C"/>
                </a:solidFill>
                <a:latin typeface="Arial"/>
              </a:rPr>
              <a:t>Step2. </a:t>
            </a:r>
            <a:r>
              <a:rPr sz="1200" dirty="0">
                <a:solidFill>
                  <a:srgbClr val="23262C"/>
                </a:solidFill>
                <a:latin typeface="Arial"/>
              </a:rPr>
              <a:t>fine-tune</a:t>
            </a:r>
            <a:r>
              <a:rPr lang="en-US" sz="1200" dirty="0">
                <a:solidFill>
                  <a:srgbClr val="23262C"/>
                </a:solidFill>
                <a:latin typeface="Arial"/>
              </a:rPr>
              <a:t> </a:t>
            </a:r>
            <a:r>
              <a:rPr lang="en-US" sz="1200" dirty="0" err="1">
                <a:solidFill>
                  <a:srgbClr val="23262C"/>
                </a:solidFill>
                <a:latin typeface="Arial"/>
              </a:rPr>
              <a:t>encoder+classifier</a:t>
            </a:r>
            <a:r>
              <a:rPr sz="1200" dirty="0">
                <a:solidFill>
                  <a:srgbClr val="23262C"/>
                </a:solidFill>
                <a:latin typeface="Arial"/>
              </a:rPr>
              <a:t> with few labels.</a:t>
            </a:r>
            <a:r>
              <a:rPr lang="en-US" sz="1200" dirty="0">
                <a:solidFill>
                  <a:srgbClr val="23262C"/>
                </a:solidFill>
                <a:latin typeface="Arial"/>
              </a:rPr>
              <a:t> </a:t>
            </a:r>
          </a:p>
          <a:p>
            <a:pPr algn="l"/>
            <a:br>
              <a:rPr dirty="0"/>
            </a:br>
            <a:r>
              <a:rPr sz="1300" b="1" dirty="0">
                <a:solidFill>
                  <a:srgbClr val="23262C"/>
                </a:solidFill>
                <a:latin typeface="Arial"/>
              </a:rPr>
              <a:t>Research focus</a:t>
            </a:r>
            <a:r>
              <a:rPr sz="1300" dirty="0">
                <a:solidFill>
                  <a:srgbClr val="23262C"/>
                </a:solidFill>
                <a:latin typeface="Arial"/>
              </a:rPr>
              <a:t>: </a:t>
            </a:r>
            <a:endParaRPr lang="en-US" sz="1300" dirty="0">
              <a:solidFill>
                <a:srgbClr val="23262C"/>
              </a:solidFill>
              <a:latin typeface="Arial"/>
            </a:endParaRPr>
          </a:p>
          <a:p>
            <a:pPr algn="l"/>
            <a:r>
              <a:rPr lang="en-US" sz="1200" dirty="0">
                <a:solidFill>
                  <a:srgbClr val="23262C"/>
                </a:solidFill>
                <a:latin typeface="Arial"/>
              </a:rPr>
              <a:t>I</a:t>
            </a:r>
            <a:r>
              <a:rPr sz="1200" dirty="0">
                <a:solidFill>
                  <a:srgbClr val="23262C"/>
                </a:solidFill>
                <a:latin typeface="Arial"/>
              </a:rPr>
              <a:t>dentify which SNR regimes actually benefit from SSL under scarce labels.</a:t>
            </a:r>
          </a:p>
        </p:txBody>
      </p:sp>
      <p:graphicFrame>
        <p:nvGraphicFramePr>
          <p:cNvPr id="55" name="Table 54"/>
          <p:cNvGraphicFramePr>
            <a:graphicFrameLocks noGrp="1"/>
          </p:cNvGraphicFramePr>
          <p:nvPr>
            <p:extLst>
              <p:ext uri="{D42A27DB-BD31-4B8C-83A1-F6EECF244321}">
                <p14:modId xmlns:p14="http://schemas.microsoft.com/office/powerpoint/2010/main" val="181650206"/>
              </p:ext>
            </p:extLst>
          </p:nvPr>
        </p:nvGraphicFramePr>
        <p:xfrm>
          <a:off x="11194732" y="7887090"/>
          <a:ext cx="5693712" cy="2500000"/>
        </p:xfrm>
        <a:graphic>
          <a:graphicData uri="http://schemas.openxmlformats.org/drawingml/2006/table">
            <a:tbl>
              <a:tblPr firstRow="1" bandRow="1">
                <a:tableStyleId>{5C22544A-7EE6-4342-B048-85BDC9FD1C3A}</a:tableStyleId>
              </a:tblPr>
              <a:tblGrid>
                <a:gridCol w="2846856">
                  <a:extLst>
                    <a:ext uri="{9D8B030D-6E8A-4147-A177-3AD203B41FA5}">
                      <a16:colId xmlns:a16="http://schemas.microsoft.com/office/drawing/2014/main" val="20000"/>
                    </a:ext>
                  </a:extLst>
                </a:gridCol>
                <a:gridCol w="2846856">
                  <a:extLst>
                    <a:ext uri="{9D8B030D-6E8A-4147-A177-3AD203B41FA5}">
                      <a16:colId xmlns:a16="http://schemas.microsoft.com/office/drawing/2014/main" val="20001"/>
                    </a:ext>
                  </a:extLst>
                </a:gridCol>
              </a:tblGrid>
              <a:tr h="312500">
                <a:tc>
                  <a:txBody>
                    <a:bodyPr/>
                    <a:lstStyle/>
                    <a:p>
                      <a:pPr algn="ctr"/>
                      <a:r>
                        <a:rPr sz="1200" b="1">
                          <a:solidFill>
                            <a:srgbClr val="FFFFFF"/>
                          </a:solidFill>
                          <a:latin typeface="Arial"/>
                        </a:rPr>
                        <a:t>Item</a:t>
                      </a:r>
                    </a:p>
                  </a:txBody>
                  <a:tcPr>
                    <a:solidFill>
                      <a:srgbClr val="760018"/>
                    </a:solidFill>
                  </a:tcPr>
                </a:tc>
                <a:tc>
                  <a:txBody>
                    <a:bodyPr/>
                    <a:lstStyle/>
                    <a:p>
                      <a:pPr algn="l"/>
                      <a:r>
                        <a:rPr sz="1200" b="1" dirty="0">
                          <a:solidFill>
                            <a:srgbClr val="FFFFFF"/>
                          </a:solidFill>
                          <a:latin typeface="Arial"/>
                        </a:rPr>
                        <a:t>Setting</a:t>
                      </a:r>
                    </a:p>
                  </a:txBody>
                  <a:tcPr>
                    <a:solidFill>
                      <a:srgbClr val="760018"/>
                    </a:solidFill>
                  </a:tcPr>
                </a:tc>
                <a:extLst>
                  <a:ext uri="{0D108BD9-81ED-4DB2-BD59-A6C34878D82A}">
                    <a16:rowId xmlns:a16="http://schemas.microsoft.com/office/drawing/2014/main" val="10000"/>
                  </a:ext>
                </a:extLst>
              </a:tr>
              <a:tr h="312500">
                <a:tc>
                  <a:txBody>
                    <a:bodyPr/>
                    <a:lstStyle/>
                    <a:p>
                      <a:pPr algn="ctr"/>
                      <a:r>
                        <a:rPr sz="1200" b="0">
                          <a:solidFill>
                            <a:srgbClr val="23262C"/>
                          </a:solidFill>
                          <a:latin typeface="Arial"/>
                        </a:rPr>
                        <a:t>Task</a:t>
                      </a:r>
                    </a:p>
                  </a:txBody>
                  <a:tcPr>
                    <a:solidFill>
                      <a:srgbClr val="F8FAFC"/>
                    </a:solidFill>
                  </a:tcPr>
                </a:tc>
                <a:tc>
                  <a:txBody>
                    <a:bodyPr/>
                    <a:lstStyle/>
                    <a:p>
                      <a:pPr algn="l"/>
                      <a:r>
                        <a:rPr sz="1200" b="0" dirty="0">
                          <a:solidFill>
                            <a:srgbClr val="23262C"/>
                          </a:solidFill>
                          <a:latin typeface="Arial"/>
                        </a:rPr>
                        <a:t>5-class I/Q modulation classification</a:t>
                      </a:r>
                    </a:p>
                  </a:txBody>
                  <a:tcPr>
                    <a:solidFill>
                      <a:srgbClr val="F8FAFC"/>
                    </a:solidFill>
                  </a:tcPr>
                </a:tc>
                <a:extLst>
                  <a:ext uri="{0D108BD9-81ED-4DB2-BD59-A6C34878D82A}">
                    <a16:rowId xmlns:a16="http://schemas.microsoft.com/office/drawing/2014/main" val="10001"/>
                  </a:ext>
                </a:extLst>
              </a:tr>
              <a:tr h="312500">
                <a:tc>
                  <a:txBody>
                    <a:bodyPr/>
                    <a:lstStyle/>
                    <a:p>
                      <a:pPr algn="ctr"/>
                      <a:r>
                        <a:rPr sz="1200" b="0">
                          <a:solidFill>
                            <a:srgbClr val="23262C"/>
                          </a:solidFill>
                          <a:latin typeface="Arial"/>
                        </a:rPr>
                        <a:t>Modulations</a:t>
                      </a:r>
                    </a:p>
                  </a:txBody>
                  <a:tcPr>
                    <a:solidFill>
                      <a:srgbClr val="F0F4F8"/>
                    </a:solidFill>
                  </a:tcPr>
                </a:tc>
                <a:tc>
                  <a:txBody>
                    <a:bodyPr/>
                    <a:lstStyle/>
                    <a:p>
                      <a:pPr algn="l"/>
                      <a:r>
                        <a:rPr sz="1200" b="0" dirty="0">
                          <a:solidFill>
                            <a:srgbClr val="23262C"/>
                          </a:solidFill>
                          <a:latin typeface="Arial"/>
                        </a:rPr>
                        <a:t>BPSK, QPSK, 8PSK, 16QAM, 64QAM</a:t>
                      </a:r>
                    </a:p>
                  </a:txBody>
                  <a:tcPr>
                    <a:solidFill>
                      <a:srgbClr val="F0F4F8"/>
                    </a:solidFill>
                  </a:tcPr>
                </a:tc>
                <a:extLst>
                  <a:ext uri="{0D108BD9-81ED-4DB2-BD59-A6C34878D82A}">
                    <a16:rowId xmlns:a16="http://schemas.microsoft.com/office/drawing/2014/main" val="10002"/>
                  </a:ext>
                </a:extLst>
              </a:tr>
              <a:tr h="312500">
                <a:tc>
                  <a:txBody>
                    <a:bodyPr/>
                    <a:lstStyle/>
                    <a:p>
                      <a:pPr algn="ctr"/>
                      <a:r>
                        <a:rPr sz="1200" b="0">
                          <a:solidFill>
                            <a:srgbClr val="23262C"/>
                          </a:solidFill>
                          <a:latin typeface="Arial"/>
                        </a:rPr>
                        <a:t>Input</a:t>
                      </a:r>
                    </a:p>
                  </a:txBody>
                  <a:tcPr>
                    <a:solidFill>
                      <a:srgbClr val="F8FAFC"/>
                    </a:solidFill>
                  </a:tcPr>
                </a:tc>
                <a:tc>
                  <a:txBody>
                    <a:bodyPr/>
                    <a:lstStyle/>
                    <a:p>
                      <a:pPr algn="l"/>
                      <a:r>
                        <a:rPr sz="1200" b="0">
                          <a:solidFill>
                            <a:srgbClr val="23262C"/>
                          </a:solidFill>
                          <a:latin typeface="Arial"/>
                        </a:rPr>
                        <a:t>2 x 4096 I/Q samples</a:t>
                      </a:r>
                    </a:p>
                  </a:txBody>
                  <a:tcPr>
                    <a:solidFill>
                      <a:srgbClr val="F8FAFC"/>
                    </a:solidFill>
                  </a:tcPr>
                </a:tc>
                <a:extLst>
                  <a:ext uri="{0D108BD9-81ED-4DB2-BD59-A6C34878D82A}">
                    <a16:rowId xmlns:a16="http://schemas.microsoft.com/office/drawing/2014/main" val="10003"/>
                  </a:ext>
                </a:extLst>
              </a:tr>
              <a:tr h="312500">
                <a:tc>
                  <a:txBody>
                    <a:bodyPr/>
                    <a:lstStyle/>
                    <a:p>
                      <a:pPr algn="ctr"/>
                      <a:r>
                        <a:rPr sz="1200" b="0">
                          <a:solidFill>
                            <a:srgbClr val="23262C"/>
                          </a:solidFill>
                          <a:latin typeface="Arial"/>
                        </a:rPr>
                        <a:t>Label ratio</a:t>
                      </a:r>
                    </a:p>
                  </a:txBody>
                  <a:tcPr>
                    <a:solidFill>
                      <a:srgbClr val="F0F4F8"/>
                    </a:solidFill>
                  </a:tcPr>
                </a:tc>
                <a:tc>
                  <a:txBody>
                    <a:bodyPr/>
                    <a:lstStyle/>
                    <a:p>
                      <a:pPr algn="l"/>
                      <a:r>
                        <a:rPr lang="en-US" sz="1200" b="0" dirty="0">
                          <a:solidFill>
                            <a:srgbClr val="23262C"/>
                          </a:solidFill>
                          <a:latin typeface="Arial"/>
                        </a:rPr>
                        <a:t>0.25% 0.5%, 1%</a:t>
                      </a:r>
                      <a:endParaRPr sz="1200" b="0" dirty="0">
                        <a:solidFill>
                          <a:srgbClr val="23262C"/>
                        </a:solidFill>
                        <a:latin typeface="Arial"/>
                      </a:endParaRPr>
                    </a:p>
                  </a:txBody>
                  <a:tcPr>
                    <a:solidFill>
                      <a:srgbClr val="F0F4F8"/>
                    </a:solidFill>
                  </a:tcPr>
                </a:tc>
                <a:extLst>
                  <a:ext uri="{0D108BD9-81ED-4DB2-BD59-A6C34878D82A}">
                    <a16:rowId xmlns:a16="http://schemas.microsoft.com/office/drawing/2014/main" val="10004"/>
                  </a:ext>
                </a:extLst>
              </a:tr>
              <a:tr h="312500">
                <a:tc>
                  <a:txBody>
                    <a:bodyPr/>
                    <a:lstStyle/>
                    <a:p>
                      <a:pPr algn="ctr"/>
                      <a:r>
                        <a:rPr sz="1200" b="0">
                          <a:solidFill>
                            <a:srgbClr val="23262C"/>
                          </a:solidFill>
                          <a:latin typeface="Arial"/>
                        </a:rPr>
                        <a:t>Train SNR</a:t>
                      </a:r>
                    </a:p>
                  </a:txBody>
                  <a:tcPr>
                    <a:solidFill>
                      <a:srgbClr val="F8FAFC"/>
                    </a:solidFill>
                  </a:tcPr>
                </a:tc>
                <a:tc>
                  <a:txBody>
                    <a:bodyPr/>
                    <a:lstStyle/>
                    <a:p>
                      <a:pPr algn="l"/>
                      <a:r>
                        <a:rPr sz="1200" b="0">
                          <a:solidFill>
                            <a:srgbClr val="23262C"/>
                          </a:solidFill>
                          <a:latin typeface="Arial"/>
                        </a:rPr>
                        <a:t>0, 5, 10, 15, 20 dB</a:t>
                      </a:r>
                    </a:p>
                  </a:txBody>
                  <a:tcPr>
                    <a:solidFill>
                      <a:srgbClr val="F8FAFC"/>
                    </a:solidFill>
                  </a:tcPr>
                </a:tc>
                <a:extLst>
                  <a:ext uri="{0D108BD9-81ED-4DB2-BD59-A6C34878D82A}">
                    <a16:rowId xmlns:a16="http://schemas.microsoft.com/office/drawing/2014/main" val="10005"/>
                  </a:ext>
                </a:extLst>
              </a:tr>
              <a:tr h="312500">
                <a:tc>
                  <a:txBody>
                    <a:bodyPr/>
                    <a:lstStyle/>
                    <a:p>
                      <a:pPr algn="ctr"/>
                      <a:r>
                        <a:rPr sz="1200" b="0">
                          <a:solidFill>
                            <a:srgbClr val="23262C"/>
                          </a:solidFill>
                          <a:latin typeface="Arial"/>
                        </a:rPr>
                        <a:t>Dense test SNR</a:t>
                      </a:r>
                    </a:p>
                  </a:txBody>
                  <a:tcPr>
                    <a:solidFill>
                      <a:srgbClr val="F0F4F8"/>
                    </a:solidFill>
                  </a:tcPr>
                </a:tc>
                <a:tc>
                  <a:txBody>
                    <a:bodyPr/>
                    <a:lstStyle/>
                    <a:p>
                      <a:pPr algn="l"/>
                      <a:r>
                        <a:rPr sz="1200" b="0" dirty="0">
                          <a:solidFill>
                            <a:srgbClr val="23262C"/>
                          </a:solidFill>
                          <a:latin typeface="Arial"/>
                        </a:rPr>
                        <a:t>-10, -5, 0-5, 10, 15, 20 dB</a:t>
                      </a:r>
                    </a:p>
                  </a:txBody>
                  <a:tcPr>
                    <a:solidFill>
                      <a:srgbClr val="F0F4F8"/>
                    </a:solidFill>
                  </a:tcPr>
                </a:tc>
                <a:extLst>
                  <a:ext uri="{0D108BD9-81ED-4DB2-BD59-A6C34878D82A}">
                    <a16:rowId xmlns:a16="http://schemas.microsoft.com/office/drawing/2014/main" val="10006"/>
                  </a:ext>
                </a:extLst>
              </a:tr>
              <a:tr h="312500">
                <a:tc>
                  <a:txBody>
                    <a:bodyPr/>
                    <a:lstStyle/>
                    <a:p>
                      <a:pPr algn="ctr"/>
                      <a:r>
                        <a:rPr sz="1200" b="0" dirty="0">
                          <a:solidFill>
                            <a:srgbClr val="23262C"/>
                          </a:solidFill>
                          <a:latin typeface="Arial"/>
                        </a:rPr>
                        <a:t>Models</a:t>
                      </a:r>
                    </a:p>
                  </a:txBody>
                  <a:tcPr>
                    <a:solidFill>
                      <a:srgbClr val="F8FAFC"/>
                    </a:solidFill>
                  </a:tcPr>
                </a:tc>
                <a:tc>
                  <a:txBody>
                    <a:bodyPr/>
                    <a:lstStyle/>
                    <a:p>
                      <a:pPr algn="l"/>
                      <a:r>
                        <a:rPr sz="1200" b="0" dirty="0">
                          <a:solidFill>
                            <a:srgbClr val="23262C"/>
                          </a:solidFill>
                          <a:latin typeface="Arial"/>
                        </a:rPr>
                        <a:t>SL, contrastive SSL, </a:t>
                      </a:r>
                      <a:r>
                        <a:rPr lang="en-US" sz="1200" b="0" dirty="0">
                          <a:solidFill>
                            <a:srgbClr val="23262C"/>
                          </a:solidFill>
                          <a:latin typeface="Arial"/>
                        </a:rPr>
                        <a:t>additional  SSLs</a:t>
                      </a:r>
                      <a:endParaRPr sz="1200" b="0" dirty="0">
                        <a:solidFill>
                          <a:srgbClr val="23262C"/>
                        </a:solidFill>
                        <a:latin typeface="Arial"/>
                      </a:endParaRPr>
                    </a:p>
                  </a:txBody>
                  <a:tcPr>
                    <a:solidFill>
                      <a:srgbClr val="F8FAFC"/>
                    </a:solidFill>
                  </a:tcPr>
                </a:tc>
                <a:extLst>
                  <a:ext uri="{0D108BD9-81ED-4DB2-BD59-A6C34878D82A}">
                    <a16:rowId xmlns:a16="http://schemas.microsoft.com/office/drawing/2014/main" val="10007"/>
                  </a:ext>
                </a:extLst>
              </a:tr>
            </a:tbl>
          </a:graphicData>
        </a:graphic>
      </p:graphicFrame>
      <p:pic>
        <p:nvPicPr>
          <p:cNvPr id="7" name="그림 6">
            <a:extLst>
              <a:ext uri="{FF2B5EF4-FFF2-40B4-BE49-F238E27FC236}">
                <a16:creationId xmlns:a16="http://schemas.microsoft.com/office/drawing/2014/main" id="{E5C9383C-B706-2F6D-65C5-447E30A00FA5}"/>
              </a:ext>
            </a:extLst>
          </p:cNvPr>
          <p:cNvPicPr>
            <a:picLocks noChangeAspect="1"/>
          </p:cNvPicPr>
          <p:nvPr/>
        </p:nvPicPr>
        <p:blipFill>
          <a:blip r:embed="rId7"/>
          <a:stretch>
            <a:fillRect/>
          </a:stretch>
        </p:blipFill>
        <p:spPr>
          <a:xfrm>
            <a:off x="16934164" y="27021206"/>
            <a:ext cx="2798050" cy="2798050"/>
          </a:xfrm>
          <a:prstGeom prst="rect">
            <a:avLst/>
          </a:prstGeom>
        </p:spPr>
      </p:pic>
      <p:sp>
        <p:nvSpPr>
          <p:cNvPr id="8" name="TextBox 7">
            <a:extLst>
              <a:ext uri="{FF2B5EF4-FFF2-40B4-BE49-F238E27FC236}">
                <a16:creationId xmlns:a16="http://schemas.microsoft.com/office/drawing/2014/main" id="{FB70FF64-5DCA-ACC2-B8B2-FB96CD0695C9}"/>
              </a:ext>
            </a:extLst>
          </p:cNvPr>
          <p:cNvSpPr txBox="1"/>
          <p:nvPr/>
        </p:nvSpPr>
        <p:spPr>
          <a:xfrm>
            <a:off x="15476598" y="29869941"/>
            <a:ext cx="5821248" cy="246221"/>
          </a:xfrm>
          <a:prstGeom prst="rect">
            <a:avLst/>
          </a:prstGeom>
          <a:noFill/>
        </p:spPr>
        <p:txBody>
          <a:bodyPr wrap="square" rtlCol="0">
            <a:spAutoFit/>
          </a:bodyPr>
          <a:lstStyle/>
          <a:p>
            <a:r>
              <a:rPr lang="en-US" altLang="ko-KR" sz="1000" dirty="0">
                <a:solidFill>
                  <a:srgbClr val="FF0000"/>
                </a:solidFill>
              </a:rPr>
              <a:t>Paper link : https://drive.google.com/file/d/1FDF5CY6ctDSozptARpYvBXt6I2PMM-8b/view?usp=drive_link</a:t>
            </a:r>
            <a:endParaRPr lang="ko-KR" altLang="en-US" sz="1000" dirty="0">
              <a:solidFill>
                <a:srgbClr val="FF0000"/>
              </a:solidFill>
            </a:endParaRPr>
          </a:p>
        </p:txBody>
      </p:sp>
      <p:grpSp>
        <p:nvGrpSpPr>
          <p:cNvPr id="25" name="그룹 24">
            <a:extLst>
              <a:ext uri="{FF2B5EF4-FFF2-40B4-BE49-F238E27FC236}">
                <a16:creationId xmlns:a16="http://schemas.microsoft.com/office/drawing/2014/main" id="{628E112B-A023-4A1C-CA16-6CF11C0B14CF}"/>
              </a:ext>
            </a:extLst>
          </p:cNvPr>
          <p:cNvGrpSpPr/>
          <p:nvPr/>
        </p:nvGrpSpPr>
        <p:grpSpPr>
          <a:xfrm>
            <a:off x="10880345" y="11551514"/>
            <a:ext cx="5139287" cy="7854613"/>
            <a:chOff x="10880345" y="11551514"/>
            <a:chExt cx="5139287" cy="7854613"/>
          </a:xfrm>
        </p:grpSpPr>
        <p:pic>
          <p:nvPicPr>
            <p:cNvPr id="38" name="Picture 37" descr="image4.png"/>
            <p:cNvPicPr>
              <a:picLocks noChangeAspect="1"/>
            </p:cNvPicPr>
            <p:nvPr/>
          </p:nvPicPr>
          <p:blipFill>
            <a:blip r:embed="rId8"/>
            <a:stretch>
              <a:fillRect/>
            </a:stretch>
          </p:blipFill>
          <p:spPr>
            <a:xfrm>
              <a:off x="10880345" y="11551514"/>
              <a:ext cx="5139287" cy="5009512"/>
            </a:xfrm>
            <a:prstGeom prst="rect">
              <a:avLst/>
            </a:prstGeom>
          </p:spPr>
        </p:pic>
        <p:sp>
          <p:nvSpPr>
            <p:cNvPr id="9" name="TextBox 8">
              <a:extLst>
                <a:ext uri="{FF2B5EF4-FFF2-40B4-BE49-F238E27FC236}">
                  <a16:creationId xmlns:a16="http://schemas.microsoft.com/office/drawing/2014/main" id="{42FCB0D8-3020-466C-37E3-FF225593E47C}"/>
                </a:ext>
              </a:extLst>
            </p:cNvPr>
            <p:cNvSpPr txBox="1"/>
            <p:nvPr/>
          </p:nvSpPr>
          <p:spPr>
            <a:xfrm>
              <a:off x="11963400" y="14024357"/>
              <a:ext cx="1173480" cy="369332"/>
            </a:xfrm>
            <a:prstGeom prst="rect">
              <a:avLst/>
            </a:prstGeom>
            <a:noFill/>
          </p:spPr>
          <p:txBody>
            <a:bodyPr wrap="square" rtlCol="0">
              <a:spAutoFit/>
            </a:bodyPr>
            <a:lstStyle/>
            <a:p>
              <a:r>
                <a:rPr lang="en-US" altLang="ko-KR" b="1" dirty="0"/>
                <a:t>Severe</a:t>
              </a:r>
              <a:endParaRPr lang="ko-KR" altLang="en-US" b="1" dirty="0"/>
            </a:p>
          </p:txBody>
        </p:sp>
        <p:sp>
          <p:nvSpPr>
            <p:cNvPr id="22" name="TextBox 21">
              <a:extLst>
                <a:ext uri="{FF2B5EF4-FFF2-40B4-BE49-F238E27FC236}">
                  <a16:creationId xmlns:a16="http://schemas.microsoft.com/office/drawing/2014/main" id="{EE0FC683-0DDE-83AC-C743-ADD3FC8C3201}"/>
                </a:ext>
              </a:extLst>
            </p:cNvPr>
            <p:cNvSpPr txBox="1"/>
            <p:nvPr/>
          </p:nvSpPr>
          <p:spPr>
            <a:xfrm>
              <a:off x="12932587" y="12959181"/>
              <a:ext cx="1373722" cy="369332"/>
            </a:xfrm>
            <a:prstGeom prst="rect">
              <a:avLst/>
            </a:prstGeom>
            <a:noFill/>
          </p:spPr>
          <p:txBody>
            <a:bodyPr wrap="square" rtlCol="0">
              <a:spAutoFit/>
            </a:bodyPr>
            <a:lstStyle/>
            <a:p>
              <a:r>
                <a:rPr lang="en-US" altLang="ko-KR" b="1" dirty="0"/>
                <a:t>Transition</a:t>
              </a:r>
              <a:endParaRPr lang="ko-KR" altLang="en-US" b="1" dirty="0"/>
            </a:p>
          </p:txBody>
        </p:sp>
        <p:sp>
          <p:nvSpPr>
            <p:cNvPr id="23" name="TextBox 22">
              <a:extLst>
                <a:ext uri="{FF2B5EF4-FFF2-40B4-BE49-F238E27FC236}">
                  <a16:creationId xmlns:a16="http://schemas.microsoft.com/office/drawing/2014/main" id="{4D7CEFE2-1BA6-340E-C17D-35991C707B75}"/>
                </a:ext>
              </a:extLst>
            </p:cNvPr>
            <p:cNvSpPr txBox="1"/>
            <p:nvPr/>
          </p:nvSpPr>
          <p:spPr>
            <a:xfrm>
              <a:off x="14430955" y="12138857"/>
              <a:ext cx="1173480" cy="369332"/>
            </a:xfrm>
            <a:prstGeom prst="rect">
              <a:avLst/>
            </a:prstGeom>
            <a:noFill/>
          </p:spPr>
          <p:txBody>
            <a:bodyPr wrap="square" rtlCol="0">
              <a:spAutoFit/>
            </a:bodyPr>
            <a:lstStyle/>
            <a:p>
              <a:r>
                <a:rPr lang="en-US" altLang="ko-KR" b="1" dirty="0"/>
                <a:t>High</a:t>
              </a:r>
              <a:endParaRPr lang="ko-KR" altLang="en-US" b="1" dirty="0"/>
            </a:p>
          </p:txBody>
        </p:sp>
        <p:sp>
          <p:nvSpPr>
            <p:cNvPr id="27" name="TextBox 26">
              <a:extLst>
                <a:ext uri="{FF2B5EF4-FFF2-40B4-BE49-F238E27FC236}">
                  <a16:creationId xmlns:a16="http://schemas.microsoft.com/office/drawing/2014/main" id="{78662667-FEE6-81E9-120B-1AF41BE450C5}"/>
                </a:ext>
              </a:extLst>
            </p:cNvPr>
            <p:cNvSpPr txBox="1"/>
            <p:nvPr/>
          </p:nvSpPr>
          <p:spPr>
            <a:xfrm>
              <a:off x="12932587" y="19036795"/>
              <a:ext cx="1373722" cy="369332"/>
            </a:xfrm>
            <a:prstGeom prst="rect">
              <a:avLst/>
            </a:prstGeom>
            <a:noFill/>
          </p:spPr>
          <p:txBody>
            <a:bodyPr wrap="square" rtlCol="0">
              <a:spAutoFit/>
            </a:bodyPr>
            <a:lstStyle/>
            <a:p>
              <a:r>
                <a:rPr lang="en-US" altLang="ko-KR" b="1" dirty="0"/>
                <a:t>Transition</a:t>
              </a:r>
              <a:endParaRPr lang="ko-KR" altLang="en-US" b="1" dirty="0"/>
            </a:p>
          </p:txBody>
        </p:sp>
        <p:sp>
          <p:nvSpPr>
            <p:cNvPr id="28" name="TextBox 27">
              <a:extLst>
                <a:ext uri="{FF2B5EF4-FFF2-40B4-BE49-F238E27FC236}">
                  <a16:creationId xmlns:a16="http://schemas.microsoft.com/office/drawing/2014/main" id="{4C51E75A-1E3C-14CB-936A-548E30705D84}"/>
                </a:ext>
              </a:extLst>
            </p:cNvPr>
            <p:cNvSpPr txBox="1"/>
            <p:nvPr/>
          </p:nvSpPr>
          <p:spPr>
            <a:xfrm>
              <a:off x="14430955" y="18014001"/>
              <a:ext cx="1173480" cy="369332"/>
            </a:xfrm>
            <a:prstGeom prst="rect">
              <a:avLst/>
            </a:prstGeom>
            <a:noFill/>
          </p:spPr>
          <p:txBody>
            <a:bodyPr wrap="square" rtlCol="0">
              <a:spAutoFit/>
            </a:bodyPr>
            <a:lstStyle/>
            <a:p>
              <a:r>
                <a:rPr lang="en-US" altLang="ko-KR" b="1" dirty="0"/>
                <a:t>High</a:t>
              </a:r>
              <a:endParaRPr lang="ko-KR" altLang="en-US" b="1" dirty="0"/>
            </a:p>
          </p:txBody>
        </p:sp>
      </p:grpSp>
      <p:sp>
        <p:nvSpPr>
          <p:cNvPr id="26" name="TextBox 25">
            <a:extLst>
              <a:ext uri="{FF2B5EF4-FFF2-40B4-BE49-F238E27FC236}">
                <a16:creationId xmlns:a16="http://schemas.microsoft.com/office/drawing/2014/main" id="{D04680E0-AB54-A512-81B9-BE94FAE07EDC}"/>
              </a:ext>
            </a:extLst>
          </p:cNvPr>
          <p:cNvSpPr txBox="1"/>
          <p:nvPr/>
        </p:nvSpPr>
        <p:spPr>
          <a:xfrm>
            <a:off x="11963400" y="20667840"/>
            <a:ext cx="1173480" cy="369332"/>
          </a:xfrm>
          <a:prstGeom prst="rect">
            <a:avLst/>
          </a:prstGeom>
          <a:noFill/>
        </p:spPr>
        <p:txBody>
          <a:bodyPr wrap="square" rtlCol="0">
            <a:spAutoFit/>
          </a:bodyPr>
          <a:lstStyle/>
          <a:p>
            <a:r>
              <a:rPr lang="en-US" altLang="ko-KR" b="1" dirty="0"/>
              <a:t>Severe</a:t>
            </a:r>
            <a:endParaRPr lang="ko-KR" altLang="en-US" b="1" dirty="0"/>
          </a:p>
        </p:txBody>
      </p:sp>
      <p:sp>
        <p:nvSpPr>
          <p:cNvPr id="5" name="TextBox 4"/>
          <p:cNvSpPr txBox="1"/>
          <p:nvPr/>
        </p:nvSpPr>
        <p:spPr>
          <a:xfrm>
            <a:off x="16199632" y="15364277"/>
            <a:ext cx="5235472" cy="1569660"/>
          </a:xfrm>
          <a:prstGeom prst="rect">
            <a:avLst/>
          </a:prstGeom>
          <a:noFill/>
        </p:spPr>
        <p:txBody>
          <a:bodyPr wrap="square" lIns="60000" rIns="60000" anchor="ctr">
            <a:spAutoFit/>
          </a:bodyPr>
          <a:lstStyle/>
          <a:p>
            <a:r>
              <a:rPr lang="en-US" altLang="ko-KR" sz="1200" dirty="0">
                <a:solidFill>
                  <a:srgbClr val="23262C"/>
                </a:solidFill>
                <a:latin typeface="Arial"/>
              </a:rPr>
              <a:t>SSL shows limited benefit in the severe low-SNR region, where the received signal is too noisy for meaningful class separation. However, </a:t>
            </a:r>
          </a:p>
          <a:p>
            <a:r>
              <a:rPr lang="en-US" altLang="ko-KR" sz="1200" dirty="0">
                <a:solidFill>
                  <a:srgbClr val="23262C"/>
                </a:solidFill>
                <a:latin typeface="Arial"/>
              </a:rPr>
              <a:t>clear gains appear in the transition and high-SNR regions, and these </a:t>
            </a:r>
          </a:p>
          <a:p>
            <a:r>
              <a:rPr lang="en-US" altLang="ko-KR" sz="1200" dirty="0">
                <a:solidFill>
                  <a:srgbClr val="23262C"/>
                </a:solidFill>
                <a:latin typeface="Arial"/>
              </a:rPr>
              <a:t>gains remain consistent even when the label ratio is reduced from </a:t>
            </a:r>
          </a:p>
          <a:p>
            <a:r>
              <a:rPr lang="en-US" altLang="ko-KR" sz="1200" dirty="0">
                <a:solidFill>
                  <a:srgbClr val="23262C"/>
                </a:solidFill>
                <a:latin typeface="Arial"/>
              </a:rPr>
              <a:t>1% to 0.25%. This indicates that SSL is most effective not simply </a:t>
            </a:r>
          </a:p>
          <a:p>
            <a:r>
              <a:rPr lang="en-US" altLang="ko-KR" sz="1200" dirty="0">
                <a:solidFill>
                  <a:srgbClr val="23262C"/>
                </a:solidFill>
                <a:latin typeface="Arial"/>
              </a:rPr>
              <a:t>when labels are scarce, but when the signal still contains recoverable modulation patterns.</a:t>
            </a:r>
          </a:p>
          <a:p>
            <a:endParaRPr sz="1200" b="0" dirty="0">
              <a:solidFill>
                <a:srgbClr val="23262C"/>
              </a:solidFill>
              <a:latin typeface="Arial"/>
            </a:endParaRPr>
          </a:p>
        </p:txBody>
      </p:sp>
    </p:spTree>
  </p:cSld>
  <p:clrMapOvr>
    <a:masterClrMapping/>
  </p:clrMapOvr>
</p:sld>
</file>

<file path=ppt/theme/theme1.xml><?xml version="1.0" encoding="utf-8"?>
<a:theme xmlns:a="http://schemas.openxmlformats.org/drawingml/2006/main" name="Office 2013 - 2022 테마">
  <a:themeElements>
    <a:clrScheme name="Office 2013 - 2022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213</TotalTime>
  <Words>598</Words>
  <Application>Microsoft Office PowerPoint</Application>
  <PresentationFormat>사용자 지정</PresentationFormat>
  <Paragraphs>119</Paragraphs>
  <Slides>1</Slides>
  <Notes>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vt:i4>
      </vt:variant>
    </vt:vector>
  </HeadingPairs>
  <TitlesOfParts>
    <vt:vector size="6" baseType="lpstr">
      <vt:lpstr>Arial</vt:lpstr>
      <vt:lpstr>Calibri</vt:lpstr>
      <vt:lpstr>Calibri Light</vt:lpstr>
      <vt:lpstr>Wingdings</vt:lpstr>
      <vt:lpstr>Office 2013 - 2022 테마</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우준하[ 학부재학 / 전기전자공학부 ]</cp:lastModifiedBy>
  <cp:revision>41</cp:revision>
  <dcterms:created xsi:type="dcterms:W3CDTF">2026-05-26T05:50:27Z</dcterms:created>
  <dcterms:modified xsi:type="dcterms:W3CDTF">2026-05-28T21:42:07Z</dcterms:modified>
</cp:coreProperties>
</file>